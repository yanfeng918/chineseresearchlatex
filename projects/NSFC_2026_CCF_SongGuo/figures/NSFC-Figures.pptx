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280030" y="357112"/>
            <a:ext cx="3622132" cy="4933970"/>
          </a:xfrm>
          <a:prstGeom prst="roundRect">
            <a:avLst>
              <a:gd name="adj" fmla="val 2213"/>
            </a:avLst>
          </a:prstGeom>
          <a:solidFill>
            <a:srgbClr val="FFFFFF"/>
          </a:solidFill>
          <a:ln w="2667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4375882" y="357112"/>
            <a:ext cx="3534676" cy="4933970"/>
          </a:xfrm>
          <a:prstGeom prst="roundRect">
            <a:avLst>
              <a:gd name="adj" fmla="val 2268"/>
            </a:avLst>
          </a:prstGeom>
          <a:solidFill>
            <a:srgbClr val="FFFFFF"/>
          </a:solidFill>
          <a:ln w="2667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8428005" y="357112"/>
            <a:ext cx="3498236" cy="4933970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 w="2667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69518" y="1384718"/>
            <a:ext cx="3221292" cy="976591"/>
          </a:xfrm>
          <a:prstGeom prst="roundRect">
            <a:avLst>
              <a:gd name="adj" fmla="val 11194"/>
            </a:avLst>
          </a:prstGeom>
          <a:solidFill>
            <a:srgbClr val="FFFFFF"/>
          </a:solidFill>
          <a:ln w="2667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69518" y="2711133"/>
            <a:ext cx="3221292" cy="976591"/>
          </a:xfrm>
          <a:prstGeom prst="roundRect">
            <a:avLst>
              <a:gd name="adj" fmla="val 11194"/>
            </a:avLst>
          </a:prstGeom>
          <a:solidFill>
            <a:srgbClr val="FFFFFF"/>
          </a:solidFill>
          <a:ln w="2667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469518" y="4030259"/>
            <a:ext cx="3221292" cy="976591"/>
          </a:xfrm>
          <a:prstGeom prst="roundRect">
            <a:avLst>
              <a:gd name="adj" fmla="val 11194"/>
            </a:avLst>
          </a:prstGeom>
          <a:solidFill>
            <a:srgbClr val="FFFFFF"/>
          </a:solidFill>
          <a:ln w="2667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4565369" y="1384718"/>
            <a:ext cx="3155700" cy="976591"/>
          </a:xfrm>
          <a:prstGeom prst="roundRect">
            <a:avLst>
              <a:gd name="adj" fmla="val 11194"/>
            </a:avLst>
          </a:prstGeom>
          <a:solidFill>
            <a:srgbClr val="FFFFFF"/>
          </a:solidFill>
          <a:ln w="2667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565369" y="2711133"/>
            <a:ext cx="3155700" cy="976591"/>
          </a:xfrm>
          <a:prstGeom prst="roundRect">
            <a:avLst>
              <a:gd name="adj" fmla="val 11194"/>
            </a:avLst>
          </a:prstGeom>
          <a:solidFill>
            <a:srgbClr val="FFFFFF"/>
          </a:solidFill>
          <a:ln w="2667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4565369" y="4030259"/>
            <a:ext cx="3155700" cy="976591"/>
          </a:xfrm>
          <a:prstGeom prst="roundRect">
            <a:avLst>
              <a:gd name="adj" fmla="val 11194"/>
            </a:avLst>
          </a:prstGeom>
          <a:solidFill>
            <a:srgbClr val="FFFFFF"/>
          </a:solidFill>
          <a:ln w="2667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8610205" y="1384718"/>
            <a:ext cx="3133836" cy="976591"/>
          </a:xfrm>
          <a:prstGeom prst="roundRect">
            <a:avLst>
              <a:gd name="adj" fmla="val 11194"/>
            </a:avLst>
          </a:prstGeom>
          <a:solidFill>
            <a:srgbClr val="FFFFFF"/>
          </a:solidFill>
          <a:ln w="2667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8610205" y="2711133"/>
            <a:ext cx="3133836" cy="976591"/>
          </a:xfrm>
          <a:prstGeom prst="roundRect">
            <a:avLst>
              <a:gd name="adj" fmla="val 11194"/>
            </a:avLst>
          </a:prstGeom>
          <a:solidFill>
            <a:srgbClr val="FFFFFF"/>
          </a:solidFill>
          <a:ln w="2667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8610205" y="4030259"/>
            <a:ext cx="3133836" cy="976591"/>
          </a:xfrm>
          <a:prstGeom prst="roundRect">
            <a:avLst>
              <a:gd name="adj" fmla="val 11194"/>
            </a:avLst>
          </a:prstGeom>
          <a:solidFill>
            <a:srgbClr val="FFFFFF"/>
          </a:solidFill>
          <a:ln w="2667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280030" y="5495146"/>
            <a:ext cx="11646210" cy="918287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2667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280030" y="1122351"/>
            <a:ext cx="3622132" cy="0"/>
          </a:xfrm>
          <a:prstGeom prst="line">
            <a:avLst/>
          </a:prstGeom>
          <a:noFill/>
          <a:ln w="2667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4375882" y="1122351"/>
            <a:ext cx="3534676" cy="0"/>
          </a:xfrm>
          <a:prstGeom prst="line">
            <a:avLst/>
          </a:prstGeom>
          <a:noFill/>
          <a:ln w="2667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8428005" y="1122351"/>
            <a:ext cx="3498236" cy="0"/>
          </a:xfrm>
          <a:prstGeom prst="line">
            <a:avLst/>
          </a:prstGeom>
          <a:noFill/>
          <a:ln w="2667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673582" y="1639798"/>
            <a:ext cx="437279" cy="466431"/>
          </a:xfrm>
          <a:prstGeom prst="rect">
            <a:avLst/>
          </a:prstGeom>
          <a:solidFill>
            <a:srgbClr val="FFFFFF"/>
          </a:solidFill>
          <a:ln w="28575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1329501" y="1486750"/>
            <a:ext cx="0" cy="765239"/>
          </a:xfrm>
          <a:prstGeom prst="line">
            <a:avLst/>
          </a:prstGeom>
          <a:noFill/>
          <a:ln w="1905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673582" y="2966213"/>
            <a:ext cx="437279" cy="466431"/>
          </a:xfrm>
          <a:prstGeom prst="rect">
            <a:avLst/>
          </a:prstGeom>
          <a:solidFill>
            <a:srgbClr val="FFFFFF"/>
          </a:solidFill>
          <a:ln w="28575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1329501" y="2813165"/>
            <a:ext cx="0" cy="765239"/>
          </a:xfrm>
          <a:prstGeom prst="line">
            <a:avLst/>
          </a:prstGeom>
          <a:noFill/>
          <a:ln w="1905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673582" y="4285339"/>
            <a:ext cx="437279" cy="466431"/>
          </a:xfrm>
          <a:prstGeom prst="rect">
            <a:avLst/>
          </a:prstGeom>
          <a:solidFill>
            <a:srgbClr val="FFFFFF"/>
          </a:solidFill>
          <a:ln w="28575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1329501" y="4132291"/>
            <a:ext cx="0" cy="765239"/>
          </a:xfrm>
          <a:prstGeom prst="line">
            <a:avLst/>
          </a:prstGeom>
          <a:noFill/>
          <a:ln w="1905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4762145" y="1639798"/>
            <a:ext cx="429991" cy="466431"/>
          </a:xfrm>
          <a:prstGeom prst="rect">
            <a:avLst/>
          </a:prstGeom>
          <a:solidFill>
            <a:srgbClr val="FFFFFF"/>
          </a:solidFill>
          <a:ln w="28575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5388912" y="1486750"/>
            <a:ext cx="0" cy="765239"/>
          </a:xfrm>
          <a:prstGeom prst="line">
            <a:avLst/>
          </a:prstGeom>
          <a:noFill/>
          <a:ln w="1905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4762145" y="2966213"/>
            <a:ext cx="429991" cy="466431"/>
          </a:xfrm>
          <a:prstGeom prst="rect">
            <a:avLst/>
          </a:prstGeom>
          <a:solidFill>
            <a:srgbClr val="FFFFFF"/>
          </a:solidFill>
          <a:ln w="28575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5388912" y="2813165"/>
            <a:ext cx="0" cy="765239"/>
          </a:xfrm>
          <a:prstGeom prst="line">
            <a:avLst/>
          </a:prstGeom>
          <a:noFill/>
          <a:ln w="1905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4762145" y="4285339"/>
            <a:ext cx="429991" cy="466431"/>
          </a:xfrm>
          <a:prstGeom prst="rect">
            <a:avLst/>
          </a:prstGeom>
          <a:solidFill>
            <a:srgbClr val="FFFFFF"/>
          </a:solidFill>
          <a:ln w="28575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5388912" y="4132291"/>
            <a:ext cx="0" cy="765239"/>
          </a:xfrm>
          <a:prstGeom prst="line">
            <a:avLst/>
          </a:prstGeom>
          <a:noFill/>
          <a:ln w="1905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8799692" y="1639798"/>
            <a:ext cx="429991" cy="466431"/>
          </a:xfrm>
          <a:prstGeom prst="rect">
            <a:avLst/>
          </a:prstGeom>
          <a:solidFill>
            <a:srgbClr val="FFFFFF"/>
          </a:solidFill>
          <a:ln w="28575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9404596" y="1486750"/>
            <a:ext cx="0" cy="765239"/>
          </a:xfrm>
          <a:prstGeom prst="line">
            <a:avLst/>
          </a:prstGeom>
          <a:noFill/>
          <a:ln w="1905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8799692" y="2966213"/>
            <a:ext cx="429991" cy="466431"/>
          </a:xfrm>
          <a:prstGeom prst="rect">
            <a:avLst/>
          </a:prstGeom>
          <a:solidFill>
            <a:srgbClr val="FFFFFF"/>
          </a:solidFill>
          <a:ln w="28575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9404596" y="2813165"/>
            <a:ext cx="0" cy="765239"/>
          </a:xfrm>
          <a:prstGeom prst="line">
            <a:avLst/>
          </a:prstGeom>
          <a:noFill/>
          <a:ln w="1905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8799692" y="4285339"/>
            <a:ext cx="429991" cy="466431"/>
          </a:xfrm>
          <a:prstGeom prst="rect">
            <a:avLst/>
          </a:prstGeom>
          <a:solidFill>
            <a:srgbClr val="FFFFFF"/>
          </a:solidFill>
          <a:ln w="28575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9404596" y="4132291"/>
            <a:ext cx="0" cy="765239"/>
          </a:xfrm>
          <a:prstGeom prst="line">
            <a:avLst/>
          </a:prstGeom>
          <a:noFill/>
          <a:ln w="1905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2364396" y="5560738"/>
            <a:ext cx="0" cy="765239"/>
          </a:xfrm>
          <a:prstGeom prst="line">
            <a:avLst/>
          </a:prstGeom>
          <a:noFill/>
          <a:ln w="1905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2590324" y="5589889"/>
            <a:ext cx="0" cy="728799"/>
          </a:xfrm>
          <a:prstGeom prst="line">
            <a:avLst/>
          </a:prstGeom>
          <a:noFill/>
          <a:ln w="19050">
            <a:solidFill>
              <a:srgbClr val="075BBC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6380079" y="5823105"/>
            <a:ext cx="0" cy="262368"/>
          </a:xfrm>
          <a:prstGeom prst="line">
            <a:avLst/>
          </a:prstGeom>
          <a:noFill/>
          <a:ln w="17780">
            <a:solidFill>
              <a:srgbClr val="252525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7874118" y="5823105"/>
            <a:ext cx="0" cy="262368"/>
          </a:xfrm>
          <a:prstGeom prst="line">
            <a:avLst/>
          </a:prstGeom>
          <a:noFill/>
          <a:ln w="17780">
            <a:solidFill>
              <a:srgbClr val="252525"/>
            </a:solidFill>
          </a:ln>
        </p:spPr>
        <p:txBody>
          <a:bodyPr/>
          <a:lstStyle/>
          <a:p/>
        </p:txBody>
      </p:sp>
      <p:sp>
        <p:nvSpPr>
          <p:cNvPr id="40" name="Polygon 40"/>
          <p:cNvSpPr/>
          <p:nvPr/>
        </p:nvSpPr>
        <p:spPr>
          <a:xfrm>
            <a:off x="3690810" y="1774626"/>
            <a:ext cx="685071" cy="18948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225"/>
                </a:moveTo>
                <a:lnTo>
                  <a:pt x="17004" y="8225"/>
                </a:lnTo>
                <a:lnTo>
                  <a:pt x="17004" y="0"/>
                </a:lnTo>
                <a:lnTo>
                  <a:pt x="21600" y="10800"/>
                </a:lnTo>
                <a:lnTo>
                  <a:pt x="17004" y="21600"/>
                </a:lnTo>
                <a:lnTo>
                  <a:pt x="17004" y="13375"/>
                </a:lnTo>
                <a:lnTo>
                  <a:pt x="0" y="13375"/>
                </a:lnTo>
                <a:close/>
              </a:path>
            </a:pathLst>
          </a:custGeom>
          <a:solidFill>
            <a:srgbClr val="545454"/>
          </a:solidFill>
          <a:ln w="7620">
            <a:solidFill>
              <a:srgbClr val="444444"/>
            </a:solidFill>
          </a:ln>
        </p:spPr>
        <p:txBody>
          <a:bodyPr/>
          <a:lstStyle/>
          <a:p/>
        </p:txBody>
      </p:sp>
      <p:sp>
        <p:nvSpPr>
          <p:cNvPr id="41" name="Polygon 41"/>
          <p:cNvSpPr/>
          <p:nvPr/>
        </p:nvSpPr>
        <p:spPr>
          <a:xfrm>
            <a:off x="7721070" y="1774626"/>
            <a:ext cx="706935" cy="18948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225"/>
                </a:moveTo>
                <a:lnTo>
                  <a:pt x="17146" y="8225"/>
                </a:lnTo>
                <a:lnTo>
                  <a:pt x="17146" y="0"/>
                </a:lnTo>
                <a:lnTo>
                  <a:pt x="21600" y="10800"/>
                </a:lnTo>
                <a:lnTo>
                  <a:pt x="17146" y="21600"/>
                </a:lnTo>
                <a:lnTo>
                  <a:pt x="17146" y="13375"/>
                </a:lnTo>
                <a:lnTo>
                  <a:pt x="0" y="13375"/>
                </a:lnTo>
                <a:close/>
              </a:path>
            </a:pathLst>
          </a:custGeom>
          <a:solidFill>
            <a:srgbClr val="545454"/>
          </a:solidFill>
          <a:ln w="7620">
            <a:solidFill>
              <a:srgbClr val="444444"/>
            </a:solidFill>
          </a:ln>
        </p:spPr>
        <p:txBody>
          <a:bodyPr/>
          <a:lstStyle/>
          <a:p/>
        </p:txBody>
      </p:sp>
      <p:sp>
        <p:nvSpPr>
          <p:cNvPr id="42" name="Polygon 42"/>
          <p:cNvSpPr/>
          <p:nvPr/>
        </p:nvSpPr>
        <p:spPr>
          <a:xfrm>
            <a:off x="3690810" y="3104684"/>
            <a:ext cx="685071" cy="18948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225"/>
                </a:moveTo>
                <a:lnTo>
                  <a:pt x="17004" y="8225"/>
                </a:lnTo>
                <a:lnTo>
                  <a:pt x="17004" y="0"/>
                </a:lnTo>
                <a:lnTo>
                  <a:pt x="21600" y="10800"/>
                </a:lnTo>
                <a:lnTo>
                  <a:pt x="17004" y="21600"/>
                </a:lnTo>
                <a:lnTo>
                  <a:pt x="17004" y="13375"/>
                </a:lnTo>
                <a:lnTo>
                  <a:pt x="0" y="13375"/>
                </a:lnTo>
                <a:close/>
              </a:path>
            </a:pathLst>
          </a:custGeom>
          <a:solidFill>
            <a:srgbClr val="545454"/>
          </a:solidFill>
          <a:ln w="7620">
            <a:solidFill>
              <a:srgbClr val="444444"/>
            </a:solidFill>
          </a:ln>
        </p:spPr>
        <p:txBody>
          <a:bodyPr/>
          <a:lstStyle/>
          <a:p/>
        </p:txBody>
      </p:sp>
      <p:sp>
        <p:nvSpPr>
          <p:cNvPr id="43" name="Polygon 43"/>
          <p:cNvSpPr/>
          <p:nvPr/>
        </p:nvSpPr>
        <p:spPr>
          <a:xfrm>
            <a:off x="7721070" y="3104684"/>
            <a:ext cx="706935" cy="18948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225"/>
                </a:moveTo>
                <a:lnTo>
                  <a:pt x="17146" y="8225"/>
                </a:lnTo>
                <a:lnTo>
                  <a:pt x="17146" y="0"/>
                </a:lnTo>
                <a:lnTo>
                  <a:pt x="21600" y="10800"/>
                </a:lnTo>
                <a:lnTo>
                  <a:pt x="17146" y="21600"/>
                </a:lnTo>
                <a:lnTo>
                  <a:pt x="17146" y="13375"/>
                </a:lnTo>
                <a:lnTo>
                  <a:pt x="0" y="13375"/>
                </a:lnTo>
                <a:close/>
              </a:path>
            </a:pathLst>
          </a:custGeom>
          <a:solidFill>
            <a:srgbClr val="545454"/>
          </a:solidFill>
          <a:ln w="7620">
            <a:solidFill>
              <a:srgbClr val="444444"/>
            </a:solidFill>
          </a:ln>
        </p:spPr>
        <p:txBody>
          <a:bodyPr/>
          <a:lstStyle/>
          <a:p/>
        </p:txBody>
      </p:sp>
      <p:sp>
        <p:nvSpPr>
          <p:cNvPr id="44" name="Polygon 44"/>
          <p:cNvSpPr/>
          <p:nvPr/>
        </p:nvSpPr>
        <p:spPr>
          <a:xfrm>
            <a:off x="3690810" y="4423811"/>
            <a:ext cx="685071" cy="18948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225"/>
                </a:moveTo>
                <a:lnTo>
                  <a:pt x="17004" y="8225"/>
                </a:lnTo>
                <a:lnTo>
                  <a:pt x="17004" y="0"/>
                </a:lnTo>
                <a:lnTo>
                  <a:pt x="21600" y="10800"/>
                </a:lnTo>
                <a:lnTo>
                  <a:pt x="17004" y="21600"/>
                </a:lnTo>
                <a:lnTo>
                  <a:pt x="17004" y="13375"/>
                </a:lnTo>
                <a:lnTo>
                  <a:pt x="0" y="13375"/>
                </a:lnTo>
                <a:close/>
              </a:path>
            </a:pathLst>
          </a:custGeom>
          <a:solidFill>
            <a:srgbClr val="545454"/>
          </a:solidFill>
          <a:ln w="7620">
            <a:solidFill>
              <a:srgbClr val="444444"/>
            </a:solidFill>
          </a:ln>
        </p:spPr>
        <p:txBody>
          <a:bodyPr/>
          <a:lstStyle/>
          <a:p/>
        </p:txBody>
      </p:sp>
      <p:sp>
        <p:nvSpPr>
          <p:cNvPr id="45" name="Polygon 45"/>
          <p:cNvSpPr/>
          <p:nvPr/>
        </p:nvSpPr>
        <p:spPr>
          <a:xfrm>
            <a:off x="7721070" y="4423811"/>
            <a:ext cx="706935" cy="18948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225"/>
                </a:moveTo>
                <a:lnTo>
                  <a:pt x="17146" y="8225"/>
                </a:lnTo>
                <a:lnTo>
                  <a:pt x="17146" y="0"/>
                </a:lnTo>
                <a:lnTo>
                  <a:pt x="21600" y="10800"/>
                </a:lnTo>
                <a:lnTo>
                  <a:pt x="17146" y="21600"/>
                </a:lnTo>
                <a:lnTo>
                  <a:pt x="17146" y="13375"/>
                </a:lnTo>
                <a:lnTo>
                  <a:pt x="0" y="13375"/>
                </a:lnTo>
                <a:close/>
              </a:path>
            </a:pathLst>
          </a:custGeom>
          <a:solidFill>
            <a:srgbClr val="545454"/>
          </a:solidFill>
          <a:ln w="7620">
            <a:solidFill>
              <a:srgbClr val="444444"/>
            </a:solidFill>
          </a:ln>
        </p:spPr>
        <p:txBody>
          <a:bodyPr/>
          <a:lstStyle/>
          <a:p/>
        </p:txBody>
      </p:sp>
      <p:sp>
        <p:nvSpPr>
          <p:cNvPr id="46" name="TextBox 46"/>
          <p:cNvSpPr txBox="1"/>
          <p:nvPr/>
        </p:nvSpPr>
        <p:spPr>
          <a:xfrm>
            <a:off x="1238401" y="466431"/>
            <a:ext cx="1749118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50" b="1">
                <a:solidFill>
                  <a:srgbClr val="11151D"/>
                </a:solidFill>
                <a:latin typeface="Noto Sans CJK SC"/>
                <a:ea typeface="Noto Sans CJK SC"/>
                <a:cs typeface="Noto Sans CJK SC"/>
              </a:rPr>
              <a:t>环境变化</a:t>
            </a:r>
            <a:endParaRPr lang="zh-CN" sz="2950"/>
          </a:p>
        </p:txBody>
      </p:sp>
      <p:sp>
        <p:nvSpPr>
          <p:cNvPr id="47" name="TextBox 47"/>
          <p:cNvSpPr txBox="1"/>
          <p:nvPr/>
        </p:nvSpPr>
        <p:spPr>
          <a:xfrm>
            <a:off x="5286881" y="466431"/>
            <a:ext cx="1749118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50" b="1">
                <a:solidFill>
                  <a:srgbClr val="11151D"/>
                </a:solidFill>
                <a:latin typeface="Noto Sans CJK SC"/>
                <a:ea typeface="Noto Sans CJK SC"/>
                <a:cs typeface="Noto Sans CJK SC"/>
              </a:rPr>
              <a:t>方法困难</a:t>
            </a:r>
            <a:endParaRPr lang="zh-CN" sz="2950"/>
          </a:p>
        </p:txBody>
      </p:sp>
      <p:sp>
        <p:nvSpPr>
          <p:cNvPr id="48" name="TextBox 48"/>
          <p:cNvSpPr txBox="1"/>
          <p:nvPr/>
        </p:nvSpPr>
        <p:spPr>
          <a:xfrm>
            <a:off x="9298920" y="466431"/>
            <a:ext cx="1749118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50" b="1">
                <a:solidFill>
                  <a:srgbClr val="11151D"/>
                </a:solidFill>
                <a:latin typeface="Noto Sans CJK SC"/>
                <a:ea typeface="Noto Sans CJK SC"/>
                <a:cs typeface="Noto Sans CJK SC"/>
              </a:rPr>
              <a:t>科学问题</a:t>
            </a:r>
            <a:endParaRPr lang="zh-CN" sz="2950"/>
          </a:p>
        </p:txBody>
      </p:sp>
      <p:sp>
        <p:nvSpPr>
          <p:cNvPr id="49" name="TextBox 49"/>
          <p:cNvSpPr txBox="1"/>
          <p:nvPr/>
        </p:nvSpPr>
        <p:spPr>
          <a:xfrm>
            <a:off x="549686" y="5662769"/>
            <a:ext cx="1574206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50" b="1">
                <a:solidFill>
                  <a:srgbClr val="11151D"/>
                </a:solidFill>
                <a:latin typeface="Noto Sans CJK SC"/>
                <a:ea typeface="Noto Sans CJK SC"/>
                <a:cs typeface="Noto Sans CJK SC"/>
              </a:rPr>
              <a:t>资源条件</a:t>
            </a:r>
            <a:endParaRPr lang="zh-CN" sz="2950"/>
          </a:p>
        </p:txBody>
      </p:sp>
      <p:sp>
        <p:nvSpPr>
          <p:cNvPr id="50" name="TextBox 50"/>
          <p:cNvSpPr txBox="1"/>
          <p:nvPr/>
        </p:nvSpPr>
        <p:spPr>
          <a:xfrm>
            <a:off x="1548141" y="1668950"/>
            <a:ext cx="1566918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50">
                <a:solidFill>
                  <a:srgbClr val="11151D"/>
                </a:solidFill>
                <a:latin typeface="Noto Sans CJK SC Medium"/>
                <a:ea typeface="Noto Sans CJK SC Medium"/>
                <a:cs typeface="Noto Sans CJK SC Medium"/>
              </a:rPr>
              <a:t>任务组成变化</a:t>
            </a:r>
            <a:endParaRPr lang="zh-CN" sz="2050"/>
          </a:p>
        </p:txBody>
      </p:sp>
      <p:sp>
        <p:nvSpPr>
          <p:cNvPr id="51" name="TextBox 51"/>
          <p:cNvSpPr txBox="1"/>
          <p:nvPr/>
        </p:nvSpPr>
        <p:spPr>
          <a:xfrm>
            <a:off x="1548141" y="2995365"/>
            <a:ext cx="1559630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50">
                <a:solidFill>
                  <a:srgbClr val="11151D"/>
                </a:solidFill>
                <a:latin typeface="Noto Sans CJK SC Medium"/>
                <a:ea typeface="Noto Sans CJK SC Medium"/>
                <a:cs typeface="Noto Sans CJK SC Medium"/>
              </a:rPr>
              <a:t>反馈噪声相关</a:t>
            </a:r>
            <a:endParaRPr lang="zh-CN" sz="2050"/>
          </a:p>
        </p:txBody>
      </p:sp>
      <p:sp>
        <p:nvSpPr>
          <p:cNvPr id="52" name="TextBox 52"/>
          <p:cNvSpPr txBox="1"/>
          <p:nvPr/>
        </p:nvSpPr>
        <p:spPr>
          <a:xfrm>
            <a:off x="1548141" y="4318135"/>
            <a:ext cx="1792846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20">
                <a:solidFill>
                  <a:srgbClr val="11151D"/>
                </a:solidFill>
                <a:latin typeface="Noto Sans CJK SC Medium"/>
                <a:ea typeface="Noto Sans CJK SC Medium"/>
                <a:cs typeface="Noto Sans CJK SC Medium"/>
              </a:rPr>
              <a:t>策略与工具更新</a:t>
            </a:r>
            <a:endParaRPr lang="zh-CN" sz="2020"/>
          </a:p>
        </p:txBody>
      </p:sp>
      <p:sp>
        <p:nvSpPr>
          <p:cNvPr id="53" name="TextBox 53"/>
          <p:cNvSpPr txBox="1"/>
          <p:nvPr/>
        </p:nvSpPr>
        <p:spPr>
          <a:xfrm>
            <a:off x="5658568" y="1668950"/>
            <a:ext cx="1537766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20">
                <a:solidFill>
                  <a:srgbClr val="11151D"/>
                </a:solidFill>
                <a:latin typeface="Noto Sans CJK SC Medium"/>
                <a:ea typeface="Noto Sans CJK SC Medium"/>
                <a:cs typeface="Noto Sans CJK SC Medium"/>
              </a:rPr>
              <a:t>参数需求难辨</a:t>
            </a:r>
            <a:endParaRPr lang="zh-CN" sz="2020"/>
          </a:p>
        </p:txBody>
      </p:sp>
      <p:sp>
        <p:nvSpPr>
          <p:cNvPr id="54" name="TextBox 54"/>
          <p:cNvSpPr txBox="1"/>
          <p:nvPr/>
        </p:nvSpPr>
        <p:spPr>
          <a:xfrm>
            <a:off x="5658568" y="2999009"/>
            <a:ext cx="1530478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10">
                <a:solidFill>
                  <a:srgbClr val="11151D"/>
                </a:solidFill>
                <a:latin typeface="Noto Sans CJK SC Medium"/>
                <a:ea typeface="Noto Sans CJK SC Medium"/>
                <a:cs typeface="Noto Sans CJK SC Medium"/>
              </a:rPr>
              <a:t>轨迹价值难判</a:t>
            </a:r>
            <a:endParaRPr lang="zh-CN" sz="2010"/>
          </a:p>
        </p:txBody>
      </p:sp>
      <p:sp>
        <p:nvSpPr>
          <p:cNvPr id="55" name="TextBox 55"/>
          <p:cNvSpPr txBox="1"/>
          <p:nvPr/>
        </p:nvSpPr>
        <p:spPr>
          <a:xfrm>
            <a:off x="5658568" y="4318135"/>
            <a:ext cx="1770982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89">
                <a:solidFill>
                  <a:srgbClr val="11151D"/>
                </a:solidFill>
                <a:latin typeface="Noto Sans CJK SC Medium"/>
                <a:ea typeface="Noto Sans CJK SC Medium"/>
                <a:cs typeface="Noto Sans CJK SC Medium"/>
              </a:rPr>
              <a:t>能力与置信偏移</a:t>
            </a:r>
            <a:endParaRPr lang="zh-CN" sz="1989"/>
          </a:p>
        </p:txBody>
      </p:sp>
      <p:sp>
        <p:nvSpPr>
          <p:cNvPr id="56" name="TextBox 56"/>
          <p:cNvSpPr txBox="1"/>
          <p:nvPr/>
        </p:nvSpPr>
        <p:spPr>
          <a:xfrm>
            <a:off x="9601372" y="1672594"/>
            <a:ext cx="2055214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11151D"/>
                </a:solidFill>
                <a:latin typeface="Noto Sans CJK SC Medium"/>
                <a:ea typeface="Noto Sans CJK SC Medium"/>
                <a:cs typeface="Noto Sans CJK SC Medium"/>
              </a:rPr>
              <a:t>证据如何指导更新？</a:t>
            </a:r>
            <a:endParaRPr lang="zh-CN" sz="1800"/>
          </a:p>
        </p:txBody>
      </p:sp>
      <p:sp>
        <p:nvSpPr>
          <p:cNvPr id="57" name="TextBox 57"/>
          <p:cNvSpPr txBox="1"/>
          <p:nvPr/>
        </p:nvSpPr>
        <p:spPr>
          <a:xfrm>
            <a:off x="9608660" y="3002652"/>
            <a:ext cx="2047926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89">
                <a:solidFill>
                  <a:srgbClr val="11151D"/>
                </a:solidFill>
                <a:latin typeface="Noto Sans CJK SC Medium"/>
                <a:ea typeface="Noto Sans CJK SC Medium"/>
                <a:cs typeface="Noto Sans CJK SC Medium"/>
              </a:rPr>
              <a:t>哪些轨迹值得学习？</a:t>
            </a:r>
            <a:endParaRPr lang="zh-CN" sz="1789"/>
          </a:p>
        </p:txBody>
      </p:sp>
      <p:sp>
        <p:nvSpPr>
          <p:cNvPr id="58" name="TextBox 58"/>
          <p:cNvSpPr txBox="1"/>
          <p:nvPr/>
        </p:nvSpPr>
        <p:spPr>
          <a:xfrm>
            <a:off x="9579508" y="4318135"/>
            <a:ext cx="2157245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>
                <a:solidFill>
                  <a:srgbClr val="11151D"/>
                </a:solidFill>
                <a:latin typeface="Noto Sans CJK SC Medium"/>
                <a:ea typeface="Noto Sans CJK SC Medium"/>
                <a:cs typeface="Noto Sans CJK SC Medium"/>
              </a:rPr>
              <a:t>保持与校准何时有效？</a:t>
            </a:r>
            <a:endParaRPr lang="zh-CN" sz="1700"/>
          </a:p>
        </p:txBody>
      </p:sp>
      <p:sp>
        <p:nvSpPr>
          <p:cNvPr id="59" name="TextBox 59"/>
          <p:cNvSpPr txBox="1"/>
          <p:nvPr/>
        </p:nvSpPr>
        <p:spPr>
          <a:xfrm>
            <a:off x="4667401" y="5757513"/>
            <a:ext cx="1530478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10">
                <a:solidFill>
                  <a:srgbClr val="11151D"/>
                </a:solidFill>
                <a:latin typeface="Noto Sans CJK SC Medium"/>
                <a:ea typeface="Noto Sans CJK SC Medium"/>
                <a:cs typeface="Noto Sans CJK SC Medium"/>
              </a:rPr>
              <a:t>固定计算预算</a:t>
            </a:r>
            <a:endParaRPr lang="zh-CN" sz="2010"/>
          </a:p>
        </p:txBody>
      </p:sp>
      <p:sp>
        <p:nvSpPr>
          <p:cNvPr id="60" name="TextBox 60"/>
          <p:cNvSpPr txBox="1"/>
          <p:nvPr/>
        </p:nvSpPr>
        <p:spPr>
          <a:xfrm>
            <a:off x="6620583" y="5757513"/>
            <a:ext cx="1042183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50">
                <a:solidFill>
                  <a:srgbClr val="11151D"/>
                </a:solidFill>
                <a:latin typeface="Noto Sans CJK SC Medium"/>
                <a:ea typeface="Noto Sans CJK SC Medium"/>
                <a:cs typeface="Noto Sans CJK SC Medium"/>
              </a:rPr>
              <a:t>有限参数</a:t>
            </a:r>
            <a:endParaRPr lang="zh-CN" sz="2050"/>
          </a:p>
        </p:txBody>
      </p:sp>
      <p:sp>
        <p:nvSpPr>
          <p:cNvPr id="61" name="TextBox 61"/>
          <p:cNvSpPr txBox="1"/>
          <p:nvPr/>
        </p:nvSpPr>
        <p:spPr>
          <a:xfrm>
            <a:off x="8114621" y="5757513"/>
            <a:ext cx="1042183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50">
                <a:solidFill>
                  <a:srgbClr val="11151D"/>
                </a:solidFill>
                <a:latin typeface="Noto Sans CJK SC Medium"/>
                <a:ea typeface="Noto Sans CJK SC Medium"/>
                <a:cs typeface="Noto Sans CJK SC Medium"/>
              </a:rPr>
              <a:t>有界记忆</a:t>
            </a:r>
            <a:endParaRPr lang="zh-CN" sz="2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899510" y="218640"/>
            <a:ext cx="2842317" cy="1078623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29209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9018332" y="218640"/>
            <a:ext cx="2609101" cy="1078623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29209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695446" y="1763694"/>
            <a:ext cx="2295717" cy="2011486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29209">
            <a:solidFill>
              <a:srgbClr val="1558A0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3603355" y="1763694"/>
            <a:ext cx="2237413" cy="2011486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29209">
            <a:solidFill>
              <a:srgbClr val="1558A0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6401943" y="1763694"/>
            <a:ext cx="2237413" cy="2011486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29209">
            <a:solidFill>
              <a:srgbClr val="1558A0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9229684" y="1763694"/>
            <a:ext cx="2295717" cy="2011486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29209">
            <a:solidFill>
              <a:srgbClr val="1558A0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637142" y="4241611"/>
            <a:ext cx="2463341" cy="1064047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29209">
            <a:solidFill>
              <a:srgbClr val="919191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3814706" y="4234323"/>
            <a:ext cx="7572223" cy="1071335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29209">
            <a:solidFill>
              <a:srgbClr val="092856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294606" y="6034457"/>
            <a:ext cx="11624346" cy="532023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29209">
            <a:solidFill>
              <a:srgbClr val="092856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1096285" y="371688"/>
            <a:ext cx="269656" cy="269656"/>
          </a:xfrm>
          <a:prstGeom prst="rect">
            <a:avLst/>
          </a:prstGeom>
          <a:solidFill>
            <a:srgbClr val="FFFFFF"/>
          </a:solidFill>
          <a:ln w="1651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9207820" y="371688"/>
            <a:ext cx="262368" cy="269656"/>
          </a:xfrm>
          <a:prstGeom prst="rect">
            <a:avLst/>
          </a:prstGeom>
          <a:solidFill>
            <a:srgbClr val="FFFFFF"/>
          </a:solidFill>
          <a:ln w="1651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855782" y="1909454"/>
            <a:ext cx="306096" cy="313384"/>
          </a:xfrm>
          <a:prstGeom prst="rect">
            <a:avLst/>
          </a:prstGeom>
          <a:solidFill>
            <a:srgbClr val="FFFFFF"/>
          </a:solidFill>
          <a:ln w="16510">
            <a:solidFill>
              <a:srgbClr val="1558A0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3763690" y="1909454"/>
            <a:ext cx="298808" cy="313384"/>
          </a:xfrm>
          <a:prstGeom prst="rect">
            <a:avLst/>
          </a:prstGeom>
          <a:solidFill>
            <a:srgbClr val="FFFFFF"/>
          </a:solidFill>
          <a:ln w="16510">
            <a:solidFill>
              <a:srgbClr val="1558A0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6562279" y="1909454"/>
            <a:ext cx="298808" cy="313384"/>
          </a:xfrm>
          <a:prstGeom prst="rect">
            <a:avLst/>
          </a:prstGeom>
          <a:solidFill>
            <a:srgbClr val="FFFFFF"/>
          </a:solidFill>
          <a:ln w="16510">
            <a:solidFill>
              <a:srgbClr val="1558A0"/>
            </a:solidFill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9397308" y="1909454"/>
            <a:ext cx="298808" cy="313384"/>
          </a:xfrm>
          <a:prstGeom prst="rect">
            <a:avLst/>
          </a:prstGeom>
          <a:solidFill>
            <a:srgbClr val="FFFFFF"/>
          </a:solidFill>
          <a:ln w="16510">
            <a:solidFill>
              <a:srgbClr val="1558A0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812054" y="4372795"/>
            <a:ext cx="262368" cy="269656"/>
          </a:xfrm>
          <a:prstGeom prst="rect">
            <a:avLst/>
          </a:prstGeom>
          <a:solidFill>
            <a:srgbClr val="FFFFFF"/>
          </a:solidFill>
          <a:ln w="16510">
            <a:solidFill>
              <a:srgbClr val="919191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4077074" y="4358219"/>
            <a:ext cx="306096" cy="306096"/>
          </a:xfrm>
          <a:prstGeom prst="rect">
            <a:avLst/>
          </a:prstGeom>
          <a:solidFill>
            <a:srgbClr val="FFFFFF"/>
          </a:solidFill>
          <a:ln w="16510">
            <a:solidFill>
              <a:srgbClr val="092856"/>
            </a:solidFill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505958" y="6172929"/>
            <a:ext cx="262368" cy="269656"/>
          </a:xfrm>
          <a:prstGeom prst="rect">
            <a:avLst/>
          </a:prstGeom>
          <a:solidFill>
            <a:srgbClr val="FFFFFF"/>
          </a:solidFill>
          <a:ln w="16510">
            <a:solidFill>
              <a:srgbClr val="092856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1008830" y="765239"/>
            <a:ext cx="2623677" cy="0"/>
          </a:xfrm>
          <a:prstGeom prst="line">
            <a:avLst/>
          </a:prstGeom>
          <a:noFill/>
          <a:ln w="1651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9127652" y="757951"/>
            <a:ext cx="2390461" cy="0"/>
          </a:xfrm>
          <a:prstGeom prst="line">
            <a:avLst/>
          </a:prstGeom>
          <a:noFill/>
          <a:ln w="1651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804766" y="2346733"/>
            <a:ext cx="2077078" cy="0"/>
          </a:xfrm>
          <a:prstGeom prst="line">
            <a:avLst/>
          </a:prstGeom>
          <a:noFill/>
          <a:ln w="16510">
            <a:solidFill>
              <a:srgbClr val="1558A0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3712674" y="2346733"/>
            <a:ext cx="2018774" cy="0"/>
          </a:xfrm>
          <a:prstGeom prst="line">
            <a:avLst/>
          </a:prstGeom>
          <a:noFill/>
          <a:ln w="16510">
            <a:solidFill>
              <a:srgbClr val="1558A0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6511263" y="2346733"/>
            <a:ext cx="2018774" cy="0"/>
          </a:xfrm>
          <a:prstGeom prst="line">
            <a:avLst/>
          </a:prstGeom>
          <a:noFill/>
          <a:ln w="16510">
            <a:solidFill>
              <a:srgbClr val="1558A0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9339004" y="2346733"/>
            <a:ext cx="2077078" cy="0"/>
          </a:xfrm>
          <a:prstGeom prst="line">
            <a:avLst/>
          </a:prstGeom>
          <a:noFill/>
          <a:ln w="16510">
            <a:solidFill>
              <a:srgbClr val="1558A0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739174" y="4759058"/>
            <a:ext cx="2251989" cy="0"/>
          </a:xfrm>
          <a:prstGeom prst="line">
            <a:avLst/>
          </a:prstGeom>
          <a:noFill/>
          <a:ln w="16510">
            <a:solidFill>
              <a:srgbClr val="919191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3931314" y="4766346"/>
            <a:ext cx="7339007" cy="0"/>
          </a:xfrm>
          <a:prstGeom prst="line">
            <a:avLst/>
          </a:prstGeom>
          <a:noFill/>
          <a:ln w="16510">
            <a:solidFill>
              <a:srgbClr val="092856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3217091" y="6121913"/>
            <a:ext cx="0" cy="357112"/>
          </a:xfrm>
          <a:prstGeom prst="line">
            <a:avLst/>
          </a:prstGeom>
          <a:noFill/>
          <a:ln w="16510">
            <a:solidFill>
              <a:srgbClr val="092856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1897964" y="1304550"/>
            <a:ext cx="0" cy="313384"/>
          </a:xfrm>
          <a:prstGeom prst="line">
            <a:avLst/>
          </a:prstGeom>
          <a:noFill/>
          <a:ln w="3556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2991163" y="2732997"/>
            <a:ext cx="444567" cy="0"/>
          </a:xfrm>
          <a:prstGeom prst="line">
            <a:avLst/>
          </a:prstGeom>
          <a:noFill/>
          <a:ln w="3556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5840768" y="2732997"/>
            <a:ext cx="400840" cy="0"/>
          </a:xfrm>
          <a:prstGeom prst="line">
            <a:avLst/>
          </a:prstGeom>
          <a:noFill/>
          <a:ln w="3556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8639357" y="2732997"/>
            <a:ext cx="429991" cy="0"/>
          </a:xfrm>
          <a:prstGeom prst="line">
            <a:avLst/>
          </a:prstGeom>
          <a:noFill/>
          <a:ln w="3556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10381187" y="1304550"/>
            <a:ext cx="0" cy="313384"/>
          </a:xfrm>
          <a:prstGeom prst="line">
            <a:avLst/>
          </a:prstGeom>
          <a:noFill/>
          <a:ln w="3556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10381187" y="3775180"/>
            <a:ext cx="0" cy="320672"/>
          </a:xfrm>
          <a:prstGeom prst="line">
            <a:avLst/>
          </a:prstGeom>
          <a:noFill/>
          <a:ln w="3556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3100483" y="4751770"/>
            <a:ext cx="553887" cy="0"/>
          </a:xfrm>
          <a:prstGeom prst="line">
            <a:avLst/>
          </a:prstGeom>
          <a:noFill/>
          <a:ln w="3556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36" name="Polygon 36"/>
          <p:cNvSpPr/>
          <p:nvPr/>
        </p:nvSpPr>
        <p:spPr>
          <a:xfrm>
            <a:off x="1825085" y="1617934"/>
            <a:ext cx="145760" cy="1311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Polygon 37"/>
          <p:cNvSpPr/>
          <p:nvPr/>
        </p:nvSpPr>
        <p:spPr>
          <a:xfrm>
            <a:off x="3435731" y="2660117"/>
            <a:ext cx="131184" cy="14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Polygon 38"/>
          <p:cNvSpPr/>
          <p:nvPr/>
        </p:nvSpPr>
        <p:spPr>
          <a:xfrm>
            <a:off x="6241607" y="2660117"/>
            <a:ext cx="131184" cy="14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Polygon 39"/>
          <p:cNvSpPr/>
          <p:nvPr/>
        </p:nvSpPr>
        <p:spPr>
          <a:xfrm>
            <a:off x="9069348" y="2660117"/>
            <a:ext cx="131184" cy="14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Polygon 40"/>
          <p:cNvSpPr/>
          <p:nvPr/>
        </p:nvSpPr>
        <p:spPr>
          <a:xfrm>
            <a:off x="10308307" y="1617934"/>
            <a:ext cx="145760" cy="1311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Polygon 41"/>
          <p:cNvSpPr/>
          <p:nvPr/>
        </p:nvSpPr>
        <p:spPr>
          <a:xfrm>
            <a:off x="10308307" y="4095851"/>
            <a:ext cx="145760" cy="1311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Polygon 42"/>
          <p:cNvSpPr/>
          <p:nvPr/>
        </p:nvSpPr>
        <p:spPr>
          <a:xfrm>
            <a:off x="3654370" y="4678891"/>
            <a:ext cx="131184" cy="14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Polygon 43"/>
          <p:cNvSpPr/>
          <p:nvPr/>
        </p:nvSpPr>
        <p:spPr>
          <a:xfrm>
            <a:off x="724598" y="692359"/>
            <a:ext cx="123896" cy="14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4D91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11590993" y="2732997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11780481" y="2732997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11918953" y="2732997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11918953" y="2922485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11918953" y="3111972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11918953" y="3301460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11918953" y="3490948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11918953" y="3680436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11918953" y="3869923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11918953" y="4059411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11918953" y="4248899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11918953" y="4438387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11918953" y="4627875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11918953" y="4817362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11918953" y="5006850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11918953" y="5196338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11918953" y="5385826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11918953" y="5575313"/>
            <a:ext cx="0" cy="51016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 flipH="1">
            <a:off x="11824209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 flipH="1">
            <a:off x="11634721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 flipH="1">
            <a:off x="11445233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 flipH="1">
            <a:off x="11255746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 flipH="1">
            <a:off x="11066258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 flipH="1">
            <a:off x="10876770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 flipH="1">
            <a:off x="10687282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 flipH="1">
            <a:off x="10497794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 flipH="1">
            <a:off x="10308307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 flipH="1">
            <a:off x="10118819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 flipH="1">
            <a:off x="9929331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 flipH="1">
            <a:off x="9739843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 flipH="1">
            <a:off x="9550356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 flipH="1">
            <a:off x="9360868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 flipH="1">
            <a:off x="9171380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 flipH="1">
            <a:off x="8981892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 flipH="1">
            <a:off x="8792404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 flipH="1">
            <a:off x="8602917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 flipH="1">
            <a:off x="8413429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 flipH="1">
            <a:off x="8223941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82" name="Line 82"/>
          <p:cNvSpPr/>
          <p:nvPr/>
        </p:nvSpPr>
        <p:spPr>
          <a:xfrm flipH="1">
            <a:off x="8034453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 flipH="1">
            <a:off x="7844966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84" name="Line 84"/>
          <p:cNvSpPr/>
          <p:nvPr/>
        </p:nvSpPr>
        <p:spPr>
          <a:xfrm flipH="1">
            <a:off x="7655478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 flipH="1">
            <a:off x="7465990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 flipH="1">
            <a:off x="7276502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 flipH="1">
            <a:off x="7087014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 flipH="1">
            <a:off x="6897527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 flipH="1">
            <a:off x="6708039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 flipH="1">
            <a:off x="6518551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 flipH="1">
            <a:off x="6329063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 flipH="1">
            <a:off x="6139576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 flipH="1">
            <a:off x="5950088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 flipH="1">
            <a:off x="5760600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 flipH="1">
            <a:off x="5571112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 flipH="1">
            <a:off x="5381624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 flipH="1">
            <a:off x="5192137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 flipH="1">
            <a:off x="5002649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 flipH="1">
            <a:off x="4813161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00" name="Line 100"/>
          <p:cNvSpPr/>
          <p:nvPr/>
        </p:nvSpPr>
        <p:spPr>
          <a:xfrm flipH="1">
            <a:off x="4623673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 flipH="1">
            <a:off x="4434186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 flipH="1">
            <a:off x="4244698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 flipH="1">
            <a:off x="4055210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 flipH="1">
            <a:off x="3865722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 flipH="1">
            <a:off x="3676234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 flipH="1">
            <a:off x="3486747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 flipH="1">
            <a:off x="3297259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 flipH="1">
            <a:off x="3107771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 flipH="1">
            <a:off x="2918283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10" name="Line 110"/>
          <p:cNvSpPr/>
          <p:nvPr/>
        </p:nvSpPr>
        <p:spPr>
          <a:xfrm flipH="1">
            <a:off x="2728796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 flipH="1">
            <a:off x="2539308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 flipH="1">
            <a:off x="2349820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13" name="Line 113"/>
          <p:cNvSpPr/>
          <p:nvPr/>
        </p:nvSpPr>
        <p:spPr>
          <a:xfrm flipH="1">
            <a:off x="2160332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14" name="Line 114"/>
          <p:cNvSpPr/>
          <p:nvPr/>
        </p:nvSpPr>
        <p:spPr>
          <a:xfrm flipH="1">
            <a:off x="1970844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15" name="Line 115"/>
          <p:cNvSpPr/>
          <p:nvPr/>
        </p:nvSpPr>
        <p:spPr>
          <a:xfrm flipH="1">
            <a:off x="1781357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16" name="Line 116"/>
          <p:cNvSpPr/>
          <p:nvPr/>
        </p:nvSpPr>
        <p:spPr>
          <a:xfrm flipH="1">
            <a:off x="1591869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 flipH="1">
            <a:off x="1402381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18" name="Line 118"/>
          <p:cNvSpPr/>
          <p:nvPr/>
        </p:nvSpPr>
        <p:spPr>
          <a:xfrm flipH="1">
            <a:off x="1212893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 flipH="1">
            <a:off x="1023406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 flipH="1">
            <a:off x="833918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 flipH="1">
            <a:off x="644430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 flipH="1">
            <a:off x="454942" y="562632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23" name="Line 123"/>
          <p:cNvSpPr/>
          <p:nvPr/>
        </p:nvSpPr>
        <p:spPr>
          <a:xfrm flipH="1">
            <a:off x="301894" y="5626329"/>
            <a:ext cx="5830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 flipV="1">
            <a:off x="301894" y="5531586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 flipV="1">
            <a:off x="301894" y="5342098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26" name="Line 126"/>
          <p:cNvSpPr/>
          <p:nvPr/>
        </p:nvSpPr>
        <p:spPr>
          <a:xfrm flipV="1">
            <a:off x="301894" y="5152610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27" name="Line 127"/>
          <p:cNvSpPr/>
          <p:nvPr/>
        </p:nvSpPr>
        <p:spPr>
          <a:xfrm flipV="1">
            <a:off x="301894" y="4963122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28" name="Line 128"/>
          <p:cNvSpPr/>
          <p:nvPr/>
        </p:nvSpPr>
        <p:spPr>
          <a:xfrm flipV="1">
            <a:off x="301894" y="4773634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 flipV="1">
            <a:off x="301894" y="4584147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 flipV="1">
            <a:off x="301894" y="4394659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31" name="Line 131"/>
          <p:cNvSpPr/>
          <p:nvPr/>
        </p:nvSpPr>
        <p:spPr>
          <a:xfrm flipV="1">
            <a:off x="301894" y="4205171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32" name="Line 132"/>
          <p:cNvSpPr/>
          <p:nvPr/>
        </p:nvSpPr>
        <p:spPr>
          <a:xfrm flipV="1">
            <a:off x="301894" y="4015683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33" name="Line 133"/>
          <p:cNvSpPr/>
          <p:nvPr/>
        </p:nvSpPr>
        <p:spPr>
          <a:xfrm flipV="1">
            <a:off x="301894" y="3826196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34" name="Line 134"/>
          <p:cNvSpPr/>
          <p:nvPr/>
        </p:nvSpPr>
        <p:spPr>
          <a:xfrm flipV="1">
            <a:off x="301894" y="3636708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35" name="Line 135"/>
          <p:cNvSpPr/>
          <p:nvPr/>
        </p:nvSpPr>
        <p:spPr>
          <a:xfrm flipV="1">
            <a:off x="301894" y="3447220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36" name="Line 136"/>
          <p:cNvSpPr/>
          <p:nvPr/>
        </p:nvSpPr>
        <p:spPr>
          <a:xfrm flipV="1">
            <a:off x="301894" y="3257732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37" name="Line 137"/>
          <p:cNvSpPr/>
          <p:nvPr/>
        </p:nvSpPr>
        <p:spPr>
          <a:xfrm flipV="1">
            <a:off x="301894" y="3068244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38" name="Line 138"/>
          <p:cNvSpPr/>
          <p:nvPr/>
        </p:nvSpPr>
        <p:spPr>
          <a:xfrm flipV="1">
            <a:off x="301894" y="2878757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39" name="Line 139"/>
          <p:cNvSpPr/>
          <p:nvPr/>
        </p:nvSpPr>
        <p:spPr>
          <a:xfrm flipV="1">
            <a:off x="301894" y="2689269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40" name="Line 140"/>
          <p:cNvSpPr/>
          <p:nvPr/>
        </p:nvSpPr>
        <p:spPr>
          <a:xfrm flipV="1">
            <a:off x="301894" y="2499781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41" name="Line 141"/>
          <p:cNvSpPr/>
          <p:nvPr/>
        </p:nvSpPr>
        <p:spPr>
          <a:xfrm flipV="1">
            <a:off x="301894" y="2310293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42" name="Line 142"/>
          <p:cNvSpPr/>
          <p:nvPr/>
        </p:nvSpPr>
        <p:spPr>
          <a:xfrm flipV="1">
            <a:off x="301894" y="2120806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43" name="Line 143"/>
          <p:cNvSpPr/>
          <p:nvPr/>
        </p:nvSpPr>
        <p:spPr>
          <a:xfrm flipV="1">
            <a:off x="301894" y="1931318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44" name="Line 144"/>
          <p:cNvSpPr/>
          <p:nvPr/>
        </p:nvSpPr>
        <p:spPr>
          <a:xfrm flipV="1">
            <a:off x="301894" y="1741830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45" name="Line 145"/>
          <p:cNvSpPr/>
          <p:nvPr/>
        </p:nvSpPr>
        <p:spPr>
          <a:xfrm flipV="1">
            <a:off x="301894" y="1552342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46" name="Line 146"/>
          <p:cNvSpPr/>
          <p:nvPr/>
        </p:nvSpPr>
        <p:spPr>
          <a:xfrm flipV="1">
            <a:off x="301894" y="1362854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47" name="Line 147"/>
          <p:cNvSpPr/>
          <p:nvPr/>
        </p:nvSpPr>
        <p:spPr>
          <a:xfrm flipV="1">
            <a:off x="301894" y="1173367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48" name="Line 148"/>
          <p:cNvSpPr/>
          <p:nvPr/>
        </p:nvSpPr>
        <p:spPr>
          <a:xfrm flipV="1">
            <a:off x="301894" y="983879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49" name="Line 149"/>
          <p:cNvSpPr/>
          <p:nvPr/>
        </p:nvSpPr>
        <p:spPr>
          <a:xfrm flipV="1">
            <a:off x="301894" y="794391"/>
            <a:ext cx="0" cy="94744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50" name="Line 150"/>
          <p:cNvSpPr/>
          <p:nvPr/>
        </p:nvSpPr>
        <p:spPr>
          <a:xfrm>
            <a:off x="301894" y="76523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51" name="Line 151"/>
          <p:cNvSpPr/>
          <p:nvPr/>
        </p:nvSpPr>
        <p:spPr>
          <a:xfrm>
            <a:off x="491382" y="765239"/>
            <a:ext cx="94744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52" name="Line 152"/>
          <p:cNvSpPr/>
          <p:nvPr/>
        </p:nvSpPr>
        <p:spPr>
          <a:xfrm>
            <a:off x="680870" y="765239"/>
            <a:ext cx="43728" cy="0"/>
          </a:xfrm>
          <a:prstGeom prst="line">
            <a:avLst/>
          </a:prstGeom>
          <a:noFill/>
          <a:ln w="22860">
            <a:solidFill>
              <a:srgbClr val="4D91D1"/>
            </a:solidFill>
          </a:ln>
        </p:spPr>
        <p:txBody>
          <a:bodyPr/>
          <a:lstStyle/>
          <a:p/>
        </p:txBody>
      </p:sp>
      <p:sp>
        <p:nvSpPr>
          <p:cNvPr id="153" name="TextBox 153"/>
          <p:cNvSpPr txBox="1"/>
          <p:nvPr/>
        </p:nvSpPr>
        <p:spPr>
          <a:xfrm>
            <a:off x="1876101" y="335248"/>
            <a:ext cx="1042183" cy="335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任务输入</a:t>
            </a:r>
            <a:endParaRPr lang="zh-CN" sz="1850"/>
          </a:p>
        </p:txBody>
      </p:sp>
      <p:sp>
        <p:nvSpPr>
          <p:cNvPr id="154" name="TextBox 154"/>
          <p:cNvSpPr txBox="1"/>
          <p:nvPr/>
        </p:nvSpPr>
        <p:spPr>
          <a:xfrm>
            <a:off x="9820011" y="335248"/>
            <a:ext cx="1304550" cy="335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独立校准集</a:t>
            </a:r>
            <a:endParaRPr lang="zh-CN" sz="1850"/>
          </a:p>
        </p:txBody>
      </p:sp>
      <p:sp>
        <p:nvSpPr>
          <p:cNvPr id="155" name="TextBox 155"/>
          <p:cNvSpPr txBox="1"/>
          <p:nvPr/>
        </p:nvSpPr>
        <p:spPr>
          <a:xfrm>
            <a:off x="1329501" y="1894878"/>
            <a:ext cx="1399294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R1 参数适配</a:t>
            </a:r>
            <a:endParaRPr lang="zh-CN" sz="1850"/>
          </a:p>
        </p:txBody>
      </p:sp>
      <p:sp>
        <p:nvSpPr>
          <p:cNvPr id="156" name="TextBox 156"/>
          <p:cNvSpPr txBox="1"/>
          <p:nvPr/>
        </p:nvSpPr>
        <p:spPr>
          <a:xfrm>
            <a:off x="4230122" y="1894878"/>
            <a:ext cx="1326414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R2 轨迹学习</a:t>
            </a:r>
            <a:endParaRPr lang="zh-CN" sz="1850"/>
          </a:p>
        </p:txBody>
      </p:sp>
      <p:sp>
        <p:nvSpPr>
          <p:cNvPr id="157" name="TextBox 157"/>
          <p:cNvSpPr txBox="1"/>
          <p:nvPr/>
        </p:nvSpPr>
        <p:spPr>
          <a:xfrm>
            <a:off x="7014135" y="1894878"/>
            <a:ext cx="1348278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R3 有界记忆</a:t>
            </a:r>
            <a:endParaRPr lang="zh-CN" sz="1850"/>
          </a:p>
        </p:txBody>
      </p:sp>
      <p:sp>
        <p:nvSpPr>
          <p:cNvPr id="158" name="TextBox 158"/>
          <p:cNvSpPr txBox="1"/>
          <p:nvPr/>
        </p:nvSpPr>
        <p:spPr>
          <a:xfrm>
            <a:off x="9856451" y="1894878"/>
            <a:ext cx="1384718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R4 行动校准</a:t>
            </a:r>
            <a:endParaRPr lang="zh-CN" sz="1850"/>
          </a:p>
        </p:txBody>
      </p:sp>
      <p:sp>
        <p:nvSpPr>
          <p:cNvPr id="159" name="TextBox 159"/>
          <p:cNvSpPr txBox="1"/>
          <p:nvPr/>
        </p:nvSpPr>
        <p:spPr>
          <a:xfrm>
            <a:off x="1416957" y="4336355"/>
            <a:ext cx="1202519" cy="335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冻结测试集</a:t>
            </a:r>
            <a:endParaRPr lang="zh-CN" sz="1850"/>
          </a:p>
        </p:txBody>
      </p:sp>
      <p:sp>
        <p:nvSpPr>
          <p:cNvPr id="160" name="TextBox 160"/>
          <p:cNvSpPr txBox="1"/>
          <p:nvPr/>
        </p:nvSpPr>
        <p:spPr>
          <a:xfrm>
            <a:off x="7065150" y="4336355"/>
            <a:ext cx="1042183" cy="335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评价输出</a:t>
            </a:r>
            <a:endParaRPr lang="zh-CN" sz="1850"/>
          </a:p>
        </p:txBody>
      </p:sp>
      <p:sp>
        <p:nvSpPr>
          <p:cNvPr id="161" name="TextBox 161"/>
          <p:cNvSpPr txBox="1"/>
          <p:nvPr/>
        </p:nvSpPr>
        <p:spPr>
          <a:xfrm>
            <a:off x="1132725" y="6121913"/>
            <a:ext cx="1654374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累计资源约束</a:t>
            </a:r>
            <a:endParaRPr lang="zh-CN" sz="1850"/>
          </a:p>
        </p:txBody>
      </p:sp>
      <p:sp>
        <p:nvSpPr>
          <p:cNvPr id="162" name="TextBox 162"/>
          <p:cNvSpPr txBox="1"/>
          <p:nvPr/>
        </p:nvSpPr>
        <p:spPr>
          <a:xfrm>
            <a:off x="1402381" y="867271"/>
            <a:ext cx="1924030" cy="29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动态任务  |  工具版本</a:t>
            </a:r>
            <a:endParaRPr lang="zh-CN" sz="1500"/>
          </a:p>
        </p:txBody>
      </p:sp>
      <p:sp>
        <p:nvSpPr>
          <p:cNvPr id="163" name="TextBox 163"/>
          <p:cNvSpPr txBox="1"/>
          <p:nvPr/>
        </p:nvSpPr>
        <p:spPr>
          <a:xfrm>
            <a:off x="1380517" y="2543509"/>
            <a:ext cx="859983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任务证据</a:t>
            </a:r>
            <a:endParaRPr lang="zh-CN" sz="1500"/>
          </a:p>
        </p:txBody>
      </p:sp>
      <p:sp>
        <p:nvSpPr>
          <p:cNvPr id="164" name="TextBox 164"/>
          <p:cNvSpPr txBox="1"/>
          <p:nvPr/>
        </p:nvSpPr>
        <p:spPr>
          <a:xfrm>
            <a:off x="1380517" y="2915197"/>
            <a:ext cx="845407" cy="29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有限探测</a:t>
            </a:r>
            <a:endParaRPr lang="zh-CN" sz="1500"/>
          </a:p>
        </p:txBody>
      </p:sp>
      <p:sp>
        <p:nvSpPr>
          <p:cNvPr id="165" name="TextBox 165"/>
          <p:cNvSpPr txBox="1"/>
          <p:nvPr/>
        </p:nvSpPr>
        <p:spPr>
          <a:xfrm>
            <a:off x="1380517" y="3279596"/>
            <a:ext cx="859983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低秩更新</a:t>
            </a:r>
            <a:endParaRPr lang="zh-CN" sz="1500"/>
          </a:p>
        </p:txBody>
      </p:sp>
      <p:sp>
        <p:nvSpPr>
          <p:cNvPr id="166" name="TextBox 166"/>
          <p:cNvSpPr txBox="1"/>
          <p:nvPr/>
        </p:nvSpPr>
        <p:spPr>
          <a:xfrm>
            <a:off x="4295714" y="2543509"/>
            <a:ext cx="867271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执行核验</a:t>
            </a:r>
            <a:endParaRPr lang="zh-CN" sz="1500"/>
          </a:p>
        </p:txBody>
      </p:sp>
      <p:sp>
        <p:nvSpPr>
          <p:cNvPr id="167" name="TextBox 167"/>
          <p:cNvSpPr txBox="1"/>
          <p:nvPr/>
        </p:nvSpPr>
        <p:spPr>
          <a:xfrm>
            <a:off x="4091650" y="2915197"/>
            <a:ext cx="1260823" cy="29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正确性与效用</a:t>
            </a:r>
            <a:endParaRPr lang="zh-CN" sz="1500"/>
          </a:p>
        </p:txBody>
      </p:sp>
      <p:sp>
        <p:nvSpPr>
          <p:cNvPr id="168" name="TextBox 168"/>
          <p:cNvSpPr txBox="1"/>
          <p:nvPr/>
        </p:nvSpPr>
        <p:spPr>
          <a:xfrm>
            <a:off x="4200970" y="3279596"/>
            <a:ext cx="1064047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加权训练池</a:t>
            </a:r>
            <a:endParaRPr lang="zh-CN" sz="1500"/>
          </a:p>
        </p:txBody>
      </p:sp>
      <p:sp>
        <p:nvSpPr>
          <p:cNvPr id="169" name="TextBox 169"/>
          <p:cNvSpPr txBox="1"/>
          <p:nvPr/>
        </p:nvSpPr>
        <p:spPr>
          <a:xfrm>
            <a:off x="7079726" y="2543509"/>
            <a:ext cx="874559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参数记忆</a:t>
            </a:r>
            <a:endParaRPr lang="zh-CN" sz="1500"/>
          </a:p>
        </p:txBody>
      </p:sp>
      <p:sp>
        <p:nvSpPr>
          <p:cNvPr id="170" name="TextBox 170"/>
          <p:cNvSpPr txBox="1"/>
          <p:nvPr/>
        </p:nvSpPr>
        <p:spPr>
          <a:xfrm>
            <a:off x="7087014" y="2915197"/>
            <a:ext cx="867271" cy="29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轨迹回放</a:t>
            </a:r>
            <a:endParaRPr lang="zh-CN" sz="1500"/>
          </a:p>
        </p:txBody>
      </p:sp>
      <p:sp>
        <p:nvSpPr>
          <p:cNvPr id="171" name="TextBox 171"/>
          <p:cNvSpPr txBox="1"/>
          <p:nvPr/>
        </p:nvSpPr>
        <p:spPr>
          <a:xfrm>
            <a:off x="6984983" y="3279596"/>
            <a:ext cx="1064047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冻结新策略</a:t>
            </a:r>
            <a:endParaRPr lang="zh-CN" sz="1500"/>
          </a:p>
        </p:txBody>
      </p:sp>
      <p:sp>
        <p:nvSpPr>
          <p:cNvPr id="172" name="TextBox 172"/>
          <p:cNvSpPr txBox="1"/>
          <p:nvPr/>
        </p:nvSpPr>
        <p:spPr>
          <a:xfrm>
            <a:off x="9820011" y="2543509"/>
            <a:ext cx="1078623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执行前证据</a:t>
            </a:r>
            <a:endParaRPr lang="zh-CN" sz="1500"/>
          </a:p>
        </p:txBody>
      </p:sp>
      <p:sp>
        <p:nvSpPr>
          <p:cNvPr id="173" name="TextBox 173"/>
          <p:cNvSpPr txBox="1"/>
          <p:nvPr/>
        </p:nvSpPr>
        <p:spPr>
          <a:xfrm>
            <a:off x="9922043" y="2915197"/>
            <a:ext cx="874559" cy="29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独立校准</a:t>
            </a:r>
            <a:endParaRPr lang="zh-CN" sz="1500"/>
          </a:p>
        </p:txBody>
      </p:sp>
      <p:sp>
        <p:nvSpPr>
          <p:cNvPr id="174" name="TextBox 174"/>
          <p:cNvSpPr txBox="1"/>
          <p:nvPr/>
        </p:nvSpPr>
        <p:spPr>
          <a:xfrm>
            <a:off x="9739843" y="3279596"/>
            <a:ext cx="1253535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风险感知执行</a:t>
            </a:r>
            <a:endParaRPr lang="zh-CN" sz="1500"/>
          </a:p>
        </p:txBody>
      </p:sp>
      <p:sp>
        <p:nvSpPr>
          <p:cNvPr id="175" name="TextBox 175"/>
          <p:cNvSpPr txBox="1"/>
          <p:nvPr/>
        </p:nvSpPr>
        <p:spPr>
          <a:xfrm>
            <a:off x="1380517" y="4846514"/>
            <a:ext cx="1042183" cy="29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仅用于评价</a:t>
            </a:r>
            <a:endParaRPr lang="zh-CN" sz="1500"/>
          </a:p>
        </p:txBody>
      </p:sp>
      <p:sp>
        <p:nvSpPr>
          <p:cNvPr id="176" name="TextBox 176"/>
          <p:cNvSpPr txBox="1"/>
          <p:nvPr/>
        </p:nvSpPr>
        <p:spPr>
          <a:xfrm>
            <a:off x="5782464" y="4868378"/>
            <a:ext cx="655919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成功率</a:t>
            </a:r>
            <a:endParaRPr lang="zh-CN" sz="1500"/>
          </a:p>
        </p:txBody>
      </p:sp>
      <p:sp>
        <p:nvSpPr>
          <p:cNvPr id="177" name="TextBox 177"/>
          <p:cNvSpPr txBox="1"/>
          <p:nvPr/>
        </p:nvSpPr>
        <p:spPr>
          <a:xfrm>
            <a:off x="6452959" y="4868378"/>
            <a:ext cx="218640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|</a:t>
            </a:r>
            <a:endParaRPr lang="zh-CN" sz="1500"/>
          </a:p>
        </p:txBody>
      </p:sp>
      <p:sp>
        <p:nvSpPr>
          <p:cNvPr id="178" name="TextBox 178"/>
          <p:cNvSpPr txBox="1"/>
          <p:nvPr/>
        </p:nvSpPr>
        <p:spPr>
          <a:xfrm>
            <a:off x="6708039" y="4868378"/>
            <a:ext cx="459143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遗忘</a:t>
            </a:r>
            <a:endParaRPr lang="zh-CN" sz="1500"/>
          </a:p>
        </p:txBody>
      </p:sp>
      <p:sp>
        <p:nvSpPr>
          <p:cNvPr id="179" name="TextBox 179"/>
          <p:cNvSpPr txBox="1"/>
          <p:nvPr/>
        </p:nvSpPr>
        <p:spPr>
          <a:xfrm>
            <a:off x="7159894" y="4868378"/>
            <a:ext cx="218640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|</a:t>
            </a:r>
            <a:endParaRPr lang="zh-CN" sz="1500"/>
          </a:p>
        </p:txBody>
      </p:sp>
      <p:sp>
        <p:nvSpPr>
          <p:cNvPr id="180" name="TextBox 180"/>
          <p:cNvSpPr txBox="1"/>
          <p:nvPr/>
        </p:nvSpPr>
        <p:spPr>
          <a:xfrm>
            <a:off x="7414974" y="4868378"/>
            <a:ext cx="1078623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风险覆盖率</a:t>
            </a:r>
            <a:endParaRPr lang="zh-CN" sz="1500"/>
          </a:p>
        </p:txBody>
      </p:sp>
      <p:sp>
        <p:nvSpPr>
          <p:cNvPr id="181" name="TextBox 181"/>
          <p:cNvSpPr txBox="1"/>
          <p:nvPr/>
        </p:nvSpPr>
        <p:spPr>
          <a:xfrm>
            <a:off x="8493597" y="4868378"/>
            <a:ext cx="218640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|</a:t>
            </a:r>
            <a:endParaRPr lang="zh-CN" sz="1500"/>
          </a:p>
        </p:txBody>
      </p:sp>
      <p:sp>
        <p:nvSpPr>
          <p:cNvPr id="182" name="TextBox 182"/>
          <p:cNvSpPr txBox="1"/>
          <p:nvPr/>
        </p:nvSpPr>
        <p:spPr>
          <a:xfrm>
            <a:off x="8726813" y="4868378"/>
            <a:ext cx="655919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总成本</a:t>
            </a:r>
            <a:endParaRPr lang="zh-CN" sz="1500"/>
          </a:p>
        </p:txBody>
      </p:sp>
      <p:sp>
        <p:nvSpPr>
          <p:cNvPr id="183" name="TextBox 183"/>
          <p:cNvSpPr txBox="1"/>
          <p:nvPr/>
        </p:nvSpPr>
        <p:spPr>
          <a:xfrm>
            <a:off x="5695008" y="6158353"/>
            <a:ext cx="495583" cy="29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计算</a:t>
            </a:r>
            <a:endParaRPr lang="zh-CN" sz="1500"/>
          </a:p>
        </p:txBody>
      </p:sp>
      <p:sp>
        <p:nvSpPr>
          <p:cNvPr id="184" name="TextBox 184"/>
          <p:cNvSpPr txBox="1"/>
          <p:nvPr/>
        </p:nvSpPr>
        <p:spPr>
          <a:xfrm>
            <a:off x="6482111" y="6158353"/>
            <a:ext cx="903711" cy="29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附加参数</a:t>
            </a:r>
            <a:endParaRPr lang="zh-CN" sz="1500"/>
          </a:p>
        </p:txBody>
      </p:sp>
      <p:sp>
        <p:nvSpPr>
          <p:cNvPr id="185" name="TextBox 185"/>
          <p:cNvSpPr txBox="1"/>
          <p:nvPr/>
        </p:nvSpPr>
        <p:spPr>
          <a:xfrm>
            <a:off x="7691918" y="6158353"/>
            <a:ext cx="896423" cy="29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记忆字节</a:t>
            </a:r>
            <a:endParaRPr lang="zh-CN" sz="1500"/>
          </a:p>
        </p:txBody>
      </p:sp>
      <p:sp>
        <p:nvSpPr>
          <p:cNvPr id="186" name="TextBox 186"/>
          <p:cNvSpPr txBox="1"/>
          <p:nvPr/>
        </p:nvSpPr>
        <p:spPr>
          <a:xfrm>
            <a:off x="6219743" y="6158353"/>
            <a:ext cx="218640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|</a:t>
            </a:r>
            <a:endParaRPr lang="zh-CN" sz="1500"/>
          </a:p>
        </p:txBody>
      </p:sp>
      <p:sp>
        <p:nvSpPr>
          <p:cNvPr id="187" name="TextBox 187"/>
          <p:cNvSpPr txBox="1"/>
          <p:nvPr/>
        </p:nvSpPr>
        <p:spPr>
          <a:xfrm>
            <a:off x="7429550" y="6158353"/>
            <a:ext cx="218640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|</a:t>
            </a:r>
            <a:endParaRPr lang="zh-CN" sz="1500"/>
          </a:p>
        </p:txBody>
      </p:sp>
      <p:sp>
        <p:nvSpPr>
          <p:cNvPr id="188" name="TextBox 188"/>
          <p:cNvSpPr txBox="1"/>
          <p:nvPr/>
        </p:nvSpPr>
        <p:spPr>
          <a:xfrm>
            <a:off x="5447216" y="5691921"/>
            <a:ext cx="1537766" cy="29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558A0"/>
                </a:solidFill>
                <a:latin typeface="Noto Sans CJK SC"/>
                <a:ea typeface="Noto Sans CJK SC"/>
                <a:cs typeface="Noto Sans CJK SC"/>
              </a:rPr>
              <a:t>下一轮可用日志</a:t>
            </a:r>
            <a:endParaRPr lang="zh-CN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2677780" y="1960470"/>
            <a:ext cx="779815" cy="0"/>
          </a:xfrm>
          <a:prstGeom prst="line">
            <a:avLst/>
          </a:prstGeom>
          <a:noFill/>
          <a:ln w="2540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4798585" y="801679"/>
            <a:ext cx="0" cy="80168"/>
          </a:xfrm>
          <a:prstGeom prst="line">
            <a:avLst/>
          </a:prstGeom>
          <a:noFill/>
          <a:ln w="2159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4798585" y="925575"/>
            <a:ext cx="0" cy="80168"/>
          </a:xfrm>
          <a:prstGeom prst="line">
            <a:avLst/>
          </a:prstGeom>
          <a:noFill/>
          <a:ln w="2159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4798585" y="1049471"/>
            <a:ext cx="0" cy="7288"/>
          </a:xfrm>
          <a:prstGeom prst="line">
            <a:avLst/>
          </a:prstGeom>
          <a:noFill/>
          <a:ln w="2159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4798585" y="2616389"/>
            <a:ext cx="0" cy="269656"/>
          </a:xfrm>
          <a:prstGeom prst="line">
            <a:avLst/>
          </a:prstGeom>
          <a:noFill/>
          <a:ln w="2540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6088560" y="3636708"/>
            <a:ext cx="808967" cy="0"/>
          </a:xfrm>
          <a:prstGeom prst="line">
            <a:avLst/>
          </a:prstGeom>
          <a:noFill/>
          <a:ln w="2540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6897527" y="1180655"/>
            <a:ext cx="0" cy="2456053"/>
          </a:xfrm>
          <a:prstGeom prst="line">
            <a:avLst/>
          </a:prstGeom>
          <a:noFill/>
          <a:ln w="2540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6897527" y="1180655"/>
            <a:ext cx="561175" cy="0"/>
          </a:xfrm>
          <a:prstGeom prst="line">
            <a:avLst/>
          </a:prstGeom>
          <a:noFill/>
          <a:ln w="2540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9783571" y="1180655"/>
            <a:ext cx="750663" cy="0"/>
          </a:xfrm>
          <a:prstGeom prst="line">
            <a:avLst/>
          </a:prstGeom>
          <a:noFill/>
          <a:ln w="2540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6897527" y="1909454"/>
            <a:ext cx="561175" cy="0"/>
          </a:xfrm>
          <a:prstGeom prst="line">
            <a:avLst/>
          </a:prstGeom>
          <a:noFill/>
          <a:ln w="2540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9783571" y="1909454"/>
            <a:ext cx="750663" cy="0"/>
          </a:xfrm>
          <a:prstGeom prst="line">
            <a:avLst/>
          </a:prstGeom>
          <a:noFill/>
          <a:ln w="2540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6897527" y="2652829"/>
            <a:ext cx="561175" cy="0"/>
          </a:xfrm>
          <a:prstGeom prst="line">
            <a:avLst/>
          </a:prstGeom>
          <a:noFill/>
          <a:ln w="2540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9783571" y="2652829"/>
            <a:ext cx="750663" cy="0"/>
          </a:xfrm>
          <a:prstGeom prst="line">
            <a:avLst/>
          </a:prstGeom>
          <a:noFill/>
          <a:ln w="2540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6897527" y="3381628"/>
            <a:ext cx="561175" cy="0"/>
          </a:xfrm>
          <a:prstGeom prst="line">
            <a:avLst/>
          </a:prstGeom>
          <a:noFill/>
          <a:ln w="2540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9783571" y="3381628"/>
            <a:ext cx="750663" cy="0"/>
          </a:xfrm>
          <a:prstGeom prst="line">
            <a:avLst/>
          </a:prstGeom>
          <a:noFill/>
          <a:ln w="2540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10534234" y="1180655"/>
            <a:ext cx="0" cy="2208261"/>
          </a:xfrm>
          <a:prstGeom prst="line">
            <a:avLst/>
          </a:prstGeom>
          <a:noFill/>
          <a:ln w="2540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10534234" y="2652829"/>
            <a:ext cx="553887" cy="0"/>
          </a:xfrm>
          <a:prstGeom prst="line">
            <a:avLst/>
          </a:prstGeom>
          <a:noFill/>
          <a:ln w="2540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11088122" y="2652829"/>
            <a:ext cx="0" cy="2295717"/>
          </a:xfrm>
          <a:prstGeom prst="line">
            <a:avLst/>
          </a:prstGeom>
          <a:noFill/>
          <a:ln w="2540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 flipH="1">
            <a:off x="9688827" y="4948546"/>
            <a:ext cx="1399294" cy="0"/>
          </a:xfrm>
          <a:prstGeom prst="line">
            <a:avLst/>
          </a:prstGeom>
          <a:noFill/>
          <a:ln w="2540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6933967" y="5451418"/>
            <a:ext cx="0" cy="72880"/>
          </a:xfrm>
          <a:prstGeom prst="line">
            <a:avLst/>
          </a:prstGeom>
          <a:noFill/>
          <a:ln w="1905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6933967" y="5560738"/>
            <a:ext cx="0" cy="72880"/>
          </a:xfrm>
          <a:prstGeom prst="line">
            <a:avLst/>
          </a:prstGeom>
          <a:noFill/>
          <a:ln w="1905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6933967" y="5670057"/>
            <a:ext cx="0" cy="14576"/>
          </a:xfrm>
          <a:prstGeom prst="line">
            <a:avLst/>
          </a:prstGeom>
          <a:noFill/>
          <a:ln w="19050">
            <a:solidFill>
              <a:srgbClr val="272727"/>
            </a:solidFill>
          </a:ln>
        </p:spPr>
        <p:txBody>
          <a:bodyPr/>
          <a:lstStyle/>
          <a:p/>
        </p:txBody>
      </p:sp>
      <p:sp>
        <p:nvSpPr>
          <p:cNvPr id="24" name="Freeform 24"/>
          <p:cNvSpPr/>
          <p:nvPr/>
        </p:nvSpPr>
        <p:spPr>
          <a:xfrm>
            <a:off x="3333699" y="1880302"/>
            <a:ext cx="153048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5143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2727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Freeform 25"/>
          <p:cNvSpPr/>
          <p:nvPr/>
        </p:nvSpPr>
        <p:spPr>
          <a:xfrm>
            <a:off x="4725705" y="1042183"/>
            <a:ext cx="145760" cy="14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10800" y="5400"/>
                </a:lnTo>
                <a:lnTo>
                  <a:pt x="21600" y="0"/>
                </a:lnTo>
                <a:close/>
              </a:path>
            </a:pathLst>
          </a:custGeom>
          <a:solidFill>
            <a:srgbClr val="2727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Freeform 26"/>
          <p:cNvSpPr/>
          <p:nvPr/>
        </p:nvSpPr>
        <p:spPr>
          <a:xfrm>
            <a:off x="4725705" y="2842317"/>
            <a:ext cx="145760" cy="14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10800" y="5400"/>
                </a:lnTo>
                <a:lnTo>
                  <a:pt x="21600" y="0"/>
                </a:lnTo>
                <a:close/>
              </a:path>
            </a:pathLst>
          </a:custGeom>
          <a:solidFill>
            <a:srgbClr val="2727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Freeform 27"/>
          <p:cNvSpPr/>
          <p:nvPr/>
        </p:nvSpPr>
        <p:spPr>
          <a:xfrm>
            <a:off x="7407686" y="1100487"/>
            <a:ext cx="153048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5143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2727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Freeform 28"/>
          <p:cNvSpPr/>
          <p:nvPr/>
        </p:nvSpPr>
        <p:spPr>
          <a:xfrm>
            <a:off x="7407686" y="1829286"/>
            <a:ext cx="153048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5143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2727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Freeform 29"/>
          <p:cNvSpPr/>
          <p:nvPr/>
        </p:nvSpPr>
        <p:spPr>
          <a:xfrm>
            <a:off x="7407686" y="2572661"/>
            <a:ext cx="153048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5143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2727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Freeform 30"/>
          <p:cNvSpPr/>
          <p:nvPr/>
        </p:nvSpPr>
        <p:spPr>
          <a:xfrm>
            <a:off x="7407686" y="3301460"/>
            <a:ext cx="153048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5143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2727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Freeform 31"/>
          <p:cNvSpPr/>
          <p:nvPr/>
        </p:nvSpPr>
        <p:spPr>
          <a:xfrm>
            <a:off x="9579508" y="4868378"/>
            <a:ext cx="153048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0800"/>
                </a:moveTo>
                <a:lnTo>
                  <a:pt x="21600" y="0"/>
                </a:lnTo>
                <a:lnTo>
                  <a:pt x="16457" y="108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2727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Freeform 32"/>
          <p:cNvSpPr/>
          <p:nvPr/>
        </p:nvSpPr>
        <p:spPr>
          <a:xfrm>
            <a:off x="6861087" y="5619041"/>
            <a:ext cx="145760" cy="14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10800" y="5400"/>
                </a:lnTo>
                <a:lnTo>
                  <a:pt x="21600" y="0"/>
                </a:lnTo>
                <a:close/>
              </a:path>
            </a:pathLst>
          </a:custGeom>
          <a:solidFill>
            <a:srgbClr val="2727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199862" y="1340990"/>
            <a:ext cx="2470629" cy="2164533"/>
          </a:xfrm>
          <a:prstGeom prst="rect">
            <a:avLst/>
          </a:prstGeom>
          <a:solidFill>
            <a:srgbClr val="FFFFFF"/>
          </a:solidFill>
          <a:ln w="27940">
            <a:solidFill>
              <a:srgbClr val="428DD8"/>
            </a:solidFill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3515899" y="1202519"/>
            <a:ext cx="2565373" cy="1406582"/>
          </a:xfrm>
          <a:prstGeom prst="rect">
            <a:avLst/>
          </a:prstGeom>
          <a:solidFill>
            <a:srgbClr val="FFFFFF"/>
          </a:solidFill>
          <a:ln w="27940">
            <a:solidFill>
              <a:srgbClr val="0750A9"/>
            </a:solidFill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3501323" y="3009940"/>
            <a:ext cx="2579949" cy="1275399"/>
          </a:xfrm>
          <a:prstGeom prst="rect">
            <a:avLst/>
          </a:prstGeom>
          <a:solidFill>
            <a:srgbClr val="FFFFFF"/>
          </a:solidFill>
          <a:ln w="27940">
            <a:solidFill>
              <a:srgbClr val="0750A9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3683522" y="174912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3829282" y="174912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3975042" y="174912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4120802" y="174912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4266562" y="174912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4412322" y="174912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4558081" y="174912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4703841" y="174912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4849601" y="174912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4995361" y="174912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5141121" y="174912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5286881" y="174912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5432640" y="174912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5578400" y="174912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5724160" y="174912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5869920" y="174912"/>
            <a:ext cx="43728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3683522" y="794391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3829282" y="794391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3975042" y="794391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4120802" y="794391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4266562" y="794391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4412322" y="794391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4558081" y="794391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4703841" y="794391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4849601" y="794391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4995361" y="794391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5141121" y="794391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5286881" y="794391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>
            <a:off x="5432640" y="794391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5578400" y="794391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>
            <a:off x="5724160" y="794391"/>
            <a:ext cx="94744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>
            <a:off x="5869920" y="794391"/>
            <a:ext cx="43728" cy="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3683522" y="174912"/>
            <a:ext cx="0" cy="94744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>
            <a:off x="3683522" y="320672"/>
            <a:ext cx="0" cy="94744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>
            <a:off x="3683522" y="466431"/>
            <a:ext cx="0" cy="94744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>
            <a:off x="3683522" y="612191"/>
            <a:ext cx="0" cy="94744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3683522" y="757951"/>
            <a:ext cx="0" cy="3644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5913648" y="174912"/>
            <a:ext cx="0" cy="94744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>
            <a:off x="5913648" y="320672"/>
            <a:ext cx="0" cy="94744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5913648" y="466431"/>
            <a:ext cx="0" cy="94744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>
            <a:off x="5913648" y="612191"/>
            <a:ext cx="0" cy="94744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>
            <a:off x="5913648" y="757951"/>
            <a:ext cx="0" cy="36440"/>
          </a:xfrm>
          <a:prstGeom prst="line">
            <a:avLst/>
          </a:prstGeom>
          <a:noFill/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7582598" y="889135"/>
            <a:ext cx="2193685" cy="604903"/>
          </a:xfrm>
          <a:prstGeom prst="rect">
            <a:avLst/>
          </a:prstGeom>
          <a:solidFill>
            <a:srgbClr val="FFFFFF"/>
          </a:solidFill>
          <a:ln w="27940">
            <a:solidFill>
              <a:srgbClr val="071C58"/>
            </a:solidFill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7582598" y="1617934"/>
            <a:ext cx="2193685" cy="604903"/>
          </a:xfrm>
          <a:prstGeom prst="rect">
            <a:avLst/>
          </a:prstGeom>
          <a:solidFill>
            <a:srgbClr val="FFFFFF"/>
          </a:solidFill>
          <a:ln w="27940">
            <a:solidFill>
              <a:srgbClr val="071C58"/>
            </a:solidFill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7582598" y="2361309"/>
            <a:ext cx="2193685" cy="604903"/>
          </a:xfrm>
          <a:prstGeom prst="rect">
            <a:avLst/>
          </a:prstGeom>
          <a:solidFill>
            <a:srgbClr val="FFFFFF"/>
          </a:solidFill>
          <a:ln w="27940">
            <a:solidFill>
              <a:srgbClr val="071C58"/>
            </a:solidFill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7582598" y="3097396"/>
            <a:ext cx="2193685" cy="590327"/>
          </a:xfrm>
          <a:prstGeom prst="rect">
            <a:avLst/>
          </a:prstGeom>
          <a:solidFill>
            <a:srgbClr val="FFFFFF"/>
          </a:solidFill>
          <a:ln w="27940">
            <a:solidFill>
              <a:srgbClr val="071C58"/>
            </a:solidFill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4652825" y="4474827"/>
            <a:ext cx="4904818" cy="962015"/>
          </a:xfrm>
          <a:prstGeom prst="rect">
            <a:avLst/>
          </a:prstGeom>
          <a:solidFill>
            <a:srgbClr val="FFFFFF"/>
          </a:solidFill>
          <a:ln w="27940">
            <a:solidFill>
              <a:srgbClr val="071C58"/>
            </a:solidFill>
          </a:ln>
        </p:spPr>
        <p:txBody>
          <a:bodyPr/>
          <a:lstStyle/>
          <a:p/>
        </p:txBody>
      </p:sp>
      <p:sp>
        <p:nvSpPr>
          <p:cNvPr id="83" name="Rect 83"/>
          <p:cNvSpPr/>
          <p:nvPr/>
        </p:nvSpPr>
        <p:spPr>
          <a:xfrm>
            <a:off x="4652825" y="5786665"/>
            <a:ext cx="4569571" cy="918287"/>
          </a:xfrm>
          <a:prstGeom prst="rect">
            <a:avLst/>
          </a:prstGeom>
          <a:solidFill>
            <a:srgbClr val="FFFFFF"/>
          </a:solidFill>
          <a:ln w="25400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84" name="Line 84"/>
          <p:cNvSpPr/>
          <p:nvPr/>
        </p:nvSpPr>
        <p:spPr>
          <a:xfrm>
            <a:off x="207150" y="1982334"/>
            <a:ext cx="2456053" cy="0"/>
          </a:xfrm>
          <a:prstGeom prst="line">
            <a:avLst/>
          </a:prstGeom>
          <a:noFill/>
          <a:ln w="15875">
            <a:solidFill>
              <a:srgbClr val="428DD8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>
            <a:off x="207150" y="2470629"/>
            <a:ext cx="2456053" cy="0"/>
          </a:xfrm>
          <a:prstGeom prst="line">
            <a:avLst/>
          </a:prstGeom>
          <a:noFill/>
          <a:ln w="15875">
            <a:solidFill>
              <a:srgbClr val="428DD8"/>
            </a:solidFill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>
            <a:off x="207150" y="2980789"/>
            <a:ext cx="2456053" cy="0"/>
          </a:xfrm>
          <a:prstGeom prst="line">
            <a:avLst/>
          </a:prstGeom>
          <a:noFill/>
          <a:ln w="15875">
            <a:solidFill>
              <a:srgbClr val="428DD8"/>
            </a:solidFill>
          </a:ln>
        </p:spPr>
        <p:txBody>
          <a:bodyPr/>
          <a:lstStyle/>
          <a:p/>
        </p:txBody>
      </p:sp>
      <p:sp>
        <p:nvSpPr>
          <p:cNvPr id="87" name="Rect 87"/>
          <p:cNvSpPr/>
          <p:nvPr/>
        </p:nvSpPr>
        <p:spPr>
          <a:xfrm>
            <a:off x="360198" y="1494038"/>
            <a:ext cx="306096" cy="357112"/>
          </a:xfrm>
          <a:prstGeom prst="rect">
            <a:avLst/>
          </a:prstGeom>
          <a:solidFill>
            <a:srgbClr val="FFFFFF"/>
          </a:solidFill>
          <a:ln w="15875">
            <a:solidFill>
              <a:srgbClr val="428DD8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>
            <a:off x="3523187" y="1785558"/>
            <a:ext cx="2550797" cy="0"/>
          </a:xfrm>
          <a:prstGeom prst="line">
            <a:avLst/>
          </a:prstGeom>
          <a:noFill/>
          <a:ln w="15875">
            <a:solidFill>
              <a:srgbClr val="0750A9"/>
            </a:solidFill>
          </a:ln>
        </p:spPr>
        <p:txBody>
          <a:bodyPr/>
          <a:lstStyle/>
          <a:p/>
        </p:txBody>
      </p:sp>
      <p:sp>
        <p:nvSpPr>
          <p:cNvPr id="89" name="Rect 89"/>
          <p:cNvSpPr/>
          <p:nvPr/>
        </p:nvSpPr>
        <p:spPr>
          <a:xfrm>
            <a:off x="3676234" y="1340990"/>
            <a:ext cx="306096" cy="327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750A9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>
            <a:off x="3508611" y="3541964"/>
            <a:ext cx="2565373" cy="0"/>
          </a:xfrm>
          <a:prstGeom prst="line">
            <a:avLst/>
          </a:prstGeom>
          <a:noFill/>
          <a:ln w="15875">
            <a:solidFill>
              <a:srgbClr val="0750A9"/>
            </a:solidFill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3654370" y="3141124"/>
            <a:ext cx="298808" cy="306096"/>
          </a:xfrm>
          <a:prstGeom prst="rect">
            <a:avLst/>
          </a:prstGeom>
          <a:solidFill>
            <a:srgbClr val="FFFFFF"/>
          </a:solidFill>
          <a:ln w="15875">
            <a:solidFill>
              <a:srgbClr val="0750A9"/>
            </a:solidFill>
          </a:ln>
        </p:spPr>
        <p:txBody>
          <a:bodyPr/>
          <a:lstStyle/>
          <a:p/>
        </p:txBody>
      </p:sp>
      <p:sp>
        <p:nvSpPr>
          <p:cNvPr id="92" name="Rect 92"/>
          <p:cNvSpPr/>
          <p:nvPr/>
        </p:nvSpPr>
        <p:spPr>
          <a:xfrm>
            <a:off x="3902162" y="313384"/>
            <a:ext cx="306096" cy="320672"/>
          </a:xfrm>
          <a:prstGeom prst="rect">
            <a:avLst/>
          </a:prstGeom>
          <a:solidFill>
            <a:srgbClr val="FFFFFF"/>
          </a:solidFill>
          <a:ln w="15875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93" name="Rect 93"/>
          <p:cNvSpPr/>
          <p:nvPr/>
        </p:nvSpPr>
        <p:spPr>
          <a:xfrm>
            <a:off x="7728358" y="1034895"/>
            <a:ext cx="284232" cy="298808"/>
          </a:xfrm>
          <a:prstGeom prst="rect">
            <a:avLst/>
          </a:prstGeom>
          <a:solidFill>
            <a:srgbClr val="FFFFFF"/>
          </a:solidFill>
          <a:ln w="15875">
            <a:solidFill>
              <a:srgbClr val="071C58"/>
            </a:solidFill>
          </a:ln>
        </p:spPr>
        <p:txBody>
          <a:bodyPr/>
          <a:lstStyle/>
          <a:p/>
        </p:txBody>
      </p:sp>
      <p:sp>
        <p:nvSpPr>
          <p:cNvPr id="94" name="Rect 94"/>
          <p:cNvSpPr/>
          <p:nvPr/>
        </p:nvSpPr>
        <p:spPr>
          <a:xfrm>
            <a:off x="7728358" y="1763694"/>
            <a:ext cx="284232" cy="298808"/>
          </a:xfrm>
          <a:prstGeom prst="rect">
            <a:avLst/>
          </a:prstGeom>
          <a:solidFill>
            <a:srgbClr val="FFFFFF"/>
          </a:solidFill>
          <a:ln w="15875">
            <a:solidFill>
              <a:srgbClr val="071C58"/>
            </a:solidFill>
          </a:ln>
        </p:spPr>
        <p:txBody>
          <a:bodyPr/>
          <a:lstStyle/>
          <a:p/>
        </p:txBody>
      </p:sp>
      <p:sp>
        <p:nvSpPr>
          <p:cNvPr id="95" name="Rect 95"/>
          <p:cNvSpPr/>
          <p:nvPr/>
        </p:nvSpPr>
        <p:spPr>
          <a:xfrm>
            <a:off x="7728358" y="2507069"/>
            <a:ext cx="284232" cy="298808"/>
          </a:xfrm>
          <a:prstGeom prst="rect">
            <a:avLst/>
          </a:prstGeom>
          <a:solidFill>
            <a:srgbClr val="FFFFFF"/>
          </a:solidFill>
          <a:ln w="15875">
            <a:solidFill>
              <a:srgbClr val="071C58"/>
            </a:solidFill>
          </a:ln>
        </p:spPr>
        <p:txBody>
          <a:bodyPr/>
          <a:lstStyle/>
          <a:p/>
        </p:txBody>
      </p:sp>
      <p:sp>
        <p:nvSpPr>
          <p:cNvPr id="96" name="Rect 96"/>
          <p:cNvSpPr/>
          <p:nvPr/>
        </p:nvSpPr>
        <p:spPr>
          <a:xfrm>
            <a:off x="7728358" y="3243156"/>
            <a:ext cx="284232" cy="298808"/>
          </a:xfrm>
          <a:prstGeom prst="rect">
            <a:avLst/>
          </a:prstGeom>
          <a:solidFill>
            <a:srgbClr val="FFFFFF"/>
          </a:solidFill>
          <a:ln w="15875">
            <a:solidFill>
              <a:srgbClr val="071C58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>
            <a:off x="4769433" y="4992274"/>
            <a:ext cx="4649739" cy="0"/>
          </a:xfrm>
          <a:prstGeom prst="line">
            <a:avLst/>
          </a:prstGeom>
          <a:noFill/>
          <a:ln w="15875">
            <a:solidFill>
              <a:srgbClr val="071C58"/>
            </a:solidFill>
          </a:ln>
        </p:spPr>
        <p:txBody>
          <a:bodyPr/>
          <a:lstStyle/>
          <a:p/>
        </p:txBody>
      </p:sp>
      <p:sp>
        <p:nvSpPr>
          <p:cNvPr id="98" name="Rect 98"/>
          <p:cNvSpPr/>
          <p:nvPr/>
        </p:nvSpPr>
        <p:spPr>
          <a:xfrm>
            <a:off x="4871465" y="4584147"/>
            <a:ext cx="306096" cy="313384"/>
          </a:xfrm>
          <a:prstGeom prst="rect">
            <a:avLst/>
          </a:prstGeom>
          <a:solidFill>
            <a:srgbClr val="FFFFFF"/>
          </a:solidFill>
          <a:ln w="15875">
            <a:solidFill>
              <a:srgbClr val="071C58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>
            <a:off x="4769433" y="6282249"/>
            <a:ext cx="4343643" cy="0"/>
          </a:xfrm>
          <a:prstGeom prst="line">
            <a:avLst/>
          </a:prstGeom>
          <a:noFill/>
          <a:ln w="15875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4922481" y="5895985"/>
            <a:ext cx="298808" cy="313384"/>
          </a:xfrm>
          <a:prstGeom prst="rect">
            <a:avLst/>
          </a:prstGeom>
          <a:solidFill>
            <a:srgbClr val="FFFFFF"/>
          </a:solidFill>
          <a:ln w="15875">
            <a:solidFill>
              <a:srgbClr val="717171"/>
            </a:solidFill>
          </a:ln>
        </p:spPr>
        <p:txBody>
          <a:bodyPr/>
          <a:lstStyle/>
          <a:p/>
        </p:txBody>
      </p:sp>
      <p:sp>
        <p:nvSpPr>
          <p:cNvPr id="101" name="TextBox 101"/>
          <p:cNvSpPr txBox="1"/>
          <p:nvPr/>
        </p:nvSpPr>
        <p:spPr>
          <a:xfrm>
            <a:off x="4332154" y="269656"/>
            <a:ext cx="1304550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冻结主干</a:t>
            </a:r>
            <a:endParaRPr lang="zh-CN" sz="2250"/>
          </a:p>
        </p:txBody>
      </p:sp>
      <p:sp>
        <p:nvSpPr>
          <p:cNvPr id="102" name="TextBox 102"/>
          <p:cNvSpPr txBox="1"/>
          <p:nvPr/>
        </p:nvSpPr>
        <p:spPr>
          <a:xfrm>
            <a:off x="819342" y="1464886"/>
            <a:ext cx="1311838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任务证据</a:t>
            </a:r>
            <a:endParaRPr lang="zh-CN" sz="2250"/>
          </a:p>
        </p:txBody>
      </p:sp>
      <p:sp>
        <p:nvSpPr>
          <p:cNvPr id="103" name="TextBox 103"/>
          <p:cNvSpPr txBox="1"/>
          <p:nvPr/>
        </p:nvSpPr>
        <p:spPr>
          <a:xfrm>
            <a:off x="833918" y="2055214"/>
            <a:ext cx="1071335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请求语义</a:t>
            </a:r>
            <a:endParaRPr lang="zh-CN" sz="1750"/>
          </a:p>
        </p:txBody>
      </p:sp>
      <p:sp>
        <p:nvSpPr>
          <p:cNvPr id="104" name="TextBox 104"/>
          <p:cNvSpPr txBox="1"/>
          <p:nvPr/>
        </p:nvSpPr>
        <p:spPr>
          <a:xfrm>
            <a:off x="833918" y="2558085"/>
            <a:ext cx="1071335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工具集合</a:t>
            </a:r>
            <a:endParaRPr lang="zh-CN" sz="1750"/>
          </a:p>
        </p:txBody>
      </p:sp>
      <p:sp>
        <p:nvSpPr>
          <p:cNvPr id="105" name="TextBox 105"/>
          <p:cNvSpPr txBox="1"/>
          <p:nvPr/>
        </p:nvSpPr>
        <p:spPr>
          <a:xfrm>
            <a:off x="833918" y="3068244"/>
            <a:ext cx="1071335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既往失败</a:t>
            </a:r>
            <a:endParaRPr lang="zh-CN" sz="1750"/>
          </a:p>
        </p:txBody>
      </p:sp>
      <p:sp>
        <p:nvSpPr>
          <p:cNvPr id="106" name="TextBox 106"/>
          <p:cNvSpPr txBox="1"/>
          <p:nvPr/>
        </p:nvSpPr>
        <p:spPr>
          <a:xfrm>
            <a:off x="4244698" y="1304550"/>
            <a:ext cx="1297262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有限探测</a:t>
            </a:r>
            <a:endParaRPr lang="zh-CN" sz="2250"/>
          </a:p>
        </p:txBody>
      </p:sp>
      <p:sp>
        <p:nvSpPr>
          <p:cNvPr id="107" name="TextBox 107"/>
          <p:cNvSpPr txBox="1"/>
          <p:nvPr/>
        </p:nvSpPr>
        <p:spPr>
          <a:xfrm>
            <a:off x="4237410" y="1836574"/>
            <a:ext cx="1122351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候选层位</a:t>
            </a:r>
            <a:endParaRPr lang="zh-CN" sz="1750"/>
          </a:p>
        </p:txBody>
      </p:sp>
      <p:sp>
        <p:nvSpPr>
          <p:cNvPr id="108" name="TextBox 108"/>
          <p:cNvSpPr txBox="1"/>
          <p:nvPr/>
        </p:nvSpPr>
        <p:spPr>
          <a:xfrm>
            <a:off x="4018770" y="2179109"/>
            <a:ext cx="1552342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候选低秩容量</a:t>
            </a:r>
            <a:endParaRPr lang="zh-CN" sz="1750"/>
          </a:p>
        </p:txBody>
      </p:sp>
      <p:sp>
        <p:nvSpPr>
          <p:cNvPr id="109" name="TextBox 109"/>
          <p:cNvSpPr txBox="1"/>
          <p:nvPr/>
        </p:nvSpPr>
        <p:spPr>
          <a:xfrm>
            <a:off x="4135378" y="3090108"/>
            <a:ext cx="1530478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收益与干扰</a:t>
            </a:r>
            <a:endParaRPr lang="zh-CN" sz="2250"/>
          </a:p>
        </p:txBody>
      </p:sp>
      <p:sp>
        <p:nvSpPr>
          <p:cNvPr id="110" name="TextBox 110"/>
          <p:cNvSpPr txBox="1"/>
          <p:nvPr/>
        </p:nvSpPr>
        <p:spPr>
          <a:xfrm>
            <a:off x="4142666" y="3578404"/>
            <a:ext cx="1304550" cy="335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新任务增益</a:t>
            </a:r>
            <a:endParaRPr lang="zh-CN" sz="1750"/>
          </a:p>
        </p:txBody>
      </p:sp>
      <p:sp>
        <p:nvSpPr>
          <p:cNvPr id="111" name="TextBox 111"/>
          <p:cNvSpPr txBox="1"/>
          <p:nvPr/>
        </p:nvSpPr>
        <p:spPr>
          <a:xfrm>
            <a:off x="3909450" y="3906363"/>
            <a:ext cx="1756406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历史开发集损失</a:t>
            </a:r>
            <a:endParaRPr lang="zh-CN" sz="1750"/>
          </a:p>
        </p:txBody>
      </p:sp>
      <p:sp>
        <p:nvSpPr>
          <p:cNvPr id="112" name="TextBox 112"/>
          <p:cNvSpPr txBox="1"/>
          <p:nvPr/>
        </p:nvSpPr>
        <p:spPr>
          <a:xfrm>
            <a:off x="8369701" y="983879"/>
            <a:ext cx="714223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复用</a:t>
            </a:r>
            <a:endParaRPr lang="zh-CN" sz="2250"/>
          </a:p>
        </p:txBody>
      </p:sp>
      <p:sp>
        <p:nvSpPr>
          <p:cNvPr id="113" name="TextBox 113"/>
          <p:cNvSpPr txBox="1"/>
          <p:nvPr/>
        </p:nvSpPr>
        <p:spPr>
          <a:xfrm>
            <a:off x="8369701" y="1705390"/>
            <a:ext cx="714223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更新</a:t>
            </a:r>
            <a:endParaRPr lang="zh-CN" sz="2250"/>
          </a:p>
        </p:txBody>
      </p:sp>
      <p:sp>
        <p:nvSpPr>
          <p:cNvPr id="114" name="TextBox 114"/>
          <p:cNvSpPr txBox="1"/>
          <p:nvPr/>
        </p:nvSpPr>
        <p:spPr>
          <a:xfrm>
            <a:off x="8369701" y="2456053"/>
            <a:ext cx="714223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冻结</a:t>
            </a:r>
            <a:endParaRPr lang="zh-CN" sz="2250"/>
          </a:p>
        </p:txBody>
      </p:sp>
      <p:sp>
        <p:nvSpPr>
          <p:cNvPr id="115" name="TextBox 115"/>
          <p:cNvSpPr txBox="1"/>
          <p:nvPr/>
        </p:nvSpPr>
        <p:spPr>
          <a:xfrm>
            <a:off x="8369701" y="3184852"/>
            <a:ext cx="714223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替换</a:t>
            </a:r>
            <a:endParaRPr lang="zh-CN" sz="2250"/>
          </a:p>
        </p:txBody>
      </p:sp>
      <p:sp>
        <p:nvSpPr>
          <p:cNvPr id="116" name="TextBox 116"/>
          <p:cNvSpPr txBox="1"/>
          <p:nvPr/>
        </p:nvSpPr>
        <p:spPr>
          <a:xfrm>
            <a:off x="6321775" y="4533131"/>
            <a:ext cx="1319126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当前策略</a:t>
            </a:r>
            <a:endParaRPr lang="zh-CN" sz="2250"/>
          </a:p>
        </p:txBody>
      </p:sp>
      <p:sp>
        <p:nvSpPr>
          <p:cNvPr id="117" name="TextBox 117"/>
          <p:cNvSpPr txBox="1"/>
          <p:nvPr/>
        </p:nvSpPr>
        <p:spPr>
          <a:xfrm>
            <a:off x="5702296" y="5036002"/>
            <a:ext cx="2528933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版本｜容量｜实际成本</a:t>
            </a:r>
            <a:endParaRPr lang="zh-CN" sz="1750"/>
          </a:p>
        </p:txBody>
      </p:sp>
      <p:sp>
        <p:nvSpPr>
          <p:cNvPr id="118" name="TextBox 118"/>
          <p:cNvSpPr txBox="1"/>
          <p:nvPr/>
        </p:nvSpPr>
        <p:spPr>
          <a:xfrm>
            <a:off x="5891784" y="5837681"/>
            <a:ext cx="1960470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总预算内选择</a:t>
            </a:r>
            <a:endParaRPr lang="zh-CN" sz="2250"/>
          </a:p>
        </p:txBody>
      </p:sp>
      <p:sp>
        <p:nvSpPr>
          <p:cNvPr id="119" name="TextBox 119"/>
          <p:cNvSpPr txBox="1"/>
          <p:nvPr/>
        </p:nvSpPr>
        <p:spPr>
          <a:xfrm>
            <a:off x="6044832" y="6311401"/>
            <a:ext cx="1617934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探测成本计入</a:t>
            </a:r>
            <a:endParaRPr lang="zh-CN" sz="1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331046" y="1924030"/>
            <a:ext cx="2113518" cy="1698102"/>
          </a:xfrm>
          <a:prstGeom prst="roundRect">
            <a:avLst>
              <a:gd name="adj" fmla="val 2361"/>
            </a:avLst>
          </a:prstGeom>
          <a:solidFill>
            <a:srgbClr val="FFFFFF"/>
          </a:solidFill>
          <a:ln w="33020">
            <a:solidFill>
              <a:srgbClr val="55A0D7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1256621" y="2069790"/>
            <a:ext cx="298808" cy="298808"/>
          </a:xfrm>
          <a:prstGeom prst="rect">
            <a:avLst/>
          </a:prstGeom>
          <a:solidFill>
            <a:srgbClr val="FFFFFF"/>
          </a:solidFill>
          <a:ln w="17780">
            <a:solidFill>
              <a:srgbClr val="55A0D7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3122347" y="1115063"/>
            <a:ext cx="1858438" cy="3111972"/>
          </a:xfrm>
          <a:prstGeom prst="roundRect">
            <a:avLst>
              <a:gd name="adj" fmla="val 2157"/>
            </a:avLst>
          </a:prstGeom>
          <a:solidFill>
            <a:srgbClr val="FFFFFF"/>
          </a:solidFill>
          <a:ln w="33020">
            <a:solidFill>
              <a:srgbClr val="1261A5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3894874" y="1238959"/>
            <a:ext cx="298808" cy="306096"/>
          </a:xfrm>
          <a:prstGeom prst="rect">
            <a:avLst/>
          </a:prstGeom>
          <a:solidFill>
            <a:srgbClr val="FFFFFF"/>
          </a:solidFill>
          <a:ln w="17780">
            <a:solidFill>
              <a:srgbClr val="1261A5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5658568" y="1938606"/>
            <a:ext cx="1996910" cy="1683526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33020">
            <a:solidFill>
              <a:srgbClr val="1261A5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6511263" y="2084366"/>
            <a:ext cx="291520" cy="298808"/>
          </a:xfrm>
          <a:prstGeom prst="rect">
            <a:avLst/>
          </a:prstGeom>
          <a:solidFill>
            <a:srgbClr val="FFFFFF"/>
          </a:solidFill>
          <a:ln w="17780">
            <a:solidFill>
              <a:srgbClr val="1261A5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398853" y="1938606"/>
            <a:ext cx="2026062" cy="1683526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33020">
            <a:solidFill>
              <a:srgbClr val="1261A5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9266124" y="2077078"/>
            <a:ext cx="291520" cy="306096"/>
          </a:xfrm>
          <a:prstGeom prst="rect">
            <a:avLst/>
          </a:prstGeom>
          <a:solidFill>
            <a:srgbClr val="FFFFFF"/>
          </a:solidFill>
          <a:ln w="17780">
            <a:solidFill>
              <a:srgbClr val="1261A5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8391565" y="240504"/>
            <a:ext cx="2047926" cy="1136927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33020">
            <a:solidFill>
              <a:srgbClr val="55A0D7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9266124" y="364400"/>
            <a:ext cx="291520" cy="291520"/>
          </a:xfrm>
          <a:prstGeom prst="rect">
            <a:avLst/>
          </a:prstGeom>
          <a:solidFill>
            <a:srgbClr val="FFFFFF"/>
          </a:solidFill>
          <a:ln w="17780">
            <a:solidFill>
              <a:srgbClr val="55A0D7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4776721" y="4875666"/>
            <a:ext cx="1858438" cy="1566918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33020">
            <a:solidFill>
              <a:srgbClr val="0B2857"/>
            </a:solidFill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5549248" y="4992274"/>
            <a:ext cx="291520" cy="291520"/>
          </a:xfrm>
          <a:prstGeom prst="rect">
            <a:avLst/>
          </a:prstGeom>
          <a:solidFill>
            <a:srgbClr val="FFFFFF"/>
          </a:solidFill>
          <a:ln w="17780">
            <a:solidFill>
              <a:srgbClr val="0B2857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7050574" y="4875666"/>
            <a:ext cx="1938606" cy="1566918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33020">
            <a:solidFill>
              <a:srgbClr val="0B2857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7881406" y="4992274"/>
            <a:ext cx="284232" cy="291520"/>
          </a:xfrm>
          <a:prstGeom prst="rect">
            <a:avLst/>
          </a:prstGeom>
          <a:solidFill>
            <a:srgbClr val="FFFFFF"/>
          </a:solidFill>
          <a:ln w="17780">
            <a:solidFill>
              <a:srgbClr val="0B2857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9703403" y="4875666"/>
            <a:ext cx="2091654" cy="1566918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33020">
            <a:solidFill>
              <a:srgbClr val="0B2857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10599826" y="4992274"/>
            <a:ext cx="291520" cy="291520"/>
          </a:xfrm>
          <a:prstGeom prst="rect">
            <a:avLst/>
          </a:prstGeom>
          <a:solidFill>
            <a:srgbClr val="FFFFFF"/>
          </a:solidFill>
          <a:ln w="17780">
            <a:solidFill>
              <a:srgbClr val="0B2857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3195227" y="2193685"/>
            <a:ext cx="1705390" cy="1938606"/>
          </a:xfrm>
          <a:prstGeom prst="rect">
            <a:avLst/>
          </a:prstGeom>
          <a:solidFill>
            <a:srgbClr val="FFFFFF"/>
          </a:solidFill>
          <a:ln w="12700">
            <a:solidFill>
              <a:srgbClr val="1261A5"/>
            </a:solidFill>
          </a:ln>
        </p:spPr>
        <p:txBody>
          <a:bodyPr/>
          <a:lstStyle/>
          <a:p/>
        </p:txBody>
      </p:sp>
      <p:sp>
        <p:nvSpPr>
          <p:cNvPr id="19" name="Freeform 19"/>
          <p:cNvSpPr/>
          <p:nvPr/>
        </p:nvSpPr>
        <p:spPr>
          <a:xfrm>
            <a:off x="2488292" y="2671049"/>
            <a:ext cx="561175" cy="1676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640"/>
                </a:moveTo>
                <a:lnTo>
                  <a:pt x="16270" y="8640"/>
                </a:lnTo>
                <a:lnTo>
                  <a:pt x="15709" y="0"/>
                </a:lnTo>
                <a:lnTo>
                  <a:pt x="21600" y="10800"/>
                </a:lnTo>
                <a:lnTo>
                  <a:pt x="15709" y="21600"/>
                </a:lnTo>
                <a:lnTo>
                  <a:pt x="16270" y="12960"/>
                </a:lnTo>
                <a:lnTo>
                  <a:pt x="0" y="12960"/>
                </a:ln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Freeform 20"/>
          <p:cNvSpPr/>
          <p:nvPr/>
        </p:nvSpPr>
        <p:spPr>
          <a:xfrm>
            <a:off x="5024513" y="2671049"/>
            <a:ext cx="553887" cy="1676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640"/>
                </a:moveTo>
                <a:lnTo>
                  <a:pt x="16200" y="8640"/>
                </a:lnTo>
                <a:lnTo>
                  <a:pt x="15632" y="0"/>
                </a:lnTo>
                <a:lnTo>
                  <a:pt x="21600" y="10800"/>
                </a:lnTo>
                <a:lnTo>
                  <a:pt x="15632" y="21600"/>
                </a:lnTo>
                <a:lnTo>
                  <a:pt x="16200" y="12960"/>
                </a:lnTo>
                <a:lnTo>
                  <a:pt x="0" y="12960"/>
                </a:ln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reeform 21"/>
          <p:cNvSpPr/>
          <p:nvPr/>
        </p:nvSpPr>
        <p:spPr>
          <a:xfrm>
            <a:off x="7691918" y="2671049"/>
            <a:ext cx="648631" cy="1676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640"/>
                </a:moveTo>
                <a:lnTo>
                  <a:pt x="16989" y="8640"/>
                </a:lnTo>
                <a:lnTo>
                  <a:pt x="16503" y="0"/>
                </a:lnTo>
                <a:lnTo>
                  <a:pt x="21600" y="10800"/>
                </a:lnTo>
                <a:lnTo>
                  <a:pt x="16503" y="21600"/>
                </a:lnTo>
                <a:lnTo>
                  <a:pt x="16989" y="12960"/>
                </a:lnTo>
                <a:lnTo>
                  <a:pt x="0" y="12960"/>
                </a:ln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Freeform 22"/>
          <p:cNvSpPr/>
          <p:nvPr/>
        </p:nvSpPr>
        <p:spPr>
          <a:xfrm>
            <a:off x="9328072" y="1421158"/>
            <a:ext cx="167624" cy="46643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640" y="0"/>
                </a:moveTo>
                <a:lnTo>
                  <a:pt x="12960" y="0"/>
                </a:lnTo>
                <a:lnTo>
                  <a:pt x="12960" y="15188"/>
                </a:lnTo>
                <a:lnTo>
                  <a:pt x="21600" y="14512"/>
                </a:lnTo>
                <a:lnTo>
                  <a:pt x="10800" y="21600"/>
                </a:lnTo>
                <a:lnTo>
                  <a:pt x="0" y="14512"/>
                </a:lnTo>
                <a:lnTo>
                  <a:pt x="8640" y="15188"/>
                </a:ln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Freeform 23"/>
          <p:cNvSpPr/>
          <p:nvPr/>
        </p:nvSpPr>
        <p:spPr>
          <a:xfrm>
            <a:off x="5851700" y="3665860"/>
            <a:ext cx="167624" cy="11660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640" y="0"/>
                </a:moveTo>
                <a:lnTo>
                  <a:pt x="12960" y="0"/>
                </a:lnTo>
                <a:lnTo>
                  <a:pt x="12960" y="19035"/>
                </a:lnTo>
                <a:lnTo>
                  <a:pt x="21600" y="18765"/>
                </a:lnTo>
                <a:lnTo>
                  <a:pt x="10800" y="21600"/>
                </a:lnTo>
                <a:lnTo>
                  <a:pt x="0" y="18765"/>
                </a:lnTo>
                <a:lnTo>
                  <a:pt x="8640" y="19035"/>
                </a:ln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9411884" y="3665860"/>
            <a:ext cx="0" cy="604903"/>
          </a:xfrm>
          <a:prstGeom prst="line">
            <a:avLst/>
          </a:prstGeom>
          <a:noFill/>
          <a:ln w="33020">
            <a:solidFill>
              <a:srgbClr val="484848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8049029" y="4270763"/>
            <a:ext cx="2740285" cy="0"/>
          </a:xfrm>
          <a:prstGeom prst="line">
            <a:avLst/>
          </a:prstGeom>
          <a:noFill/>
          <a:ln w="33020">
            <a:solidFill>
              <a:srgbClr val="484848"/>
            </a:solidFill>
          </a:ln>
        </p:spPr>
        <p:txBody>
          <a:bodyPr/>
          <a:lstStyle/>
          <a:p/>
        </p:txBody>
      </p:sp>
      <p:sp>
        <p:nvSpPr>
          <p:cNvPr id="26" name="Freeform 26"/>
          <p:cNvSpPr/>
          <p:nvPr/>
        </p:nvSpPr>
        <p:spPr>
          <a:xfrm>
            <a:off x="7965217" y="4270763"/>
            <a:ext cx="167624" cy="5611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640" y="0"/>
                </a:moveTo>
                <a:lnTo>
                  <a:pt x="12960" y="0"/>
                </a:lnTo>
                <a:lnTo>
                  <a:pt x="12960" y="16270"/>
                </a:lnTo>
                <a:lnTo>
                  <a:pt x="21600" y="15709"/>
                </a:lnTo>
                <a:lnTo>
                  <a:pt x="10800" y="21600"/>
                </a:lnTo>
                <a:lnTo>
                  <a:pt x="0" y="15709"/>
                </a:lnTo>
                <a:lnTo>
                  <a:pt x="8640" y="16270"/>
                </a:ln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Freeform 27"/>
          <p:cNvSpPr/>
          <p:nvPr/>
        </p:nvSpPr>
        <p:spPr>
          <a:xfrm>
            <a:off x="10705502" y="4270763"/>
            <a:ext cx="167624" cy="5611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640" y="0"/>
                </a:moveTo>
                <a:lnTo>
                  <a:pt x="12960" y="0"/>
                </a:lnTo>
                <a:lnTo>
                  <a:pt x="12960" y="16270"/>
                </a:lnTo>
                <a:lnTo>
                  <a:pt x="21600" y="15709"/>
                </a:lnTo>
                <a:lnTo>
                  <a:pt x="10800" y="21600"/>
                </a:lnTo>
                <a:lnTo>
                  <a:pt x="0" y="15709"/>
                </a:lnTo>
                <a:lnTo>
                  <a:pt x="8640" y="16270"/>
                </a:ln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425790" y="2477917"/>
            <a:ext cx="1938606" cy="0"/>
          </a:xfrm>
          <a:prstGeom prst="line">
            <a:avLst/>
          </a:prstGeom>
          <a:noFill/>
          <a:ln w="21590">
            <a:solidFill>
              <a:srgbClr val="55A0D7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3202515" y="1639798"/>
            <a:ext cx="1690814" cy="0"/>
          </a:xfrm>
          <a:prstGeom prst="line">
            <a:avLst/>
          </a:prstGeom>
          <a:noFill/>
          <a:ln w="21590">
            <a:solidFill>
              <a:srgbClr val="1261A5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5738736" y="2485205"/>
            <a:ext cx="1829286" cy="0"/>
          </a:xfrm>
          <a:prstGeom prst="line">
            <a:avLst/>
          </a:prstGeom>
          <a:noFill/>
          <a:ln w="21590">
            <a:solidFill>
              <a:srgbClr val="1261A5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8493597" y="2477917"/>
            <a:ext cx="1843862" cy="0"/>
          </a:xfrm>
          <a:prstGeom prst="line">
            <a:avLst/>
          </a:prstGeom>
          <a:noFill/>
          <a:ln w="21590">
            <a:solidFill>
              <a:srgbClr val="1261A5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8471733" y="736087"/>
            <a:ext cx="1880302" cy="0"/>
          </a:xfrm>
          <a:prstGeom prst="line">
            <a:avLst/>
          </a:prstGeom>
          <a:noFill/>
          <a:ln w="21590">
            <a:solidFill>
              <a:srgbClr val="55A0D7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4864177" y="5378538"/>
            <a:ext cx="1683526" cy="0"/>
          </a:xfrm>
          <a:prstGeom prst="line">
            <a:avLst/>
          </a:prstGeom>
          <a:noFill/>
          <a:ln w="21590">
            <a:solidFill>
              <a:srgbClr val="0B2857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7138030" y="5378538"/>
            <a:ext cx="1763694" cy="0"/>
          </a:xfrm>
          <a:prstGeom prst="line">
            <a:avLst/>
          </a:prstGeom>
          <a:noFill/>
          <a:ln w="21590">
            <a:solidFill>
              <a:srgbClr val="0B2857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9783571" y="5378538"/>
            <a:ext cx="1931318" cy="0"/>
          </a:xfrm>
          <a:prstGeom prst="line">
            <a:avLst/>
          </a:prstGeom>
          <a:noFill/>
          <a:ln w="21590">
            <a:solidFill>
              <a:srgbClr val="0B2857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3195227" y="2674693"/>
            <a:ext cx="1705390" cy="0"/>
          </a:xfrm>
          <a:prstGeom prst="line">
            <a:avLst/>
          </a:prstGeom>
          <a:noFill/>
          <a:ln w="12700">
            <a:solidFill>
              <a:srgbClr val="1261A5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3195227" y="3162988"/>
            <a:ext cx="1705390" cy="0"/>
          </a:xfrm>
          <a:prstGeom prst="line">
            <a:avLst/>
          </a:prstGeom>
          <a:noFill/>
          <a:ln w="12700">
            <a:solidFill>
              <a:srgbClr val="1261A5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3195227" y="3643996"/>
            <a:ext cx="1705390" cy="0"/>
          </a:xfrm>
          <a:prstGeom prst="line">
            <a:avLst/>
          </a:prstGeom>
          <a:noFill/>
          <a:ln w="12700">
            <a:solidFill>
              <a:srgbClr val="1261A5"/>
            </a:solidFill>
          </a:ln>
        </p:spPr>
        <p:txBody>
          <a:bodyPr/>
          <a:lstStyle/>
          <a:p/>
        </p:txBody>
      </p:sp>
      <p:sp>
        <p:nvSpPr>
          <p:cNvPr id="39" name="TextBox 39"/>
          <p:cNvSpPr txBox="1"/>
          <p:nvPr/>
        </p:nvSpPr>
        <p:spPr>
          <a:xfrm>
            <a:off x="775614" y="2594525"/>
            <a:ext cx="1231671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候选轨迹</a:t>
            </a:r>
            <a:endParaRPr lang="zh-CN" sz="2100"/>
          </a:p>
        </p:txBody>
      </p:sp>
      <p:sp>
        <p:nvSpPr>
          <p:cNvPr id="40" name="TextBox 40"/>
          <p:cNvSpPr txBox="1"/>
          <p:nvPr/>
        </p:nvSpPr>
        <p:spPr>
          <a:xfrm>
            <a:off x="425790" y="3104684"/>
            <a:ext cx="1916742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当前策略｜工具版本</a:t>
            </a:r>
            <a:endParaRPr lang="zh-CN" sz="1650"/>
          </a:p>
        </p:txBody>
      </p:sp>
      <p:sp>
        <p:nvSpPr>
          <p:cNvPr id="41" name="TextBox 41"/>
          <p:cNvSpPr txBox="1"/>
          <p:nvPr/>
        </p:nvSpPr>
        <p:spPr>
          <a:xfrm>
            <a:off x="3428443" y="1705390"/>
            <a:ext cx="1238959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证据核验</a:t>
            </a:r>
            <a:endParaRPr lang="zh-CN" sz="2100"/>
          </a:p>
        </p:txBody>
      </p:sp>
      <p:sp>
        <p:nvSpPr>
          <p:cNvPr id="42" name="TextBox 42"/>
          <p:cNvSpPr txBox="1"/>
          <p:nvPr/>
        </p:nvSpPr>
        <p:spPr>
          <a:xfrm>
            <a:off x="3566915" y="2273853"/>
            <a:ext cx="954727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执行状态</a:t>
            </a:r>
            <a:endParaRPr lang="zh-CN" sz="1650"/>
          </a:p>
        </p:txBody>
      </p:sp>
      <p:sp>
        <p:nvSpPr>
          <p:cNvPr id="43" name="TextBox 43"/>
          <p:cNvSpPr txBox="1"/>
          <p:nvPr/>
        </p:nvSpPr>
        <p:spPr>
          <a:xfrm>
            <a:off x="3668946" y="2754861"/>
            <a:ext cx="750663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验证器</a:t>
            </a:r>
            <a:endParaRPr lang="zh-CN" sz="1650"/>
          </a:p>
        </p:txBody>
      </p:sp>
      <p:sp>
        <p:nvSpPr>
          <p:cNvPr id="44" name="TextBox 44"/>
          <p:cNvSpPr txBox="1"/>
          <p:nvPr/>
        </p:nvSpPr>
        <p:spPr>
          <a:xfrm>
            <a:off x="3457595" y="3243156"/>
            <a:ext cx="1173367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轨迹一致性</a:t>
            </a:r>
            <a:endParaRPr lang="zh-CN" sz="1650"/>
          </a:p>
        </p:txBody>
      </p:sp>
      <p:sp>
        <p:nvSpPr>
          <p:cNvPr id="45" name="TextBox 45"/>
          <p:cNvSpPr txBox="1"/>
          <p:nvPr/>
        </p:nvSpPr>
        <p:spPr>
          <a:xfrm>
            <a:off x="3566915" y="3731452"/>
            <a:ext cx="954727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不确定性</a:t>
            </a:r>
            <a:endParaRPr lang="zh-CN" sz="1650"/>
          </a:p>
        </p:txBody>
      </p:sp>
      <p:sp>
        <p:nvSpPr>
          <p:cNvPr id="46" name="TextBox 46"/>
          <p:cNvSpPr txBox="1"/>
          <p:nvPr/>
        </p:nvSpPr>
        <p:spPr>
          <a:xfrm>
            <a:off x="5891784" y="2587237"/>
            <a:ext cx="1515902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正确性判定</a:t>
            </a:r>
            <a:endParaRPr lang="zh-CN" sz="2100"/>
          </a:p>
        </p:txBody>
      </p:sp>
      <p:sp>
        <p:nvSpPr>
          <p:cNvPr id="47" name="TextBox 47"/>
          <p:cNvSpPr txBox="1"/>
          <p:nvPr/>
        </p:nvSpPr>
        <p:spPr>
          <a:xfrm>
            <a:off x="6183303" y="3111972"/>
            <a:ext cx="925575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独立标签</a:t>
            </a:r>
            <a:endParaRPr lang="zh-CN" sz="1650"/>
          </a:p>
        </p:txBody>
      </p:sp>
      <p:sp>
        <p:nvSpPr>
          <p:cNvPr id="48" name="TextBox 48"/>
          <p:cNvSpPr txBox="1"/>
          <p:nvPr/>
        </p:nvSpPr>
        <p:spPr>
          <a:xfrm>
            <a:off x="5075529" y="5465994"/>
            <a:ext cx="1231671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未知轨迹</a:t>
            </a:r>
            <a:endParaRPr lang="zh-CN" sz="2100"/>
          </a:p>
        </p:txBody>
      </p:sp>
      <p:sp>
        <p:nvSpPr>
          <p:cNvPr id="49" name="TextBox 49"/>
          <p:cNvSpPr txBox="1"/>
          <p:nvPr/>
        </p:nvSpPr>
        <p:spPr>
          <a:xfrm>
            <a:off x="5228577" y="5968865"/>
            <a:ext cx="918287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保留待审</a:t>
            </a:r>
            <a:endParaRPr lang="zh-CN" sz="1650"/>
          </a:p>
        </p:txBody>
      </p:sp>
      <p:sp>
        <p:nvSpPr>
          <p:cNvPr id="50" name="TextBox 50"/>
          <p:cNvSpPr txBox="1"/>
          <p:nvPr/>
        </p:nvSpPr>
        <p:spPr>
          <a:xfrm>
            <a:off x="8792404" y="2587237"/>
            <a:ext cx="1224383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训练效用</a:t>
            </a:r>
            <a:endParaRPr lang="zh-CN" sz="2100"/>
          </a:p>
        </p:txBody>
      </p:sp>
      <p:sp>
        <p:nvSpPr>
          <p:cNvPr id="51" name="TextBox 51"/>
          <p:cNvSpPr txBox="1"/>
          <p:nvPr/>
        </p:nvSpPr>
        <p:spPr>
          <a:xfrm>
            <a:off x="8726813" y="3111972"/>
            <a:ext cx="1362854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配对探测增益</a:t>
            </a:r>
            <a:endParaRPr lang="zh-CN" sz="1650"/>
          </a:p>
        </p:txBody>
      </p:sp>
      <p:sp>
        <p:nvSpPr>
          <p:cNvPr id="52" name="TextBox 52"/>
          <p:cNvSpPr txBox="1"/>
          <p:nvPr/>
        </p:nvSpPr>
        <p:spPr>
          <a:xfrm>
            <a:off x="8675797" y="852695"/>
            <a:ext cx="1464886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独立开发集</a:t>
            </a:r>
            <a:endParaRPr lang="zh-CN" sz="2100"/>
          </a:p>
        </p:txBody>
      </p:sp>
      <p:sp>
        <p:nvSpPr>
          <p:cNvPr id="53" name="TextBox 53"/>
          <p:cNvSpPr txBox="1"/>
          <p:nvPr/>
        </p:nvSpPr>
        <p:spPr>
          <a:xfrm>
            <a:off x="7269214" y="5465994"/>
            <a:ext cx="1501326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监督训练池</a:t>
            </a:r>
            <a:endParaRPr lang="zh-CN" sz="2100"/>
          </a:p>
        </p:txBody>
      </p:sp>
      <p:sp>
        <p:nvSpPr>
          <p:cNvPr id="54" name="TextBox 54"/>
          <p:cNvSpPr txBox="1"/>
          <p:nvPr/>
        </p:nvSpPr>
        <p:spPr>
          <a:xfrm>
            <a:off x="7342094" y="5968865"/>
            <a:ext cx="1333702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有界样本权重</a:t>
            </a:r>
            <a:endParaRPr lang="zh-CN" sz="1650"/>
          </a:p>
        </p:txBody>
      </p:sp>
      <p:sp>
        <p:nvSpPr>
          <p:cNvPr id="55" name="TextBox 55"/>
          <p:cNvSpPr txBox="1"/>
          <p:nvPr/>
        </p:nvSpPr>
        <p:spPr>
          <a:xfrm>
            <a:off x="9878315" y="5465994"/>
            <a:ext cx="1756406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同任务偏好对</a:t>
            </a:r>
            <a:endParaRPr lang="zh-CN" sz="2100"/>
          </a:p>
        </p:txBody>
      </p:sp>
      <p:sp>
        <p:nvSpPr>
          <p:cNvPr id="56" name="TextBox 56"/>
          <p:cNvSpPr txBox="1"/>
          <p:nvPr/>
        </p:nvSpPr>
        <p:spPr>
          <a:xfrm>
            <a:off x="10067803" y="5968865"/>
            <a:ext cx="1340990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独立优劣证据</a:t>
            </a:r>
            <a:endParaRPr lang="zh-CN" sz="16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3961767" y="1665444"/>
            <a:ext cx="1104449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3" name="Polygon 3"/>
          <p:cNvSpPr/>
          <p:nvPr/>
        </p:nvSpPr>
        <p:spPr>
          <a:xfrm>
            <a:off x="4945083" y="1597752"/>
            <a:ext cx="121133" cy="1353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3961767" y="3339932"/>
            <a:ext cx="1104449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5" name="Polygon 5"/>
          <p:cNvSpPr/>
          <p:nvPr/>
        </p:nvSpPr>
        <p:spPr>
          <a:xfrm>
            <a:off x="4945083" y="3272239"/>
            <a:ext cx="121133" cy="1353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6847586" y="910143"/>
            <a:ext cx="0" cy="413278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7" name="Polygon 7"/>
          <p:cNvSpPr/>
          <p:nvPr/>
        </p:nvSpPr>
        <p:spPr>
          <a:xfrm>
            <a:off x="6779894" y="1202288"/>
            <a:ext cx="135384" cy="12113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6847586" y="3603574"/>
            <a:ext cx="0" cy="484533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9" name="Polygon 9"/>
          <p:cNvSpPr/>
          <p:nvPr/>
        </p:nvSpPr>
        <p:spPr>
          <a:xfrm>
            <a:off x="6779894" y="3966974"/>
            <a:ext cx="135384" cy="12113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8500697" y="2470623"/>
            <a:ext cx="954814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11" name="Polygon 11"/>
          <p:cNvSpPr/>
          <p:nvPr/>
        </p:nvSpPr>
        <p:spPr>
          <a:xfrm>
            <a:off x="9334378" y="2402931"/>
            <a:ext cx="121133" cy="1353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6847586" y="5199682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6847586" y="5342191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 flipH="1">
            <a:off x="6769205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 flipH="1">
            <a:off x="6626696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 flipH="1">
            <a:off x="6484186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 flipH="1">
            <a:off x="6341677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 flipH="1">
            <a:off x="6199167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 flipH="1">
            <a:off x="6056657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 flipH="1">
            <a:off x="5914148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 flipH="1">
            <a:off x="5771638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 flipH="1">
            <a:off x="5629129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 flipH="1">
            <a:off x="5486619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 flipH="1">
            <a:off x="5344110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 flipH="1">
            <a:off x="5201600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 flipH="1">
            <a:off x="5059090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 flipH="1">
            <a:off x="4916581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 flipH="1">
            <a:off x="4774071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 flipH="1">
            <a:off x="4631562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 flipH="1">
            <a:off x="4489052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 flipH="1">
            <a:off x="4346542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 flipH="1">
            <a:off x="4204033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 flipH="1">
            <a:off x="4061523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 flipH="1">
            <a:off x="3919014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 flipH="1">
            <a:off x="3776504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 flipH="1">
            <a:off x="3633994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 flipH="1">
            <a:off x="3491485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 flipH="1">
            <a:off x="3348975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 flipH="1">
            <a:off x="3206466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 flipH="1">
            <a:off x="3063956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 flipH="1">
            <a:off x="2921447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 flipH="1">
            <a:off x="2778937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 flipH="1">
            <a:off x="2636427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 flipH="1">
            <a:off x="2493918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 flipH="1">
            <a:off x="2351408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 flipH="1">
            <a:off x="2208899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 flipH="1">
            <a:off x="2066389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 flipH="1">
            <a:off x="1923879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 flipH="1">
            <a:off x="1781370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 flipH="1">
            <a:off x="1638860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 flipH="1">
            <a:off x="1496351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 flipH="1">
            <a:off x="1353841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 flipH="1">
            <a:off x="1211331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 flipH="1">
            <a:off x="1068822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 flipH="1">
            <a:off x="926312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 flipH="1">
            <a:off x="783803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 flipH="1">
            <a:off x="641293" y="5456199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 flipV="1">
            <a:off x="605666" y="5377819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 flipV="1">
            <a:off x="605666" y="5235309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 flipV="1">
            <a:off x="605666" y="5092799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 flipV="1">
            <a:off x="605666" y="4950290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 flipV="1">
            <a:off x="605666" y="4807780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 flipV="1">
            <a:off x="605666" y="4665271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 flipV="1">
            <a:off x="605666" y="4522761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 flipV="1">
            <a:off x="605666" y="4380251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 flipV="1">
            <a:off x="605666" y="4237742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 flipV="1">
            <a:off x="605666" y="4095232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 flipV="1">
            <a:off x="605666" y="3952723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 flipV="1">
            <a:off x="605666" y="3810213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 flipV="1">
            <a:off x="605666" y="3667704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 flipV="1">
            <a:off x="605666" y="3525194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 flipV="1">
            <a:off x="605666" y="3382684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 flipV="1">
            <a:off x="605666" y="3240175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 flipV="1">
            <a:off x="605666" y="3097665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 flipV="1">
            <a:off x="605666" y="2955156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 flipV="1">
            <a:off x="605666" y="2812646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 flipV="1">
            <a:off x="605666" y="2670136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 flipV="1">
            <a:off x="605666" y="2527627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 flipV="1">
            <a:off x="605666" y="2385117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 flipV="1">
            <a:off x="605666" y="2242608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 flipV="1">
            <a:off x="605666" y="2100098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82" name="Line 82"/>
          <p:cNvSpPr/>
          <p:nvPr/>
        </p:nvSpPr>
        <p:spPr>
          <a:xfrm flipV="1">
            <a:off x="605666" y="1957589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 flipV="1">
            <a:off x="605666" y="1815079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84" name="Line 84"/>
          <p:cNvSpPr/>
          <p:nvPr/>
        </p:nvSpPr>
        <p:spPr>
          <a:xfrm flipV="1">
            <a:off x="605666" y="1672569"/>
            <a:ext cx="0" cy="7838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>
            <a:off x="605666" y="1665444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>
            <a:off x="748175" y="1665444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>
            <a:off x="890685" y="1665444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>
            <a:off x="1033195" y="1665444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>
            <a:off x="1175704" y="1665444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>
            <a:off x="1318214" y="1665444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>
            <a:off x="1460723" y="1665444"/>
            <a:ext cx="71255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92" name="Polygon 92"/>
          <p:cNvSpPr/>
          <p:nvPr/>
        </p:nvSpPr>
        <p:spPr>
          <a:xfrm>
            <a:off x="1467849" y="1597752"/>
            <a:ext cx="121133" cy="1353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>
            <a:off x="605666" y="3354182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>
            <a:off x="748175" y="3354182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>
            <a:off x="890685" y="3354182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>
            <a:off x="1033195" y="3354182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>
            <a:off x="1175704" y="3354182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>
            <a:off x="1318214" y="3354182"/>
            <a:ext cx="78380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>
            <a:off x="1460723" y="3354182"/>
            <a:ext cx="71255" cy="0"/>
          </a:xfrm>
          <a:prstGeom prst="line">
            <a:avLst/>
          </a:prstGeom>
          <a:noFill/>
          <a:ln w="25400">
            <a:solidFill>
              <a:srgbClr val="343434"/>
            </a:solidFill>
          </a:ln>
        </p:spPr>
        <p:txBody>
          <a:bodyPr/>
          <a:lstStyle/>
          <a:p/>
        </p:txBody>
      </p:sp>
      <p:sp>
        <p:nvSpPr>
          <p:cNvPr id="100" name="Polygon 100"/>
          <p:cNvSpPr/>
          <p:nvPr/>
        </p:nvSpPr>
        <p:spPr>
          <a:xfrm>
            <a:off x="1467849" y="3286490"/>
            <a:ext cx="121133" cy="1353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Rect 101"/>
          <p:cNvSpPr/>
          <p:nvPr/>
        </p:nvSpPr>
        <p:spPr>
          <a:xfrm>
            <a:off x="5593501" y="283101"/>
            <a:ext cx="2522420" cy="627042"/>
          </a:xfrm>
          <a:prstGeom prst="rect">
            <a:avLst/>
          </a:prstGeom>
          <a:solidFill>
            <a:srgbClr val="FFFFFF"/>
          </a:solidFill>
          <a:ln w="25400">
            <a:solidFill>
              <a:srgbClr val="006EB9"/>
            </a:solidFill>
          </a:ln>
        </p:spPr>
        <p:txBody>
          <a:bodyPr/>
          <a:lstStyle/>
          <a:p/>
        </p:txBody>
      </p:sp>
      <p:sp>
        <p:nvSpPr>
          <p:cNvPr id="102" name="Rect 102"/>
          <p:cNvSpPr/>
          <p:nvPr/>
        </p:nvSpPr>
        <p:spPr>
          <a:xfrm>
            <a:off x="1695864" y="988523"/>
            <a:ext cx="2258777" cy="1375218"/>
          </a:xfrm>
          <a:prstGeom prst="rect">
            <a:avLst/>
          </a:prstGeom>
          <a:solidFill>
            <a:srgbClr val="FFFFFF"/>
          </a:solidFill>
          <a:ln w="25400">
            <a:solidFill>
              <a:srgbClr val="3D83CF"/>
            </a:solidFill>
          </a:ln>
        </p:spPr>
        <p:txBody>
          <a:bodyPr/>
          <a:lstStyle/>
          <a:p/>
        </p:txBody>
      </p:sp>
      <p:sp>
        <p:nvSpPr>
          <p:cNvPr id="103" name="Rect 103"/>
          <p:cNvSpPr/>
          <p:nvPr/>
        </p:nvSpPr>
        <p:spPr>
          <a:xfrm>
            <a:off x="1695864" y="2684387"/>
            <a:ext cx="2258777" cy="1382343"/>
          </a:xfrm>
          <a:prstGeom prst="rect">
            <a:avLst/>
          </a:prstGeom>
          <a:solidFill>
            <a:srgbClr val="FFFFFF"/>
          </a:solidFill>
          <a:ln w="25400">
            <a:solidFill>
              <a:srgbClr val="3D83CF"/>
            </a:solidFill>
          </a:ln>
        </p:spPr>
        <p:txBody>
          <a:bodyPr/>
          <a:lstStyle/>
          <a:p/>
        </p:txBody>
      </p:sp>
      <p:sp>
        <p:nvSpPr>
          <p:cNvPr id="104" name="Rect 104"/>
          <p:cNvSpPr/>
          <p:nvPr/>
        </p:nvSpPr>
        <p:spPr>
          <a:xfrm>
            <a:off x="5194474" y="1323421"/>
            <a:ext cx="3306222" cy="2280153"/>
          </a:xfrm>
          <a:prstGeom prst="rect">
            <a:avLst/>
          </a:prstGeom>
          <a:solidFill>
            <a:srgbClr val="FFFFFF"/>
          </a:solidFill>
          <a:ln w="26670">
            <a:solidFill>
              <a:srgbClr val="07366F"/>
            </a:solidFill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5194474" y="4102358"/>
            <a:ext cx="3306222" cy="1097324"/>
          </a:xfrm>
          <a:prstGeom prst="rect">
            <a:avLst/>
          </a:prstGeom>
          <a:solidFill>
            <a:srgbClr val="FFFFFF"/>
          </a:solidFill>
          <a:ln w="26670">
            <a:solidFill>
              <a:srgbClr val="07366F"/>
            </a:solidFill>
          </a:ln>
        </p:spPr>
        <p:txBody>
          <a:bodyPr/>
          <a:lstStyle/>
          <a:p/>
        </p:txBody>
      </p:sp>
      <p:sp>
        <p:nvSpPr>
          <p:cNvPr id="106" name="Rect 106"/>
          <p:cNvSpPr/>
          <p:nvPr/>
        </p:nvSpPr>
        <p:spPr>
          <a:xfrm>
            <a:off x="249392" y="5869477"/>
            <a:ext cx="11692912" cy="648419"/>
          </a:xfrm>
          <a:prstGeom prst="rect">
            <a:avLst/>
          </a:prstGeom>
          <a:solidFill>
            <a:srgbClr val="FFFFFF"/>
          </a:solidFill>
          <a:ln w="26670">
            <a:solidFill>
              <a:srgbClr val="07366F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>
            <a:off x="9569519" y="1921961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>
            <a:off x="9712028" y="1921961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>
            <a:off x="9854538" y="1921961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10" name="Line 110"/>
          <p:cNvSpPr/>
          <p:nvPr/>
        </p:nvSpPr>
        <p:spPr>
          <a:xfrm>
            <a:off x="9997048" y="1921961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>
            <a:off x="10139557" y="1921961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>
            <a:off x="10282067" y="1921961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13" name="Line 113"/>
          <p:cNvSpPr/>
          <p:nvPr/>
        </p:nvSpPr>
        <p:spPr>
          <a:xfrm>
            <a:off x="10424576" y="1921961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14" name="Line 114"/>
          <p:cNvSpPr/>
          <p:nvPr/>
        </p:nvSpPr>
        <p:spPr>
          <a:xfrm>
            <a:off x="10567086" y="1921961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15" name="Line 115"/>
          <p:cNvSpPr/>
          <p:nvPr/>
        </p:nvSpPr>
        <p:spPr>
          <a:xfrm>
            <a:off x="10709595" y="1921961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16" name="Line 116"/>
          <p:cNvSpPr/>
          <p:nvPr/>
        </p:nvSpPr>
        <p:spPr>
          <a:xfrm>
            <a:off x="10852105" y="1921961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>
            <a:off x="10994615" y="1921961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18" name="Line 118"/>
          <p:cNvSpPr/>
          <p:nvPr/>
        </p:nvSpPr>
        <p:spPr>
          <a:xfrm>
            <a:off x="11137124" y="1921961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>
            <a:off x="11279634" y="1921961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>
            <a:off x="11422143" y="1921961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>
            <a:off x="11564653" y="1921961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>
            <a:off x="11707163" y="1921961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23" name="Line 123"/>
          <p:cNvSpPr/>
          <p:nvPr/>
        </p:nvSpPr>
        <p:spPr>
          <a:xfrm>
            <a:off x="11849672" y="1921961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>
            <a:off x="11942303" y="1921961"/>
            <a:ext cx="0" cy="7838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>
            <a:off x="11942303" y="2064471"/>
            <a:ext cx="0" cy="7838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26" name="Line 126"/>
          <p:cNvSpPr/>
          <p:nvPr/>
        </p:nvSpPr>
        <p:spPr>
          <a:xfrm>
            <a:off x="11942303" y="2206980"/>
            <a:ext cx="0" cy="7838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27" name="Line 127"/>
          <p:cNvSpPr/>
          <p:nvPr/>
        </p:nvSpPr>
        <p:spPr>
          <a:xfrm>
            <a:off x="11942303" y="2349490"/>
            <a:ext cx="0" cy="7838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28" name="Line 128"/>
          <p:cNvSpPr/>
          <p:nvPr/>
        </p:nvSpPr>
        <p:spPr>
          <a:xfrm>
            <a:off x="11942303" y="2491999"/>
            <a:ext cx="0" cy="7838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>
            <a:off x="11942303" y="2634509"/>
            <a:ext cx="0" cy="7838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>
            <a:off x="11942303" y="2777019"/>
            <a:ext cx="0" cy="7838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31" name="Line 131"/>
          <p:cNvSpPr/>
          <p:nvPr/>
        </p:nvSpPr>
        <p:spPr>
          <a:xfrm>
            <a:off x="11942303" y="2919528"/>
            <a:ext cx="0" cy="7838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32" name="Line 132"/>
          <p:cNvSpPr/>
          <p:nvPr/>
        </p:nvSpPr>
        <p:spPr>
          <a:xfrm>
            <a:off x="11942303" y="3062038"/>
            <a:ext cx="0" cy="64129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33" name="Line 133"/>
          <p:cNvSpPr/>
          <p:nvPr/>
        </p:nvSpPr>
        <p:spPr>
          <a:xfrm flipH="1">
            <a:off x="11863923" y="3126167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34" name="Line 134"/>
          <p:cNvSpPr/>
          <p:nvPr/>
        </p:nvSpPr>
        <p:spPr>
          <a:xfrm flipH="1">
            <a:off x="11721414" y="3126167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35" name="Line 135"/>
          <p:cNvSpPr/>
          <p:nvPr/>
        </p:nvSpPr>
        <p:spPr>
          <a:xfrm flipH="1">
            <a:off x="11578904" y="3126167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36" name="Line 136"/>
          <p:cNvSpPr/>
          <p:nvPr/>
        </p:nvSpPr>
        <p:spPr>
          <a:xfrm flipH="1">
            <a:off x="11436394" y="3126167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37" name="Line 137"/>
          <p:cNvSpPr/>
          <p:nvPr/>
        </p:nvSpPr>
        <p:spPr>
          <a:xfrm flipH="1">
            <a:off x="11293885" y="3126167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38" name="Line 138"/>
          <p:cNvSpPr/>
          <p:nvPr/>
        </p:nvSpPr>
        <p:spPr>
          <a:xfrm flipH="1">
            <a:off x="11151375" y="3126167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39" name="Line 139"/>
          <p:cNvSpPr/>
          <p:nvPr/>
        </p:nvSpPr>
        <p:spPr>
          <a:xfrm flipH="1">
            <a:off x="11008866" y="3126167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40" name="Line 140"/>
          <p:cNvSpPr/>
          <p:nvPr/>
        </p:nvSpPr>
        <p:spPr>
          <a:xfrm flipH="1">
            <a:off x="10866356" y="3126167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41" name="Line 141"/>
          <p:cNvSpPr/>
          <p:nvPr/>
        </p:nvSpPr>
        <p:spPr>
          <a:xfrm flipH="1">
            <a:off x="10723846" y="3126167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42" name="Line 142"/>
          <p:cNvSpPr/>
          <p:nvPr/>
        </p:nvSpPr>
        <p:spPr>
          <a:xfrm flipH="1">
            <a:off x="10581337" y="3126167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43" name="Line 143"/>
          <p:cNvSpPr/>
          <p:nvPr/>
        </p:nvSpPr>
        <p:spPr>
          <a:xfrm flipH="1">
            <a:off x="10438827" y="3126167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44" name="Line 144"/>
          <p:cNvSpPr/>
          <p:nvPr/>
        </p:nvSpPr>
        <p:spPr>
          <a:xfrm flipH="1">
            <a:off x="10296318" y="3126167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45" name="Line 145"/>
          <p:cNvSpPr/>
          <p:nvPr/>
        </p:nvSpPr>
        <p:spPr>
          <a:xfrm flipH="1">
            <a:off x="10153808" y="3126167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46" name="Line 146"/>
          <p:cNvSpPr/>
          <p:nvPr/>
        </p:nvSpPr>
        <p:spPr>
          <a:xfrm flipH="1">
            <a:off x="10011299" y="3126167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47" name="Line 147"/>
          <p:cNvSpPr/>
          <p:nvPr/>
        </p:nvSpPr>
        <p:spPr>
          <a:xfrm flipH="1">
            <a:off x="9868789" y="3126167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48" name="Line 148"/>
          <p:cNvSpPr/>
          <p:nvPr/>
        </p:nvSpPr>
        <p:spPr>
          <a:xfrm flipH="1">
            <a:off x="9726279" y="3126167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49" name="Line 149"/>
          <p:cNvSpPr/>
          <p:nvPr/>
        </p:nvSpPr>
        <p:spPr>
          <a:xfrm flipH="1">
            <a:off x="9583770" y="3126167"/>
            <a:ext cx="78380" cy="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50" name="Line 150"/>
          <p:cNvSpPr/>
          <p:nvPr/>
        </p:nvSpPr>
        <p:spPr>
          <a:xfrm flipV="1">
            <a:off x="9569519" y="3047787"/>
            <a:ext cx="0" cy="7838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51" name="Line 151"/>
          <p:cNvSpPr/>
          <p:nvPr/>
        </p:nvSpPr>
        <p:spPr>
          <a:xfrm flipV="1">
            <a:off x="9569519" y="2905277"/>
            <a:ext cx="0" cy="7838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52" name="Line 152"/>
          <p:cNvSpPr/>
          <p:nvPr/>
        </p:nvSpPr>
        <p:spPr>
          <a:xfrm flipV="1">
            <a:off x="9569519" y="2762768"/>
            <a:ext cx="0" cy="7838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53" name="Line 153"/>
          <p:cNvSpPr/>
          <p:nvPr/>
        </p:nvSpPr>
        <p:spPr>
          <a:xfrm flipV="1">
            <a:off x="9569519" y="2620258"/>
            <a:ext cx="0" cy="7838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54" name="Line 154"/>
          <p:cNvSpPr/>
          <p:nvPr/>
        </p:nvSpPr>
        <p:spPr>
          <a:xfrm flipV="1">
            <a:off x="9569519" y="2477749"/>
            <a:ext cx="0" cy="7838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55" name="Line 155"/>
          <p:cNvSpPr/>
          <p:nvPr/>
        </p:nvSpPr>
        <p:spPr>
          <a:xfrm flipV="1">
            <a:off x="9569519" y="2335239"/>
            <a:ext cx="0" cy="7838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56" name="Line 156"/>
          <p:cNvSpPr/>
          <p:nvPr/>
        </p:nvSpPr>
        <p:spPr>
          <a:xfrm flipV="1">
            <a:off x="9569519" y="2192729"/>
            <a:ext cx="0" cy="7838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57" name="Line 157"/>
          <p:cNvSpPr/>
          <p:nvPr/>
        </p:nvSpPr>
        <p:spPr>
          <a:xfrm flipV="1">
            <a:off x="9569519" y="2050220"/>
            <a:ext cx="0" cy="78380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58" name="Line 158"/>
          <p:cNvSpPr/>
          <p:nvPr/>
        </p:nvSpPr>
        <p:spPr>
          <a:xfrm flipV="1">
            <a:off x="9569519" y="1921961"/>
            <a:ext cx="0" cy="64129"/>
          </a:xfrm>
          <a:prstGeom prst="line">
            <a:avLst/>
          </a:prstGeom>
          <a:noFill/>
          <a:ln w="2540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59" name="Rect 159"/>
          <p:cNvSpPr/>
          <p:nvPr/>
        </p:nvSpPr>
        <p:spPr>
          <a:xfrm>
            <a:off x="5771638" y="432736"/>
            <a:ext cx="306396" cy="327772"/>
          </a:xfrm>
          <a:prstGeom prst="rect">
            <a:avLst/>
          </a:prstGeom>
          <a:solidFill>
            <a:srgbClr val="FFFFFF"/>
          </a:solidFill>
          <a:ln w="17780">
            <a:solidFill>
              <a:srgbClr val="006EB9"/>
            </a:solidFill>
          </a:ln>
        </p:spPr>
        <p:txBody>
          <a:bodyPr/>
          <a:lstStyle/>
          <a:p/>
        </p:txBody>
      </p:sp>
      <p:sp>
        <p:nvSpPr>
          <p:cNvPr id="160" name="Rect 160"/>
          <p:cNvSpPr/>
          <p:nvPr/>
        </p:nvSpPr>
        <p:spPr>
          <a:xfrm>
            <a:off x="1866876" y="1145284"/>
            <a:ext cx="313521" cy="320647"/>
          </a:xfrm>
          <a:prstGeom prst="rect">
            <a:avLst/>
          </a:prstGeom>
          <a:solidFill>
            <a:srgbClr val="FFFFFF"/>
          </a:solidFill>
          <a:ln w="16510">
            <a:solidFill>
              <a:srgbClr val="3D83CF"/>
            </a:solidFill>
          </a:ln>
        </p:spPr>
        <p:txBody>
          <a:bodyPr/>
          <a:lstStyle/>
          <a:p/>
        </p:txBody>
      </p:sp>
      <p:sp>
        <p:nvSpPr>
          <p:cNvPr id="161" name="Rect 161"/>
          <p:cNvSpPr/>
          <p:nvPr/>
        </p:nvSpPr>
        <p:spPr>
          <a:xfrm>
            <a:off x="1866876" y="2841148"/>
            <a:ext cx="313521" cy="320647"/>
          </a:xfrm>
          <a:prstGeom prst="rect">
            <a:avLst/>
          </a:prstGeom>
          <a:solidFill>
            <a:srgbClr val="FFFFFF"/>
          </a:solidFill>
          <a:ln w="16510">
            <a:solidFill>
              <a:srgbClr val="3D83CF"/>
            </a:solidFill>
          </a:ln>
        </p:spPr>
        <p:txBody>
          <a:bodyPr/>
          <a:lstStyle/>
          <a:p/>
        </p:txBody>
      </p:sp>
      <p:sp>
        <p:nvSpPr>
          <p:cNvPr id="162" name="Rect 162"/>
          <p:cNvSpPr/>
          <p:nvPr/>
        </p:nvSpPr>
        <p:spPr>
          <a:xfrm>
            <a:off x="5379737" y="1494432"/>
            <a:ext cx="356274" cy="363399"/>
          </a:xfrm>
          <a:prstGeom prst="rect">
            <a:avLst/>
          </a:prstGeom>
          <a:solidFill>
            <a:srgbClr val="FFFFFF"/>
          </a:solidFill>
          <a:ln w="17780">
            <a:solidFill>
              <a:srgbClr val="07366F"/>
            </a:solidFill>
          </a:ln>
        </p:spPr>
        <p:txBody>
          <a:bodyPr/>
          <a:lstStyle/>
          <a:p/>
        </p:txBody>
      </p:sp>
      <p:sp>
        <p:nvSpPr>
          <p:cNvPr id="163" name="Rect 163"/>
          <p:cNvSpPr/>
          <p:nvPr/>
        </p:nvSpPr>
        <p:spPr>
          <a:xfrm>
            <a:off x="5393988" y="4251993"/>
            <a:ext cx="306396" cy="320647"/>
          </a:xfrm>
          <a:prstGeom prst="rect">
            <a:avLst/>
          </a:prstGeom>
          <a:solidFill>
            <a:srgbClr val="FFFFFF"/>
          </a:solidFill>
          <a:ln w="17780">
            <a:solidFill>
              <a:srgbClr val="07366F"/>
            </a:solidFill>
          </a:ln>
        </p:spPr>
        <p:txBody>
          <a:bodyPr/>
          <a:lstStyle/>
          <a:p/>
        </p:txBody>
      </p:sp>
      <p:sp>
        <p:nvSpPr>
          <p:cNvPr id="164" name="Rect 164"/>
          <p:cNvSpPr/>
          <p:nvPr/>
        </p:nvSpPr>
        <p:spPr>
          <a:xfrm>
            <a:off x="9769032" y="2078722"/>
            <a:ext cx="320647" cy="327772"/>
          </a:xfrm>
          <a:prstGeom prst="rect">
            <a:avLst/>
          </a:prstGeom>
          <a:solidFill>
            <a:srgbClr val="FFFFFF"/>
          </a:solidFill>
          <a:ln w="1651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65" name="Rect 165"/>
          <p:cNvSpPr/>
          <p:nvPr/>
        </p:nvSpPr>
        <p:spPr>
          <a:xfrm>
            <a:off x="520160" y="6040488"/>
            <a:ext cx="285019" cy="299270"/>
          </a:xfrm>
          <a:prstGeom prst="rect">
            <a:avLst/>
          </a:prstGeom>
          <a:solidFill>
            <a:srgbClr val="FFFFFF"/>
          </a:solidFill>
          <a:ln w="17780">
            <a:solidFill>
              <a:srgbClr val="07366F"/>
            </a:solidFill>
          </a:ln>
        </p:spPr>
        <p:txBody>
          <a:bodyPr/>
          <a:lstStyle/>
          <a:p/>
        </p:txBody>
      </p:sp>
      <p:sp>
        <p:nvSpPr>
          <p:cNvPr id="166" name="Line 166"/>
          <p:cNvSpPr/>
          <p:nvPr/>
        </p:nvSpPr>
        <p:spPr>
          <a:xfrm>
            <a:off x="1816997" y="1622691"/>
            <a:ext cx="2016511" cy="0"/>
          </a:xfrm>
          <a:prstGeom prst="line">
            <a:avLst/>
          </a:prstGeom>
          <a:noFill/>
          <a:ln w="16510">
            <a:solidFill>
              <a:srgbClr val="3D83CF"/>
            </a:solidFill>
          </a:ln>
        </p:spPr>
        <p:txBody>
          <a:bodyPr/>
          <a:lstStyle/>
          <a:p/>
        </p:txBody>
      </p:sp>
      <p:sp>
        <p:nvSpPr>
          <p:cNvPr id="167" name="Line 167"/>
          <p:cNvSpPr/>
          <p:nvPr/>
        </p:nvSpPr>
        <p:spPr>
          <a:xfrm>
            <a:off x="1816997" y="3318555"/>
            <a:ext cx="2016511" cy="0"/>
          </a:xfrm>
          <a:prstGeom prst="line">
            <a:avLst/>
          </a:prstGeom>
          <a:noFill/>
          <a:ln w="16510">
            <a:solidFill>
              <a:srgbClr val="3D83CF"/>
            </a:solidFill>
          </a:ln>
        </p:spPr>
        <p:txBody>
          <a:bodyPr/>
          <a:lstStyle/>
          <a:p/>
        </p:txBody>
      </p:sp>
      <p:sp>
        <p:nvSpPr>
          <p:cNvPr id="168" name="Line 168"/>
          <p:cNvSpPr/>
          <p:nvPr/>
        </p:nvSpPr>
        <p:spPr>
          <a:xfrm>
            <a:off x="5315608" y="2000341"/>
            <a:ext cx="3063956" cy="0"/>
          </a:xfrm>
          <a:prstGeom prst="line">
            <a:avLst/>
          </a:prstGeom>
          <a:noFill/>
          <a:ln w="16510">
            <a:solidFill>
              <a:srgbClr val="07366F"/>
            </a:solidFill>
          </a:ln>
        </p:spPr>
        <p:txBody>
          <a:bodyPr/>
          <a:lstStyle/>
          <a:p/>
        </p:txBody>
      </p:sp>
      <p:sp>
        <p:nvSpPr>
          <p:cNvPr id="169" name="Line 169"/>
          <p:cNvSpPr/>
          <p:nvPr/>
        </p:nvSpPr>
        <p:spPr>
          <a:xfrm>
            <a:off x="5315608" y="2520501"/>
            <a:ext cx="3063956" cy="0"/>
          </a:xfrm>
          <a:prstGeom prst="line">
            <a:avLst/>
          </a:prstGeom>
          <a:noFill/>
          <a:ln w="16510">
            <a:solidFill>
              <a:srgbClr val="07366F"/>
            </a:solidFill>
          </a:ln>
        </p:spPr>
        <p:txBody>
          <a:bodyPr/>
          <a:lstStyle/>
          <a:p/>
        </p:txBody>
      </p:sp>
      <p:sp>
        <p:nvSpPr>
          <p:cNvPr id="170" name="Line 170"/>
          <p:cNvSpPr/>
          <p:nvPr/>
        </p:nvSpPr>
        <p:spPr>
          <a:xfrm>
            <a:off x="5315608" y="3047787"/>
            <a:ext cx="3063956" cy="0"/>
          </a:xfrm>
          <a:prstGeom prst="line">
            <a:avLst/>
          </a:prstGeom>
          <a:noFill/>
          <a:ln w="16510">
            <a:solidFill>
              <a:srgbClr val="07366F"/>
            </a:solidFill>
          </a:ln>
        </p:spPr>
        <p:txBody>
          <a:bodyPr/>
          <a:lstStyle/>
          <a:p/>
        </p:txBody>
      </p:sp>
      <p:sp>
        <p:nvSpPr>
          <p:cNvPr id="171" name="Line 171"/>
          <p:cNvSpPr/>
          <p:nvPr/>
        </p:nvSpPr>
        <p:spPr>
          <a:xfrm>
            <a:off x="5315608" y="4665271"/>
            <a:ext cx="3063956" cy="0"/>
          </a:xfrm>
          <a:prstGeom prst="line">
            <a:avLst/>
          </a:prstGeom>
          <a:noFill/>
          <a:ln w="16510">
            <a:solidFill>
              <a:srgbClr val="07366F"/>
            </a:solidFill>
          </a:ln>
        </p:spPr>
        <p:txBody>
          <a:bodyPr/>
          <a:lstStyle/>
          <a:p/>
        </p:txBody>
      </p:sp>
      <p:sp>
        <p:nvSpPr>
          <p:cNvPr id="172" name="Line 172"/>
          <p:cNvSpPr/>
          <p:nvPr/>
        </p:nvSpPr>
        <p:spPr>
          <a:xfrm>
            <a:off x="9704903" y="2570380"/>
            <a:ext cx="2102016" cy="0"/>
          </a:xfrm>
          <a:prstGeom prst="line">
            <a:avLst/>
          </a:prstGeom>
          <a:noFill/>
          <a:ln w="16510">
            <a:solidFill>
              <a:srgbClr val="727272"/>
            </a:solidFill>
          </a:ln>
        </p:spPr>
        <p:txBody>
          <a:bodyPr/>
          <a:lstStyle/>
          <a:p/>
        </p:txBody>
      </p:sp>
      <p:sp>
        <p:nvSpPr>
          <p:cNvPr id="173" name="Line 173"/>
          <p:cNvSpPr/>
          <p:nvPr/>
        </p:nvSpPr>
        <p:spPr>
          <a:xfrm>
            <a:off x="3042580" y="6011986"/>
            <a:ext cx="0" cy="377650"/>
          </a:xfrm>
          <a:prstGeom prst="line">
            <a:avLst/>
          </a:prstGeom>
          <a:noFill/>
          <a:ln w="16510">
            <a:solidFill>
              <a:srgbClr val="07366F"/>
            </a:solidFill>
          </a:ln>
        </p:spPr>
        <p:txBody>
          <a:bodyPr/>
          <a:lstStyle/>
          <a:p/>
        </p:txBody>
      </p:sp>
      <p:sp>
        <p:nvSpPr>
          <p:cNvPr id="174" name="TextBox 174"/>
          <p:cNvSpPr txBox="1"/>
          <p:nvPr/>
        </p:nvSpPr>
        <p:spPr>
          <a:xfrm>
            <a:off x="6348802" y="439861"/>
            <a:ext cx="1346716" cy="34202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加权训练池</a:t>
            </a:r>
            <a:endParaRPr lang="zh-CN" sz="1900"/>
          </a:p>
        </p:txBody>
      </p:sp>
      <p:sp>
        <p:nvSpPr>
          <p:cNvPr id="175" name="TextBox 175"/>
          <p:cNvSpPr txBox="1"/>
          <p:nvPr/>
        </p:nvSpPr>
        <p:spPr>
          <a:xfrm>
            <a:off x="2444039" y="1145284"/>
            <a:ext cx="1125826" cy="35627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参数记忆</a:t>
            </a:r>
            <a:endParaRPr lang="zh-CN" sz="1900"/>
          </a:p>
        </p:txBody>
      </p:sp>
      <p:sp>
        <p:nvSpPr>
          <p:cNvPr id="176" name="TextBox 176"/>
          <p:cNvSpPr txBox="1"/>
          <p:nvPr/>
        </p:nvSpPr>
        <p:spPr>
          <a:xfrm>
            <a:off x="2116267" y="1679695"/>
            <a:ext cx="1453598" cy="3206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固定适配器库</a:t>
            </a:r>
            <a:endParaRPr lang="zh-CN" sz="1750"/>
          </a:p>
        </p:txBody>
      </p:sp>
      <p:sp>
        <p:nvSpPr>
          <p:cNvPr id="177" name="TextBox 177"/>
          <p:cNvSpPr txBox="1"/>
          <p:nvPr/>
        </p:nvSpPr>
        <p:spPr>
          <a:xfrm>
            <a:off x="2223150" y="1971839"/>
            <a:ext cx="1232708" cy="3206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能力与版本</a:t>
            </a:r>
            <a:endParaRPr lang="zh-CN" sz="1750"/>
          </a:p>
        </p:txBody>
      </p:sp>
      <p:sp>
        <p:nvSpPr>
          <p:cNvPr id="178" name="TextBox 178"/>
          <p:cNvSpPr txBox="1"/>
          <p:nvPr/>
        </p:nvSpPr>
        <p:spPr>
          <a:xfrm>
            <a:off x="2436914" y="2841148"/>
            <a:ext cx="1132951" cy="35627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轨迹记忆</a:t>
            </a:r>
            <a:endParaRPr lang="zh-CN" sz="1900"/>
          </a:p>
        </p:txBody>
      </p:sp>
      <p:sp>
        <p:nvSpPr>
          <p:cNvPr id="179" name="TextBox 179"/>
          <p:cNvSpPr txBox="1"/>
          <p:nvPr/>
        </p:nvSpPr>
        <p:spPr>
          <a:xfrm>
            <a:off x="2180397" y="3375559"/>
            <a:ext cx="1246959" cy="3277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容量内回放</a:t>
            </a:r>
            <a:endParaRPr lang="zh-CN" sz="1750"/>
          </a:p>
        </p:txBody>
      </p:sp>
      <p:sp>
        <p:nvSpPr>
          <p:cNvPr id="180" name="TextBox 180"/>
          <p:cNvSpPr txBox="1"/>
          <p:nvPr/>
        </p:nvSpPr>
        <p:spPr>
          <a:xfrm>
            <a:off x="2066389" y="3674829"/>
            <a:ext cx="1474974" cy="3277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工具规则复核</a:t>
            </a:r>
            <a:endParaRPr lang="zh-CN" sz="1750"/>
          </a:p>
        </p:txBody>
      </p:sp>
      <p:sp>
        <p:nvSpPr>
          <p:cNvPr id="181" name="TextBox 181"/>
          <p:cNvSpPr txBox="1"/>
          <p:nvPr/>
        </p:nvSpPr>
        <p:spPr>
          <a:xfrm>
            <a:off x="6398680" y="1494432"/>
            <a:ext cx="1147202" cy="35627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持续更新</a:t>
            </a:r>
            <a:endParaRPr lang="zh-CN" sz="1900"/>
          </a:p>
        </p:txBody>
      </p:sp>
      <p:sp>
        <p:nvSpPr>
          <p:cNvPr id="182" name="TextBox 182"/>
          <p:cNvSpPr txBox="1"/>
          <p:nvPr/>
        </p:nvSpPr>
        <p:spPr>
          <a:xfrm>
            <a:off x="6127912" y="2085847"/>
            <a:ext cx="1439347" cy="3277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当前任务学习</a:t>
            </a:r>
            <a:endParaRPr lang="zh-CN" sz="1750"/>
          </a:p>
        </p:txBody>
      </p:sp>
      <p:sp>
        <p:nvSpPr>
          <p:cNvPr id="183" name="TextBox 183"/>
          <p:cNvSpPr txBox="1"/>
          <p:nvPr/>
        </p:nvSpPr>
        <p:spPr>
          <a:xfrm>
            <a:off x="6320300" y="2613133"/>
            <a:ext cx="1047445" cy="33489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历史回放</a:t>
            </a:r>
            <a:endParaRPr lang="zh-CN" sz="1750"/>
          </a:p>
        </p:txBody>
      </p:sp>
      <p:sp>
        <p:nvSpPr>
          <p:cNvPr id="184" name="TextBox 184"/>
          <p:cNvSpPr txBox="1"/>
          <p:nvPr/>
        </p:nvSpPr>
        <p:spPr>
          <a:xfrm>
            <a:off x="6078034" y="3140418"/>
            <a:ext cx="1524853" cy="33489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低秩干扰约束</a:t>
            </a:r>
            <a:endParaRPr lang="zh-CN" sz="1750"/>
          </a:p>
        </p:txBody>
      </p:sp>
      <p:sp>
        <p:nvSpPr>
          <p:cNvPr id="185" name="TextBox 185"/>
          <p:cNvSpPr txBox="1"/>
          <p:nvPr/>
        </p:nvSpPr>
        <p:spPr>
          <a:xfrm>
            <a:off x="6377304" y="4216365"/>
            <a:ext cx="1168579" cy="35627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容量管理</a:t>
            </a:r>
            <a:endParaRPr lang="zh-CN" sz="1900"/>
          </a:p>
        </p:txBody>
      </p:sp>
      <p:sp>
        <p:nvSpPr>
          <p:cNvPr id="186" name="TextBox 186"/>
          <p:cNvSpPr txBox="1"/>
          <p:nvPr/>
        </p:nvSpPr>
        <p:spPr>
          <a:xfrm>
            <a:off x="5821517" y="4757902"/>
            <a:ext cx="1973758" cy="33489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合并｜替换｜冻结</a:t>
            </a:r>
            <a:endParaRPr lang="zh-CN" sz="1750"/>
          </a:p>
        </p:txBody>
      </p:sp>
      <p:sp>
        <p:nvSpPr>
          <p:cNvPr id="187" name="TextBox 187"/>
          <p:cNvSpPr txBox="1"/>
          <p:nvPr/>
        </p:nvSpPr>
        <p:spPr>
          <a:xfrm>
            <a:off x="10346196" y="2078722"/>
            <a:ext cx="1140077" cy="35627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冻结策略</a:t>
            </a:r>
            <a:endParaRPr lang="zh-CN" sz="1900"/>
          </a:p>
        </p:txBody>
      </p:sp>
      <p:sp>
        <p:nvSpPr>
          <p:cNvPr id="188" name="TextBox 188"/>
          <p:cNvSpPr txBox="1"/>
          <p:nvPr/>
        </p:nvSpPr>
        <p:spPr>
          <a:xfrm>
            <a:off x="9968546" y="2677262"/>
            <a:ext cx="1510602" cy="3277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交给独立校准</a:t>
            </a:r>
            <a:endParaRPr lang="zh-CN" sz="1750"/>
          </a:p>
        </p:txBody>
      </p:sp>
      <p:sp>
        <p:nvSpPr>
          <p:cNvPr id="189" name="TextBox 189"/>
          <p:cNvSpPr txBox="1"/>
          <p:nvPr/>
        </p:nvSpPr>
        <p:spPr>
          <a:xfrm>
            <a:off x="1232708" y="6004861"/>
            <a:ext cx="1140077" cy="37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保持评价</a:t>
            </a:r>
            <a:endParaRPr lang="zh-CN" sz="1900"/>
          </a:p>
        </p:txBody>
      </p:sp>
      <p:sp>
        <p:nvSpPr>
          <p:cNvPr id="190" name="TextBox 190"/>
          <p:cNvSpPr txBox="1"/>
          <p:nvPr/>
        </p:nvSpPr>
        <p:spPr>
          <a:xfrm>
            <a:off x="5108969" y="6033363"/>
            <a:ext cx="3427356" cy="34202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历史测试仅评价｜容量与成本匹配</a:t>
            </a:r>
            <a:endParaRPr lang="zh-CN" sz="17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9032908" y="138472"/>
            <a:ext cx="3017228" cy="3724164"/>
          </a:xfrm>
          <a:prstGeom prst="roundRect">
            <a:avLst>
              <a:gd name="adj" fmla="val 2415"/>
            </a:avLst>
          </a:prstGeom>
          <a:solidFill>
            <a:srgbClr val="FFFFFF"/>
          </a:solidFill>
          <a:ln w="25400">
            <a:solidFill>
              <a:srgbClr val="898989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3187939" y="750663"/>
            <a:ext cx="2361309" cy="1668950"/>
          </a:xfrm>
          <a:prstGeom prst="roundRect">
            <a:avLst>
              <a:gd name="adj" fmla="val 3493"/>
            </a:avLst>
          </a:prstGeom>
          <a:solidFill>
            <a:srgbClr val="FFFFFF"/>
          </a:solidFill>
          <a:ln w="29146">
            <a:solidFill>
              <a:srgbClr val="2575BE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6139576" y="750663"/>
            <a:ext cx="2288429" cy="1668950"/>
          </a:xfrm>
          <a:prstGeom prst="roundRect">
            <a:avLst>
              <a:gd name="adj" fmla="val 3493"/>
            </a:avLst>
          </a:prstGeom>
          <a:solidFill>
            <a:srgbClr val="FFFFFF"/>
          </a:solidFill>
          <a:ln w="29146">
            <a:solidFill>
              <a:srgbClr val="0B5BB5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199862" y="3869923"/>
            <a:ext cx="2383173" cy="1085911"/>
          </a:xfrm>
          <a:prstGeom prst="roundRect">
            <a:avLst>
              <a:gd name="adj" fmla="val 4698"/>
            </a:avLst>
          </a:prstGeom>
          <a:solidFill>
            <a:srgbClr val="FFFFFF"/>
          </a:solidFill>
          <a:ln w="29146">
            <a:solidFill>
              <a:srgbClr val="2575BE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3348275" y="3869923"/>
            <a:ext cx="2645541" cy="1085911"/>
          </a:xfrm>
          <a:prstGeom prst="roundRect">
            <a:avLst>
              <a:gd name="adj" fmla="val 4698"/>
            </a:avLst>
          </a:prstGeom>
          <a:solidFill>
            <a:srgbClr val="FFFFFF"/>
          </a:solidFill>
          <a:ln w="29146">
            <a:solidFill>
              <a:srgbClr val="2575BE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5753312" y="5480570"/>
            <a:ext cx="2674693" cy="1107775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29146">
            <a:solidFill>
              <a:srgbClr val="0A2059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996468" y="5458706"/>
            <a:ext cx="2937061" cy="1122351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9146">
            <a:solidFill>
              <a:srgbClr val="0A2059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9455612" y="335248"/>
            <a:ext cx="2397749" cy="692359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9146">
            <a:solidFill>
              <a:srgbClr val="0A2059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9455612" y="1238959"/>
            <a:ext cx="2397749" cy="663207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9146">
            <a:solidFill>
              <a:srgbClr val="0A2059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9455612" y="2120806"/>
            <a:ext cx="2397749" cy="663207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9146">
            <a:solidFill>
              <a:srgbClr val="0A2059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9455612" y="2988077"/>
            <a:ext cx="2397749" cy="663207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9146">
            <a:solidFill>
              <a:srgbClr val="0A2059"/>
            </a:solidFill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345622" y="896423"/>
            <a:ext cx="247792" cy="247792"/>
          </a:xfrm>
          <a:prstGeom prst="rect">
            <a:avLst/>
          </a:prstGeom>
          <a:solidFill>
            <a:srgbClr val="FFFFFF"/>
          </a:solidFill>
          <a:ln w="13119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3326411" y="896423"/>
            <a:ext cx="240504" cy="247792"/>
          </a:xfrm>
          <a:prstGeom prst="rect">
            <a:avLst/>
          </a:prstGeom>
          <a:solidFill>
            <a:srgbClr val="FFFFFF"/>
          </a:solidFill>
          <a:ln w="13119">
            <a:solidFill>
              <a:srgbClr val="0B5BB5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6278047" y="896423"/>
            <a:ext cx="240504" cy="247792"/>
          </a:xfrm>
          <a:prstGeom prst="rect">
            <a:avLst/>
          </a:prstGeom>
          <a:solidFill>
            <a:srgbClr val="FFFFFF"/>
          </a:solidFill>
          <a:ln w="13119">
            <a:solidFill>
              <a:srgbClr val="0B5BB5"/>
            </a:solidFill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345622" y="4008395"/>
            <a:ext cx="247792" cy="247792"/>
          </a:xfrm>
          <a:prstGeom prst="rect">
            <a:avLst/>
          </a:prstGeom>
          <a:solidFill>
            <a:srgbClr val="FFFFFF"/>
          </a:solidFill>
          <a:ln w="13119">
            <a:solidFill>
              <a:srgbClr val="0B5BB5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3486747" y="4008395"/>
            <a:ext cx="240504" cy="247792"/>
          </a:xfrm>
          <a:prstGeom prst="rect">
            <a:avLst/>
          </a:prstGeom>
          <a:solidFill>
            <a:srgbClr val="FFFFFF"/>
          </a:solidFill>
          <a:ln w="13119">
            <a:solidFill>
              <a:srgbClr val="0B5BB5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9579508" y="451855"/>
            <a:ext cx="211352" cy="218640"/>
          </a:xfrm>
          <a:prstGeom prst="rect">
            <a:avLst/>
          </a:prstGeom>
          <a:solidFill>
            <a:srgbClr val="FFFFFF"/>
          </a:solidFill>
          <a:ln w="13119">
            <a:solidFill>
              <a:srgbClr val="0A2059"/>
            </a:solidFill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9579508" y="1348278"/>
            <a:ext cx="211352" cy="218640"/>
          </a:xfrm>
          <a:prstGeom prst="rect">
            <a:avLst/>
          </a:prstGeom>
          <a:solidFill>
            <a:srgbClr val="FFFFFF"/>
          </a:solidFill>
          <a:ln w="13119">
            <a:solidFill>
              <a:srgbClr val="0A2059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9579508" y="2230125"/>
            <a:ext cx="211352" cy="218640"/>
          </a:xfrm>
          <a:prstGeom prst="rect">
            <a:avLst/>
          </a:prstGeom>
          <a:solidFill>
            <a:srgbClr val="FFFFFF"/>
          </a:solidFill>
          <a:ln w="13119">
            <a:solidFill>
              <a:srgbClr val="0A2059"/>
            </a:solidFill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9579508" y="3097396"/>
            <a:ext cx="211352" cy="218640"/>
          </a:xfrm>
          <a:prstGeom prst="rect">
            <a:avLst/>
          </a:prstGeom>
          <a:solidFill>
            <a:srgbClr val="FFFFFF"/>
          </a:solidFill>
          <a:ln w="13119">
            <a:solidFill>
              <a:srgbClr val="0A2059"/>
            </a:solidFill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5884496" y="5611753"/>
            <a:ext cx="218640" cy="218640"/>
          </a:xfrm>
          <a:prstGeom prst="rect">
            <a:avLst/>
          </a:prstGeom>
          <a:solidFill>
            <a:srgbClr val="FFFFFF"/>
          </a:solidFill>
          <a:ln w="13119">
            <a:solidFill>
              <a:srgbClr val="0A2059"/>
            </a:solidFill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9120364" y="5597177"/>
            <a:ext cx="218640" cy="218640"/>
          </a:xfrm>
          <a:prstGeom prst="rect">
            <a:avLst/>
          </a:prstGeom>
          <a:solidFill>
            <a:srgbClr val="FFFFFF"/>
          </a:solidFill>
          <a:ln w="13119">
            <a:solidFill>
              <a:srgbClr val="0A2059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301894" y="757951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440366" y="757951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578838" y="757951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717310" y="757951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855782" y="757951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994254" y="757951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1132725" y="757951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1271197" y="757951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1409669" y="757951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1548141" y="757951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1686613" y="757951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1825085" y="757951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1963556" y="757951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2102028" y="757951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2240500" y="757951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2378972" y="757951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301894" y="2419613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440366" y="2419613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578838" y="2419613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717310" y="2419613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855782" y="2419613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994254" y="2419613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1132725" y="2419613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1271197" y="2419613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1409669" y="2419613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1548141" y="2419613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1686613" y="2419613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1825085" y="2419613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1963556" y="2419613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2102028" y="2419613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2240500" y="2419613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2378972" y="2419613"/>
            <a:ext cx="65592" cy="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214438" y="896423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214438" y="1034895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214438" y="1173367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214438" y="1311838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214438" y="1450310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214438" y="1588782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214438" y="1727254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214438" y="1865726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>
            <a:off x="214438" y="2004198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214438" y="2142670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>
            <a:off x="214438" y="2281141"/>
            <a:ext cx="0" cy="51016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>
            <a:off x="2597612" y="816255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2597612" y="954727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>
            <a:off x="2597612" y="1093199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>
            <a:off x="2597612" y="1231671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>
            <a:off x="2597612" y="1370142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2597612" y="1508614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2597612" y="1647086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>
            <a:off x="2597612" y="1785558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2597612" y="1924030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>
            <a:off x="2597612" y="2062502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>
            <a:off x="2597612" y="2200973"/>
            <a:ext cx="0" cy="6559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 flipV="1">
            <a:off x="214438" y="808967"/>
            <a:ext cx="0" cy="2915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 flipV="1">
            <a:off x="214438" y="772527"/>
            <a:ext cx="21864" cy="3644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 flipV="1">
            <a:off x="236302" y="757951"/>
            <a:ext cx="36440" cy="14576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2532020" y="757951"/>
            <a:ext cx="36440" cy="14576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82" name="Line 82"/>
          <p:cNvSpPr/>
          <p:nvPr/>
        </p:nvSpPr>
        <p:spPr>
          <a:xfrm>
            <a:off x="2568460" y="772527"/>
            <a:ext cx="29152" cy="36440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>
            <a:off x="214438" y="2368597"/>
            <a:ext cx="14576" cy="2915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84" name="Line 84"/>
          <p:cNvSpPr/>
          <p:nvPr/>
        </p:nvSpPr>
        <p:spPr>
          <a:xfrm>
            <a:off x="229014" y="2397749"/>
            <a:ext cx="36440" cy="21864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 flipV="1">
            <a:off x="2524732" y="2405037"/>
            <a:ext cx="36440" cy="14576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 flipV="1">
            <a:off x="2561172" y="2375885"/>
            <a:ext cx="29152" cy="29152"/>
          </a:xfrm>
          <a:prstGeom prst="line">
            <a:avLst/>
          </a:prstGeom>
          <a:noFill/>
          <a:ln w="25514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>
            <a:off x="280030" y="1610646"/>
            <a:ext cx="2251989" cy="0"/>
          </a:xfrm>
          <a:prstGeom prst="line">
            <a:avLst/>
          </a:prstGeom>
          <a:noFill/>
          <a:ln w="13119">
            <a:solidFill>
              <a:srgbClr val="606060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>
            <a:off x="3246243" y="1610646"/>
            <a:ext cx="2244701" cy="0"/>
          </a:xfrm>
          <a:prstGeom prst="line">
            <a:avLst/>
          </a:prstGeom>
          <a:noFill/>
          <a:ln w="13119">
            <a:solidFill>
              <a:srgbClr val="162656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>
            <a:off x="6197879" y="1617934"/>
            <a:ext cx="2171821" cy="0"/>
          </a:xfrm>
          <a:prstGeom prst="line">
            <a:avLst/>
          </a:prstGeom>
          <a:noFill/>
          <a:ln w="13119">
            <a:solidFill>
              <a:srgbClr val="162656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>
            <a:off x="3406579" y="4416523"/>
            <a:ext cx="2528933" cy="0"/>
          </a:xfrm>
          <a:prstGeom prst="line">
            <a:avLst/>
          </a:prstGeom>
          <a:noFill/>
          <a:ln w="13119">
            <a:solidFill>
              <a:srgbClr val="162656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>
            <a:off x="5811616" y="6041745"/>
            <a:ext cx="2565373" cy="0"/>
          </a:xfrm>
          <a:prstGeom prst="line">
            <a:avLst/>
          </a:prstGeom>
          <a:noFill/>
          <a:ln w="13119">
            <a:solidFill>
              <a:srgbClr val="162656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>
            <a:off x="9054772" y="6019881"/>
            <a:ext cx="2820453" cy="0"/>
          </a:xfrm>
          <a:prstGeom prst="line">
            <a:avLst/>
          </a:prstGeom>
          <a:noFill/>
          <a:ln w="13119">
            <a:solidFill>
              <a:srgbClr val="162656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>
            <a:off x="2655916" y="1559630"/>
            <a:ext cx="386264" cy="0"/>
          </a:xfrm>
          <a:prstGeom prst="line">
            <a:avLst/>
          </a:prstGeom>
          <a:noFill/>
          <a:ln w="25400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>
            <a:off x="5614840" y="1559630"/>
            <a:ext cx="393552" cy="0"/>
          </a:xfrm>
          <a:prstGeom prst="line">
            <a:avLst/>
          </a:prstGeom>
          <a:noFill/>
          <a:ln w="25400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>
            <a:off x="2663204" y="4431099"/>
            <a:ext cx="488295" cy="0"/>
          </a:xfrm>
          <a:prstGeom prst="line">
            <a:avLst/>
          </a:prstGeom>
          <a:noFill/>
          <a:ln w="25400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>
            <a:off x="8471733" y="1559630"/>
            <a:ext cx="488295" cy="0"/>
          </a:xfrm>
          <a:prstGeom prst="line">
            <a:avLst/>
          </a:prstGeom>
          <a:noFill/>
          <a:ln w="25400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>
            <a:off x="8960028" y="670495"/>
            <a:ext cx="0" cy="2645541"/>
          </a:xfrm>
          <a:prstGeom prst="line">
            <a:avLst/>
          </a:prstGeom>
          <a:noFill/>
          <a:ln w="25400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>
            <a:off x="8960028" y="670495"/>
            <a:ext cx="364400" cy="0"/>
          </a:xfrm>
          <a:prstGeom prst="line">
            <a:avLst/>
          </a:prstGeom>
          <a:noFill/>
          <a:ln w="25400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>
            <a:off x="8960028" y="1559630"/>
            <a:ext cx="364400" cy="0"/>
          </a:xfrm>
          <a:prstGeom prst="line">
            <a:avLst/>
          </a:prstGeom>
          <a:noFill/>
          <a:ln w="25400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00" name="Line 100"/>
          <p:cNvSpPr/>
          <p:nvPr/>
        </p:nvSpPr>
        <p:spPr>
          <a:xfrm>
            <a:off x="8960028" y="2441477"/>
            <a:ext cx="364400" cy="0"/>
          </a:xfrm>
          <a:prstGeom prst="line">
            <a:avLst/>
          </a:prstGeom>
          <a:noFill/>
          <a:ln w="25400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>
            <a:off x="8960028" y="3316036"/>
            <a:ext cx="364400" cy="0"/>
          </a:xfrm>
          <a:prstGeom prst="line">
            <a:avLst/>
          </a:prstGeom>
          <a:noFill/>
          <a:ln w="25400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>
            <a:off x="6037544" y="4431099"/>
            <a:ext cx="65592" cy="0"/>
          </a:xfrm>
          <a:prstGeom prst="line">
            <a:avLst/>
          </a:prstGeom>
          <a:noFill/>
          <a:ln w="25514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>
            <a:off x="6176016" y="4431099"/>
            <a:ext cx="65592" cy="0"/>
          </a:xfrm>
          <a:prstGeom prst="line">
            <a:avLst/>
          </a:prstGeom>
          <a:noFill/>
          <a:ln w="25514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>
            <a:off x="6314487" y="4431099"/>
            <a:ext cx="65592" cy="0"/>
          </a:xfrm>
          <a:prstGeom prst="line">
            <a:avLst/>
          </a:prstGeom>
          <a:noFill/>
          <a:ln w="25514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>
            <a:off x="6452959" y="4431099"/>
            <a:ext cx="65592" cy="0"/>
          </a:xfrm>
          <a:prstGeom prst="line">
            <a:avLst/>
          </a:prstGeom>
          <a:noFill/>
          <a:ln w="25514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>
            <a:off x="6591431" y="4431099"/>
            <a:ext cx="36440" cy="0"/>
          </a:xfrm>
          <a:prstGeom prst="line">
            <a:avLst/>
          </a:prstGeom>
          <a:noFill/>
          <a:ln w="25514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 flipV="1">
            <a:off x="6627871" y="4365507"/>
            <a:ext cx="0" cy="65592"/>
          </a:xfrm>
          <a:prstGeom prst="line">
            <a:avLst/>
          </a:prstGeom>
          <a:noFill/>
          <a:ln w="25514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 flipV="1">
            <a:off x="6627871" y="4227035"/>
            <a:ext cx="0" cy="65592"/>
          </a:xfrm>
          <a:prstGeom prst="line">
            <a:avLst/>
          </a:prstGeom>
          <a:noFill/>
          <a:ln w="25514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 flipV="1">
            <a:off x="6627871" y="4088563"/>
            <a:ext cx="0" cy="65592"/>
          </a:xfrm>
          <a:prstGeom prst="line">
            <a:avLst/>
          </a:prstGeom>
          <a:noFill/>
          <a:ln w="25514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10" name="Line 110"/>
          <p:cNvSpPr/>
          <p:nvPr/>
        </p:nvSpPr>
        <p:spPr>
          <a:xfrm flipV="1">
            <a:off x="6627871" y="3950091"/>
            <a:ext cx="0" cy="65592"/>
          </a:xfrm>
          <a:prstGeom prst="line">
            <a:avLst/>
          </a:prstGeom>
          <a:noFill/>
          <a:ln w="25514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 flipV="1">
            <a:off x="6627871" y="3811620"/>
            <a:ext cx="0" cy="65592"/>
          </a:xfrm>
          <a:prstGeom prst="line">
            <a:avLst/>
          </a:prstGeom>
          <a:noFill/>
          <a:ln w="25514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 flipV="1">
            <a:off x="6627871" y="3673148"/>
            <a:ext cx="0" cy="65592"/>
          </a:xfrm>
          <a:prstGeom prst="line">
            <a:avLst/>
          </a:prstGeom>
          <a:noFill/>
          <a:ln w="25514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13" name="Line 113"/>
          <p:cNvSpPr/>
          <p:nvPr/>
        </p:nvSpPr>
        <p:spPr>
          <a:xfrm flipV="1">
            <a:off x="6627871" y="3534676"/>
            <a:ext cx="0" cy="65592"/>
          </a:xfrm>
          <a:prstGeom prst="line">
            <a:avLst/>
          </a:prstGeom>
          <a:noFill/>
          <a:ln w="25514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14" name="Line 114"/>
          <p:cNvSpPr/>
          <p:nvPr/>
        </p:nvSpPr>
        <p:spPr>
          <a:xfrm flipV="1">
            <a:off x="6627871" y="3396204"/>
            <a:ext cx="0" cy="65592"/>
          </a:xfrm>
          <a:prstGeom prst="line">
            <a:avLst/>
          </a:prstGeom>
          <a:noFill/>
          <a:ln w="25514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15" name="Line 115"/>
          <p:cNvSpPr/>
          <p:nvPr/>
        </p:nvSpPr>
        <p:spPr>
          <a:xfrm flipV="1">
            <a:off x="6627871" y="3257732"/>
            <a:ext cx="0" cy="65592"/>
          </a:xfrm>
          <a:prstGeom prst="line">
            <a:avLst/>
          </a:prstGeom>
          <a:noFill/>
          <a:ln w="25514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16" name="Line 116"/>
          <p:cNvSpPr/>
          <p:nvPr/>
        </p:nvSpPr>
        <p:spPr>
          <a:xfrm flipV="1">
            <a:off x="6627871" y="3119260"/>
            <a:ext cx="0" cy="65592"/>
          </a:xfrm>
          <a:prstGeom prst="line">
            <a:avLst/>
          </a:prstGeom>
          <a:noFill/>
          <a:ln w="25514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 flipV="1">
            <a:off x="6627871" y="2980789"/>
            <a:ext cx="0" cy="65592"/>
          </a:xfrm>
          <a:prstGeom prst="line">
            <a:avLst/>
          </a:prstGeom>
          <a:noFill/>
          <a:ln w="25514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18" name="Line 118"/>
          <p:cNvSpPr/>
          <p:nvPr/>
        </p:nvSpPr>
        <p:spPr>
          <a:xfrm flipV="1">
            <a:off x="6627871" y="2842317"/>
            <a:ext cx="0" cy="65592"/>
          </a:xfrm>
          <a:prstGeom prst="line">
            <a:avLst/>
          </a:prstGeom>
          <a:noFill/>
          <a:ln w="25514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 flipV="1">
            <a:off x="6627871" y="2703845"/>
            <a:ext cx="0" cy="65592"/>
          </a:xfrm>
          <a:prstGeom prst="line">
            <a:avLst/>
          </a:prstGeom>
          <a:noFill/>
          <a:ln w="25514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 flipV="1">
            <a:off x="6627871" y="2565373"/>
            <a:ext cx="0" cy="65592"/>
          </a:xfrm>
          <a:prstGeom prst="line">
            <a:avLst/>
          </a:prstGeom>
          <a:noFill/>
          <a:ln w="25514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>
            <a:off x="7269214" y="2463341"/>
            <a:ext cx="0" cy="2900621"/>
          </a:xfrm>
          <a:prstGeom prst="line">
            <a:avLst/>
          </a:prstGeom>
          <a:noFill/>
          <a:ln w="25400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>
            <a:off x="10563386" y="3891787"/>
            <a:ext cx="0" cy="1450310"/>
          </a:xfrm>
          <a:prstGeom prst="line">
            <a:avLst/>
          </a:prstGeom>
          <a:noFill/>
          <a:ln w="25400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23" name="Polygon 123"/>
          <p:cNvSpPr/>
          <p:nvPr/>
        </p:nvSpPr>
        <p:spPr>
          <a:xfrm>
            <a:off x="3027603" y="1501326"/>
            <a:ext cx="116608" cy="11660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03030"/>
          </a:solidFill>
          <a:ln w="3175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24" name="Polygon 124"/>
          <p:cNvSpPr/>
          <p:nvPr/>
        </p:nvSpPr>
        <p:spPr>
          <a:xfrm>
            <a:off x="5993816" y="1501326"/>
            <a:ext cx="116608" cy="11660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03030"/>
          </a:solidFill>
          <a:ln w="3175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25" name="Polygon 125"/>
          <p:cNvSpPr/>
          <p:nvPr/>
        </p:nvSpPr>
        <p:spPr>
          <a:xfrm>
            <a:off x="3136923" y="4372795"/>
            <a:ext cx="116608" cy="11660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03030"/>
          </a:solidFill>
          <a:ln w="3175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26" name="Polygon 126"/>
          <p:cNvSpPr/>
          <p:nvPr/>
        </p:nvSpPr>
        <p:spPr>
          <a:xfrm>
            <a:off x="9309852" y="612191"/>
            <a:ext cx="116608" cy="11660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03030"/>
          </a:solidFill>
          <a:ln w="3175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27" name="Polygon 127"/>
          <p:cNvSpPr/>
          <p:nvPr/>
        </p:nvSpPr>
        <p:spPr>
          <a:xfrm>
            <a:off x="9309852" y="1501326"/>
            <a:ext cx="116608" cy="11660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03030"/>
          </a:solidFill>
          <a:ln w="3175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28" name="Polygon 128"/>
          <p:cNvSpPr/>
          <p:nvPr/>
        </p:nvSpPr>
        <p:spPr>
          <a:xfrm>
            <a:off x="9309852" y="2383173"/>
            <a:ext cx="116608" cy="11660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03030"/>
          </a:solidFill>
          <a:ln w="3175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29" name="Polygon 129"/>
          <p:cNvSpPr/>
          <p:nvPr/>
        </p:nvSpPr>
        <p:spPr>
          <a:xfrm>
            <a:off x="9309852" y="3257732"/>
            <a:ext cx="116608" cy="11660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03030"/>
          </a:solidFill>
          <a:ln w="3175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30" name="Polygon 130"/>
          <p:cNvSpPr/>
          <p:nvPr/>
        </p:nvSpPr>
        <p:spPr>
          <a:xfrm>
            <a:off x="6569567" y="2456053"/>
            <a:ext cx="116608" cy="11660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303030"/>
          </a:solidFill>
          <a:ln w="3175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31" name="Polygon 131"/>
          <p:cNvSpPr/>
          <p:nvPr/>
        </p:nvSpPr>
        <p:spPr>
          <a:xfrm>
            <a:off x="7210910" y="5349386"/>
            <a:ext cx="116608" cy="11660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03030"/>
          </a:solidFill>
          <a:ln w="3175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32" name="Polygon 132"/>
          <p:cNvSpPr/>
          <p:nvPr/>
        </p:nvSpPr>
        <p:spPr>
          <a:xfrm>
            <a:off x="10505082" y="5327522"/>
            <a:ext cx="116608" cy="11660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03030"/>
          </a:solidFill>
          <a:ln w="3175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33" name="TextBox 133"/>
          <p:cNvSpPr txBox="1"/>
          <p:nvPr/>
        </p:nvSpPr>
        <p:spPr>
          <a:xfrm>
            <a:off x="899510" y="1064047"/>
            <a:ext cx="1027607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冻结策略</a:t>
            </a:r>
            <a:endParaRPr lang="zh-CN" sz="1750"/>
          </a:p>
        </p:txBody>
      </p:sp>
      <p:sp>
        <p:nvSpPr>
          <p:cNvPr id="134" name="TextBox 134"/>
          <p:cNvSpPr txBox="1"/>
          <p:nvPr/>
        </p:nvSpPr>
        <p:spPr>
          <a:xfrm>
            <a:off x="782902" y="1843862"/>
            <a:ext cx="1260823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当前工具版本</a:t>
            </a:r>
            <a:endParaRPr lang="zh-CN" sz="1550"/>
          </a:p>
        </p:txBody>
      </p:sp>
      <p:sp>
        <p:nvSpPr>
          <p:cNvPr id="135" name="TextBox 135"/>
          <p:cNvSpPr txBox="1"/>
          <p:nvPr/>
        </p:nvSpPr>
        <p:spPr>
          <a:xfrm>
            <a:off x="3770978" y="1064047"/>
            <a:ext cx="1253535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执行前证据</a:t>
            </a:r>
            <a:endParaRPr lang="zh-CN" sz="1750"/>
          </a:p>
        </p:txBody>
      </p:sp>
      <p:sp>
        <p:nvSpPr>
          <p:cNvPr id="136" name="TextBox 136"/>
          <p:cNvSpPr txBox="1"/>
          <p:nvPr/>
        </p:nvSpPr>
        <p:spPr>
          <a:xfrm>
            <a:off x="3392003" y="1836574"/>
            <a:ext cx="1967758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上下文｜已观察历史</a:t>
            </a:r>
            <a:endParaRPr lang="zh-CN" sz="1550"/>
          </a:p>
        </p:txBody>
      </p:sp>
      <p:sp>
        <p:nvSpPr>
          <p:cNvPr id="137" name="TextBox 137"/>
          <p:cNvSpPr txBox="1"/>
          <p:nvPr/>
        </p:nvSpPr>
        <p:spPr>
          <a:xfrm>
            <a:off x="6802783" y="1064047"/>
            <a:ext cx="1034895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行动校准</a:t>
            </a:r>
            <a:endParaRPr lang="zh-CN" sz="1750"/>
          </a:p>
        </p:txBody>
      </p:sp>
      <p:sp>
        <p:nvSpPr>
          <p:cNvPr id="138" name="TextBox 138"/>
          <p:cNvSpPr txBox="1"/>
          <p:nvPr/>
        </p:nvSpPr>
        <p:spPr>
          <a:xfrm>
            <a:off x="6576855" y="1843862"/>
            <a:ext cx="1472174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动作正确性概率</a:t>
            </a:r>
            <a:endParaRPr lang="zh-CN" sz="1550"/>
          </a:p>
        </p:txBody>
      </p:sp>
      <p:sp>
        <p:nvSpPr>
          <p:cNvPr id="139" name="TextBox 139"/>
          <p:cNvSpPr txBox="1"/>
          <p:nvPr/>
        </p:nvSpPr>
        <p:spPr>
          <a:xfrm>
            <a:off x="914086" y="4197883"/>
            <a:ext cx="1158791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独立校准集</a:t>
            </a:r>
            <a:endParaRPr lang="zh-CN" sz="1600"/>
          </a:p>
        </p:txBody>
      </p:sp>
      <p:sp>
        <p:nvSpPr>
          <p:cNvPr id="140" name="TextBox 140"/>
          <p:cNvSpPr txBox="1"/>
          <p:nvPr/>
        </p:nvSpPr>
        <p:spPr>
          <a:xfrm>
            <a:off x="4047922" y="4008395"/>
            <a:ext cx="1348278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影子执行标签</a:t>
            </a:r>
            <a:endParaRPr lang="zh-CN" sz="1600"/>
          </a:p>
        </p:txBody>
      </p:sp>
      <p:sp>
        <p:nvSpPr>
          <p:cNvPr id="141" name="TextBox 141"/>
          <p:cNvSpPr txBox="1"/>
          <p:nvPr/>
        </p:nvSpPr>
        <p:spPr>
          <a:xfrm>
            <a:off x="3916738" y="4525843"/>
            <a:ext cx="1501326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仅供校准与审计</a:t>
            </a:r>
            <a:endParaRPr lang="zh-CN" sz="1550"/>
          </a:p>
        </p:txBody>
      </p:sp>
      <p:sp>
        <p:nvSpPr>
          <p:cNvPr id="142" name="TextBox 142"/>
          <p:cNvSpPr txBox="1"/>
          <p:nvPr/>
        </p:nvSpPr>
        <p:spPr>
          <a:xfrm>
            <a:off x="10388475" y="524735"/>
            <a:ext cx="575751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执行</a:t>
            </a:r>
            <a:endParaRPr lang="zh-CN" sz="1750"/>
          </a:p>
        </p:txBody>
      </p:sp>
      <p:sp>
        <p:nvSpPr>
          <p:cNvPr id="143" name="TextBox 143"/>
          <p:cNvSpPr txBox="1"/>
          <p:nvPr/>
        </p:nvSpPr>
        <p:spPr>
          <a:xfrm>
            <a:off x="10162547" y="1435734"/>
            <a:ext cx="1042183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追加验证</a:t>
            </a:r>
            <a:endParaRPr lang="zh-CN" sz="1750"/>
          </a:p>
        </p:txBody>
      </p:sp>
      <p:sp>
        <p:nvSpPr>
          <p:cNvPr id="144" name="TextBox 144"/>
          <p:cNvSpPr txBox="1"/>
          <p:nvPr/>
        </p:nvSpPr>
        <p:spPr>
          <a:xfrm>
            <a:off x="10075091" y="2295717"/>
            <a:ext cx="1224383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有限重规划</a:t>
            </a:r>
            <a:endParaRPr lang="zh-CN" sz="1750"/>
          </a:p>
        </p:txBody>
      </p:sp>
      <p:sp>
        <p:nvSpPr>
          <p:cNvPr id="145" name="TextBox 145"/>
          <p:cNvSpPr txBox="1"/>
          <p:nvPr/>
        </p:nvSpPr>
        <p:spPr>
          <a:xfrm>
            <a:off x="10395763" y="3162988"/>
            <a:ext cx="568463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拒绝</a:t>
            </a:r>
            <a:endParaRPr lang="zh-CN" sz="1750"/>
          </a:p>
        </p:txBody>
      </p:sp>
      <p:sp>
        <p:nvSpPr>
          <p:cNvPr id="146" name="TextBox 146"/>
          <p:cNvSpPr txBox="1"/>
          <p:nvPr/>
        </p:nvSpPr>
        <p:spPr>
          <a:xfrm>
            <a:off x="6700751" y="5640905"/>
            <a:ext cx="910999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概率评价</a:t>
            </a:r>
            <a:endParaRPr lang="zh-CN" sz="1550"/>
          </a:p>
        </p:txBody>
      </p:sp>
      <p:sp>
        <p:nvSpPr>
          <p:cNvPr id="147" name="TextBox 147"/>
          <p:cNvSpPr txBox="1"/>
          <p:nvPr/>
        </p:nvSpPr>
        <p:spPr>
          <a:xfrm>
            <a:off x="6562279" y="6158353"/>
            <a:ext cx="1064047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Brier／NLL</a:t>
            </a:r>
            <a:endParaRPr lang="zh-CN" sz="1500"/>
          </a:p>
        </p:txBody>
      </p:sp>
      <p:sp>
        <p:nvSpPr>
          <p:cNvPr id="148" name="TextBox 148"/>
          <p:cNvSpPr txBox="1"/>
          <p:nvPr/>
        </p:nvSpPr>
        <p:spPr>
          <a:xfrm>
            <a:off x="10045939" y="5619041"/>
            <a:ext cx="925575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任务评价</a:t>
            </a:r>
            <a:endParaRPr lang="zh-CN" sz="1550"/>
          </a:p>
        </p:txBody>
      </p:sp>
      <p:sp>
        <p:nvSpPr>
          <p:cNvPr id="149" name="TextBox 149"/>
          <p:cNvSpPr txBox="1"/>
          <p:nvPr/>
        </p:nvSpPr>
        <p:spPr>
          <a:xfrm>
            <a:off x="9091212" y="6143777"/>
            <a:ext cx="2703845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风险｜覆盖率｜完成率｜成本</a:t>
            </a:r>
            <a:endParaRPr lang="zh-CN" sz="15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214438" y="145760"/>
            <a:ext cx="2718421" cy="1224383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29146">
            <a:solidFill>
              <a:srgbClr val="5096CC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3268107" y="145760"/>
            <a:ext cx="2667405" cy="1224383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29146">
            <a:solidFill>
              <a:srgbClr val="659ECF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6241607" y="145760"/>
            <a:ext cx="2689269" cy="1224383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29146">
            <a:solidFill>
              <a:srgbClr val="A4A4A6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9266124" y="145760"/>
            <a:ext cx="2696557" cy="1224383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29146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367486" y="284232"/>
            <a:ext cx="357112" cy="349824"/>
          </a:xfrm>
          <a:prstGeom prst="rect">
            <a:avLst/>
          </a:prstGeom>
          <a:solidFill>
            <a:srgbClr val="FFFFFF"/>
          </a:solidFill>
          <a:ln w="18948">
            <a:solidFill>
              <a:srgbClr val="0867A9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3428443" y="284232"/>
            <a:ext cx="357112" cy="349824"/>
          </a:xfrm>
          <a:prstGeom prst="rect">
            <a:avLst/>
          </a:prstGeom>
          <a:solidFill>
            <a:srgbClr val="FFFFFF"/>
          </a:solidFill>
          <a:ln w="18948">
            <a:solidFill>
              <a:srgbClr val="0765A7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6394655" y="284232"/>
            <a:ext cx="349824" cy="349824"/>
          </a:xfrm>
          <a:prstGeom prst="rect">
            <a:avLst/>
          </a:prstGeom>
          <a:solidFill>
            <a:srgbClr val="FFFFFF"/>
          </a:solidFill>
          <a:ln w="18948">
            <a:solidFill>
              <a:srgbClr val="98989A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9419172" y="284232"/>
            <a:ext cx="349824" cy="349824"/>
          </a:xfrm>
          <a:prstGeom prst="rect">
            <a:avLst/>
          </a:prstGeom>
          <a:solidFill>
            <a:srgbClr val="FFFFFF"/>
          </a:solidFill>
          <a:ln w="18948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207150" y="1683526"/>
            <a:ext cx="7477479" cy="2988077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9146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7968861" y="1683526"/>
            <a:ext cx="3993819" cy="2988077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9146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8194789" y="2405037"/>
            <a:ext cx="429991" cy="444567"/>
          </a:xfrm>
          <a:prstGeom prst="rect">
            <a:avLst/>
          </a:prstGeom>
          <a:solidFill>
            <a:srgbClr val="FFFFFF"/>
          </a:solidFill>
          <a:ln w="18224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8194789" y="3228580"/>
            <a:ext cx="429991" cy="444567"/>
          </a:xfrm>
          <a:prstGeom prst="rect">
            <a:avLst/>
          </a:prstGeom>
          <a:solidFill>
            <a:srgbClr val="FFFFFF"/>
          </a:solidFill>
          <a:ln w="18224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8194789" y="4066699"/>
            <a:ext cx="429991" cy="444567"/>
          </a:xfrm>
          <a:prstGeom prst="rect">
            <a:avLst/>
          </a:prstGeom>
          <a:solidFill>
            <a:srgbClr val="FFFFFF"/>
          </a:solidFill>
          <a:ln w="18224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207150" y="4919394"/>
            <a:ext cx="11755530" cy="1654374"/>
          </a:xfrm>
          <a:prstGeom prst="roundRect">
            <a:avLst>
              <a:gd name="adj" fmla="val 4405"/>
            </a:avLst>
          </a:prstGeom>
          <a:solidFill>
            <a:srgbClr val="FFFFFF"/>
          </a:solidFill>
          <a:ln w="29146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527822" y="5414978"/>
            <a:ext cx="415416" cy="429991"/>
          </a:xfrm>
          <a:prstGeom prst="rect">
            <a:avLst/>
          </a:prstGeom>
          <a:solidFill>
            <a:srgbClr val="FFFFFF"/>
          </a:solidFill>
          <a:ln w="18948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3945890" y="5414978"/>
            <a:ext cx="415416" cy="429991"/>
          </a:xfrm>
          <a:prstGeom prst="rect">
            <a:avLst/>
          </a:prstGeom>
          <a:solidFill>
            <a:srgbClr val="FFFFFF"/>
          </a:solidFill>
          <a:ln w="18948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6992271" y="5414978"/>
            <a:ext cx="415416" cy="429991"/>
          </a:xfrm>
          <a:prstGeom prst="rect">
            <a:avLst/>
          </a:prstGeom>
          <a:solidFill>
            <a:srgbClr val="FFFFFF"/>
          </a:solidFill>
          <a:ln w="18948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10075091" y="5414978"/>
            <a:ext cx="408128" cy="429991"/>
          </a:xfrm>
          <a:prstGeom prst="rect">
            <a:avLst/>
          </a:prstGeom>
          <a:solidFill>
            <a:srgbClr val="FFFFFF"/>
          </a:solidFill>
          <a:ln w="18948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214438" y="772527"/>
            <a:ext cx="2718421" cy="0"/>
          </a:xfrm>
          <a:prstGeom prst="line">
            <a:avLst/>
          </a:prstGeom>
          <a:noFill/>
          <a:ln w="14579">
            <a:solidFill>
              <a:srgbClr val="5096CC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3268107" y="772527"/>
            <a:ext cx="2667405" cy="0"/>
          </a:xfrm>
          <a:prstGeom prst="line">
            <a:avLst/>
          </a:prstGeom>
          <a:noFill/>
          <a:ln w="14579">
            <a:solidFill>
              <a:srgbClr val="5096CC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6241607" y="772527"/>
            <a:ext cx="2689269" cy="0"/>
          </a:xfrm>
          <a:prstGeom prst="line">
            <a:avLst/>
          </a:prstGeom>
          <a:noFill/>
          <a:ln w="14579">
            <a:solidFill>
              <a:srgbClr val="5096CC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9266124" y="772527"/>
            <a:ext cx="2696557" cy="0"/>
          </a:xfrm>
          <a:prstGeom prst="line">
            <a:avLst/>
          </a:prstGeom>
          <a:noFill/>
          <a:ln w="14579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207150" y="2193685"/>
            <a:ext cx="7477479" cy="0"/>
          </a:xfrm>
          <a:prstGeom prst="line">
            <a:avLst/>
          </a:prstGeom>
          <a:noFill/>
          <a:ln w="14579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207150" y="2703845"/>
            <a:ext cx="7477479" cy="0"/>
          </a:xfrm>
          <a:prstGeom prst="line">
            <a:avLst/>
          </a:prstGeom>
          <a:noFill/>
          <a:ln w="14579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207150" y="3658572"/>
            <a:ext cx="7477479" cy="0"/>
          </a:xfrm>
          <a:prstGeom prst="line">
            <a:avLst/>
          </a:prstGeom>
          <a:noFill/>
          <a:ln w="14579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1854237" y="2193685"/>
            <a:ext cx="0" cy="2477917"/>
          </a:xfrm>
          <a:prstGeom prst="line">
            <a:avLst/>
          </a:prstGeom>
          <a:noFill/>
          <a:ln w="14579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4660113" y="2193685"/>
            <a:ext cx="0" cy="2477917"/>
          </a:xfrm>
          <a:prstGeom prst="line">
            <a:avLst/>
          </a:prstGeom>
          <a:noFill/>
          <a:ln w="14579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7968861" y="2200973"/>
            <a:ext cx="3993819" cy="0"/>
          </a:xfrm>
          <a:prstGeom prst="line">
            <a:avLst/>
          </a:prstGeom>
          <a:noFill/>
          <a:ln w="14579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7968861" y="3017228"/>
            <a:ext cx="3993819" cy="0"/>
          </a:xfrm>
          <a:prstGeom prst="line">
            <a:avLst/>
          </a:prstGeom>
          <a:noFill/>
          <a:ln w="14579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7968861" y="3862635"/>
            <a:ext cx="3993819" cy="0"/>
          </a:xfrm>
          <a:prstGeom prst="line">
            <a:avLst/>
          </a:prstGeom>
          <a:noFill/>
          <a:ln w="14579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207150" y="6078185"/>
            <a:ext cx="11755530" cy="0"/>
          </a:xfrm>
          <a:prstGeom prst="line">
            <a:avLst/>
          </a:prstGeom>
          <a:noFill/>
          <a:ln w="14579">
            <a:solidFill>
              <a:srgbClr val="07386B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2400836" y="5640905"/>
            <a:ext cx="94744" cy="0"/>
          </a:xfrm>
          <a:prstGeom prst="line">
            <a:avLst/>
          </a:prstGeom>
          <a:noFill/>
          <a:ln w="25514">
            <a:solidFill>
              <a:srgbClr val="222222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2597612" y="5640905"/>
            <a:ext cx="94744" cy="0"/>
          </a:xfrm>
          <a:prstGeom prst="line">
            <a:avLst/>
          </a:prstGeom>
          <a:noFill/>
          <a:ln w="25514">
            <a:solidFill>
              <a:srgbClr val="222222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2794387" y="5640905"/>
            <a:ext cx="94744" cy="0"/>
          </a:xfrm>
          <a:prstGeom prst="line">
            <a:avLst/>
          </a:prstGeom>
          <a:noFill/>
          <a:ln w="25514">
            <a:solidFill>
              <a:srgbClr val="222222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2991163" y="5640905"/>
            <a:ext cx="94744" cy="0"/>
          </a:xfrm>
          <a:prstGeom prst="line">
            <a:avLst/>
          </a:prstGeom>
          <a:noFill/>
          <a:ln w="25514">
            <a:solidFill>
              <a:srgbClr val="222222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3187939" y="5640905"/>
            <a:ext cx="94744" cy="0"/>
          </a:xfrm>
          <a:prstGeom prst="line">
            <a:avLst/>
          </a:prstGeom>
          <a:noFill/>
          <a:ln w="25514">
            <a:solidFill>
              <a:srgbClr val="222222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3384715" y="5640905"/>
            <a:ext cx="94744" cy="0"/>
          </a:xfrm>
          <a:prstGeom prst="line">
            <a:avLst/>
          </a:prstGeom>
          <a:noFill/>
          <a:ln w="25514">
            <a:solidFill>
              <a:srgbClr val="222222"/>
            </a:solidFill>
          </a:ln>
        </p:spPr>
        <p:txBody>
          <a:bodyPr/>
          <a:lstStyle/>
          <a:p/>
        </p:txBody>
      </p:sp>
      <p:sp>
        <p:nvSpPr>
          <p:cNvPr id="39" name="Polygon 39"/>
          <p:cNvSpPr/>
          <p:nvPr/>
        </p:nvSpPr>
        <p:spPr>
          <a:xfrm>
            <a:off x="3552339" y="5560738"/>
            <a:ext cx="123896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lnTo>
                  <a:pt x="3812" y="10800"/>
                </a:lnTo>
                <a:close/>
              </a:path>
            </a:pathLst>
          </a:custGeom>
          <a:solidFill>
            <a:srgbClr val="222222"/>
          </a:solidFill>
          <a:ln w="6350">
            <a:solidFill>
              <a:srgbClr val="222222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5782464" y="5640905"/>
            <a:ext cx="94744" cy="0"/>
          </a:xfrm>
          <a:prstGeom prst="line">
            <a:avLst/>
          </a:prstGeom>
          <a:noFill/>
          <a:ln w="25514">
            <a:solidFill>
              <a:srgbClr val="222222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5979240" y="5640905"/>
            <a:ext cx="94744" cy="0"/>
          </a:xfrm>
          <a:prstGeom prst="line">
            <a:avLst/>
          </a:prstGeom>
          <a:noFill/>
          <a:ln w="25514">
            <a:solidFill>
              <a:srgbClr val="222222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6176016" y="5640905"/>
            <a:ext cx="94744" cy="0"/>
          </a:xfrm>
          <a:prstGeom prst="line">
            <a:avLst/>
          </a:prstGeom>
          <a:noFill/>
          <a:ln w="25514">
            <a:solidFill>
              <a:srgbClr val="222222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6372791" y="5640905"/>
            <a:ext cx="94744" cy="0"/>
          </a:xfrm>
          <a:prstGeom prst="line">
            <a:avLst/>
          </a:prstGeom>
          <a:noFill/>
          <a:ln w="25514">
            <a:solidFill>
              <a:srgbClr val="222222"/>
            </a:solidFill>
          </a:ln>
        </p:spPr>
        <p:txBody>
          <a:bodyPr/>
          <a:lstStyle/>
          <a:p/>
        </p:txBody>
      </p:sp>
      <p:sp>
        <p:nvSpPr>
          <p:cNvPr id="44" name="Polygon 44"/>
          <p:cNvSpPr/>
          <p:nvPr/>
        </p:nvSpPr>
        <p:spPr>
          <a:xfrm>
            <a:off x="6598719" y="5560738"/>
            <a:ext cx="123896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lnTo>
                  <a:pt x="3812" y="10800"/>
                </a:lnTo>
                <a:close/>
              </a:path>
            </a:pathLst>
          </a:custGeom>
          <a:solidFill>
            <a:srgbClr val="222222"/>
          </a:solidFill>
          <a:ln w="6350">
            <a:solidFill>
              <a:srgbClr val="222222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8872572" y="5640905"/>
            <a:ext cx="94744" cy="0"/>
          </a:xfrm>
          <a:prstGeom prst="line">
            <a:avLst/>
          </a:prstGeom>
          <a:noFill/>
          <a:ln w="25514">
            <a:solidFill>
              <a:srgbClr val="222222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9069348" y="5640905"/>
            <a:ext cx="94744" cy="0"/>
          </a:xfrm>
          <a:prstGeom prst="line">
            <a:avLst/>
          </a:prstGeom>
          <a:noFill/>
          <a:ln w="25514">
            <a:solidFill>
              <a:srgbClr val="222222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9266124" y="5640905"/>
            <a:ext cx="94744" cy="0"/>
          </a:xfrm>
          <a:prstGeom prst="line">
            <a:avLst/>
          </a:prstGeom>
          <a:noFill/>
          <a:ln w="25514">
            <a:solidFill>
              <a:srgbClr val="222222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9462900" y="5640905"/>
            <a:ext cx="94744" cy="0"/>
          </a:xfrm>
          <a:prstGeom prst="line">
            <a:avLst/>
          </a:prstGeom>
          <a:noFill/>
          <a:ln w="25514">
            <a:solidFill>
              <a:srgbClr val="222222"/>
            </a:solidFill>
          </a:ln>
        </p:spPr>
        <p:txBody>
          <a:bodyPr/>
          <a:lstStyle/>
          <a:p/>
        </p:txBody>
      </p:sp>
      <p:sp>
        <p:nvSpPr>
          <p:cNvPr id="49" name="Polygon 49"/>
          <p:cNvSpPr/>
          <p:nvPr/>
        </p:nvSpPr>
        <p:spPr>
          <a:xfrm>
            <a:off x="9681539" y="5560738"/>
            <a:ext cx="123896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lnTo>
                  <a:pt x="3812" y="10800"/>
                </a:lnTo>
                <a:close/>
              </a:path>
            </a:pathLst>
          </a:custGeom>
          <a:solidFill>
            <a:srgbClr val="222222"/>
          </a:solidFill>
          <a:ln w="6350">
            <a:solidFill>
              <a:srgbClr val="222222"/>
            </a:solidFill>
          </a:ln>
        </p:spPr>
        <p:txBody>
          <a:bodyPr/>
          <a:lstStyle/>
          <a:p/>
        </p:txBody>
      </p:sp>
      <p:sp>
        <p:nvSpPr>
          <p:cNvPr id="50" name="TextBox 50"/>
          <p:cNvSpPr txBox="1"/>
          <p:nvPr/>
        </p:nvSpPr>
        <p:spPr>
          <a:xfrm>
            <a:off x="1169165" y="276944"/>
            <a:ext cx="87455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训练集</a:t>
            </a:r>
            <a:endParaRPr lang="zh-CN" sz="2100"/>
          </a:p>
        </p:txBody>
      </p:sp>
      <p:sp>
        <p:nvSpPr>
          <p:cNvPr id="51" name="TextBox 51"/>
          <p:cNvSpPr txBox="1"/>
          <p:nvPr/>
        </p:nvSpPr>
        <p:spPr>
          <a:xfrm>
            <a:off x="4200970" y="276944"/>
            <a:ext cx="867271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开发集</a:t>
            </a:r>
            <a:endParaRPr lang="zh-CN" sz="2100"/>
          </a:p>
        </p:txBody>
      </p:sp>
      <p:sp>
        <p:nvSpPr>
          <p:cNvPr id="52" name="TextBox 52"/>
          <p:cNvSpPr txBox="1"/>
          <p:nvPr/>
        </p:nvSpPr>
        <p:spPr>
          <a:xfrm>
            <a:off x="7152606" y="276944"/>
            <a:ext cx="87455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校准集</a:t>
            </a:r>
            <a:endParaRPr lang="zh-CN" sz="2100"/>
          </a:p>
        </p:txBody>
      </p:sp>
      <p:sp>
        <p:nvSpPr>
          <p:cNvPr id="53" name="TextBox 53"/>
          <p:cNvSpPr txBox="1"/>
          <p:nvPr/>
        </p:nvSpPr>
        <p:spPr>
          <a:xfrm>
            <a:off x="10198987" y="276944"/>
            <a:ext cx="87455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测试集</a:t>
            </a:r>
            <a:endParaRPr lang="zh-CN" sz="2100"/>
          </a:p>
        </p:txBody>
      </p:sp>
      <p:sp>
        <p:nvSpPr>
          <p:cNvPr id="54" name="TextBox 54"/>
          <p:cNvSpPr txBox="1"/>
          <p:nvPr/>
        </p:nvSpPr>
        <p:spPr>
          <a:xfrm>
            <a:off x="1074421" y="889135"/>
            <a:ext cx="947439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参数学习</a:t>
            </a:r>
            <a:endParaRPr lang="zh-CN" sz="1750"/>
          </a:p>
        </p:txBody>
      </p:sp>
      <p:sp>
        <p:nvSpPr>
          <p:cNvPr id="55" name="TextBox 55"/>
          <p:cNvSpPr txBox="1"/>
          <p:nvPr/>
        </p:nvSpPr>
        <p:spPr>
          <a:xfrm>
            <a:off x="3989618" y="889135"/>
            <a:ext cx="1180655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选择与探测</a:t>
            </a:r>
            <a:endParaRPr lang="zh-CN" sz="1750"/>
          </a:p>
        </p:txBody>
      </p:sp>
      <p:sp>
        <p:nvSpPr>
          <p:cNvPr id="56" name="TextBox 56"/>
          <p:cNvSpPr txBox="1"/>
          <p:nvPr/>
        </p:nvSpPr>
        <p:spPr>
          <a:xfrm>
            <a:off x="6933967" y="889135"/>
            <a:ext cx="1187943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冻结后校准</a:t>
            </a:r>
            <a:endParaRPr lang="zh-CN" sz="1750"/>
          </a:p>
        </p:txBody>
      </p:sp>
      <p:sp>
        <p:nvSpPr>
          <p:cNvPr id="57" name="TextBox 57"/>
          <p:cNvSpPr txBox="1"/>
          <p:nvPr/>
        </p:nvSpPr>
        <p:spPr>
          <a:xfrm>
            <a:off x="10242715" y="889135"/>
            <a:ext cx="743375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仅评价</a:t>
            </a:r>
            <a:endParaRPr lang="zh-CN" sz="1750"/>
          </a:p>
        </p:txBody>
      </p:sp>
      <p:sp>
        <p:nvSpPr>
          <p:cNvPr id="58" name="TextBox 58"/>
          <p:cNvSpPr txBox="1"/>
          <p:nvPr/>
        </p:nvSpPr>
        <p:spPr>
          <a:xfrm>
            <a:off x="2415412" y="1741830"/>
            <a:ext cx="265282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相关错误 × 回放剂量</a:t>
            </a:r>
            <a:endParaRPr lang="zh-CN" sz="2100"/>
          </a:p>
        </p:txBody>
      </p:sp>
      <p:sp>
        <p:nvSpPr>
          <p:cNvPr id="59" name="TextBox 59"/>
          <p:cNvSpPr txBox="1"/>
          <p:nvPr/>
        </p:nvSpPr>
        <p:spPr>
          <a:xfrm>
            <a:off x="9331716" y="1756406"/>
            <a:ext cx="112963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匹配条件</a:t>
            </a:r>
            <a:endParaRPr lang="zh-CN" sz="2100"/>
          </a:p>
        </p:txBody>
      </p:sp>
      <p:sp>
        <p:nvSpPr>
          <p:cNvPr id="60" name="TextBox 60"/>
          <p:cNvSpPr txBox="1"/>
          <p:nvPr/>
        </p:nvSpPr>
        <p:spPr>
          <a:xfrm>
            <a:off x="2699644" y="2295717"/>
            <a:ext cx="1115063" cy="335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错误回放低</a:t>
            </a:r>
            <a:endParaRPr lang="zh-CN" sz="1750"/>
          </a:p>
        </p:txBody>
      </p:sp>
      <p:sp>
        <p:nvSpPr>
          <p:cNvPr id="61" name="TextBox 61"/>
          <p:cNvSpPr txBox="1"/>
          <p:nvPr/>
        </p:nvSpPr>
        <p:spPr>
          <a:xfrm>
            <a:off x="5498232" y="2295717"/>
            <a:ext cx="1107775" cy="335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39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错误回放高</a:t>
            </a:r>
            <a:endParaRPr lang="zh-CN" sz="1739"/>
          </a:p>
        </p:txBody>
      </p:sp>
      <p:sp>
        <p:nvSpPr>
          <p:cNvPr id="62" name="TextBox 62"/>
          <p:cNvSpPr txBox="1"/>
          <p:nvPr/>
        </p:nvSpPr>
        <p:spPr>
          <a:xfrm>
            <a:off x="535110" y="2988077"/>
            <a:ext cx="991167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相关性低</a:t>
            </a:r>
            <a:endParaRPr lang="zh-CN" sz="1750"/>
          </a:p>
        </p:txBody>
      </p:sp>
      <p:sp>
        <p:nvSpPr>
          <p:cNvPr id="63" name="TextBox 63"/>
          <p:cNvSpPr txBox="1"/>
          <p:nvPr/>
        </p:nvSpPr>
        <p:spPr>
          <a:xfrm>
            <a:off x="2910995" y="2988077"/>
            <a:ext cx="743375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条件 A</a:t>
            </a:r>
            <a:endParaRPr lang="zh-CN" sz="1750"/>
          </a:p>
        </p:txBody>
      </p:sp>
      <p:sp>
        <p:nvSpPr>
          <p:cNvPr id="64" name="TextBox 64"/>
          <p:cNvSpPr txBox="1"/>
          <p:nvPr/>
        </p:nvSpPr>
        <p:spPr>
          <a:xfrm>
            <a:off x="5716872" y="2988077"/>
            <a:ext cx="728799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条件 B</a:t>
            </a:r>
            <a:endParaRPr lang="zh-CN" sz="1750"/>
          </a:p>
        </p:txBody>
      </p:sp>
      <p:sp>
        <p:nvSpPr>
          <p:cNvPr id="65" name="TextBox 65"/>
          <p:cNvSpPr txBox="1"/>
          <p:nvPr/>
        </p:nvSpPr>
        <p:spPr>
          <a:xfrm>
            <a:off x="542398" y="3964667"/>
            <a:ext cx="983879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相关性高</a:t>
            </a:r>
            <a:endParaRPr lang="zh-CN" sz="1750"/>
          </a:p>
        </p:txBody>
      </p:sp>
      <p:sp>
        <p:nvSpPr>
          <p:cNvPr id="66" name="TextBox 66"/>
          <p:cNvSpPr txBox="1"/>
          <p:nvPr/>
        </p:nvSpPr>
        <p:spPr>
          <a:xfrm>
            <a:off x="2903707" y="3964667"/>
            <a:ext cx="736087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条件 C</a:t>
            </a:r>
            <a:endParaRPr lang="zh-CN" sz="1750"/>
          </a:p>
        </p:txBody>
      </p:sp>
      <p:sp>
        <p:nvSpPr>
          <p:cNvPr id="67" name="TextBox 67"/>
          <p:cNvSpPr txBox="1"/>
          <p:nvPr/>
        </p:nvSpPr>
        <p:spPr>
          <a:xfrm>
            <a:off x="5709584" y="3964667"/>
            <a:ext cx="743375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条件 D</a:t>
            </a:r>
            <a:endParaRPr lang="zh-CN" sz="1750"/>
          </a:p>
        </p:txBody>
      </p:sp>
      <p:sp>
        <p:nvSpPr>
          <p:cNvPr id="68" name="TextBox 68"/>
          <p:cNvSpPr txBox="1"/>
          <p:nvPr/>
        </p:nvSpPr>
        <p:spPr>
          <a:xfrm>
            <a:off x="8909012" y="2434189"/>
            <a:ext cx="1231671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边际错误率</a:t>
            </a:r>
            <a:endParaRPr lang="zh-CN" sz="1750"/>
          </a:p>
        </p:txBody>
      </p:sp>
      <p:sp>
        <p:nvSpPr>
          <p:cNvPr id="69" name="TextBox 69"/>
          <p:cNvSpPr txBox="1"/>
          <p:nvPr/>
        </p:nvSpPr>
        <p:spPr>
          <a:xfrm>
            <a:off x="8909012" y="3279596"/>
            <a:ext cx="1217095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任务与难度</a:t>
            </a:r>
            <a:endParaRPr lang="zh-CN" sz="1750"/>
          </a:p>
        </p:txBody>
      </p:sp>
      <p:sp>
        <p:nvSpPr>
          <p:cNvPr id="70" name="TextBox 70"/>
          <p:cNvSpPr txBox="1"/>
          <p:nvPr/>
        </p:nvSpPr>
        <p:spPr>
          <a:xfrm>
            <a:off x="8909012" y="4103139"/>
            <a:ext cx="1217095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总训练成本</a:t>
            </a:r>
            <a:endParaRPr lang="zh-CN" sz="1750"/>
          </a:p>
        </p:txBody>
      </p:sp>
      <p:sp>
        <p:nvSpPr>
          <p:cNvPr id="71" name="TextBox 71"/>
          <p:cNvSpPr txBox="1"/>
          <p:nvPr/>
        </p:nvSpPr>
        <p:spPr>
          <a:xfrm>
            <a:off x="5439928" y="4977698"/>
            <a:ext cx="1107775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机制终点</a:t>
            </a:r>
            <a:endParaRPr lang="zh-CN" sz="2100"/>
          </a:p>
        </p:txBody>
      </p:sp>
      <p:sp>
        <p:nvSpPr>
          <p:cNvPr id="72" name="TextBox 72"/>
          <p:cNvSpPr txBox="1"/>
          <p:nvPr/>
        </p:nvSpPr>
        <p:spPr>
          <a:xfrm>
            <a:off x="1191029" y="5473282"/>
            <a:ext cx="954727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入选偏差</a:t>
            </a:r>
            <a:endParaRPr lang="zh-CN" sz="1750"/>
          </a:p>
        </p:txBody>
      </p:sp>
      <p:sp>
        <p:nvSpPr>
          <p:cNvPr id="73" name="TextBox 73"/>
          <p:cNvSpPr txBox="1"/>
          <p:nvPr/>
        </p:nvSpPr>
        <p:spPr>
          <a:xfrm>
            <a:off x="4616385" y="5473282"/>
            <a:ext cx="954727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回放暴露</a:t>
            </a:r>
            <a:endParaRPr lang="zh-CN" sz="1750"/>
          </a:p>
        </p:txBody>
      </p:sp>
      <p:sp>
        <p:nvSpPr>
          <p:cNvPr id="74" name="TextBox 74"/>
          <p:cNvSpPr txBox="1"/>
          <p:nvPr/>
        </p:nvSpPr>
        <p:spPr>
          <a:xfrm>
            <a:off x="7662766" y="5473282"/>
            <a:ext cx="954727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更新干扰</a:t>
            </a:r>
            <a:endParaRPr lang="zh-CN" sz="1750"/>
          </a:p>
        </p:txBody>
      </p:sp>
      <p:sp>
        <p:nvSpPr>
          <p:cNvPr id="75" name="TextBox 75"/>
          <p:cNvSpPr txBox="1"/>
          <p:nvPr/>
        </p:nvSpPr>
        <p:spPr>
          <a:xfrm>
            <a:off x="10716434" y="5473282"/>
            <a:ext cx="947439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历史损失</a:t>
            </a:r>
            <a:endParaRPr lang="zh-CN" sz="1750"/>
          </a:p>
        </p:txBody>
      </p:sp>
      <p:sp>
        <p:nvSpPr>
          <p:cNvPr id="76" name="TextBox 76"/>
          <p:cNvSpPr txBox="1"/>
          <p:nvPr/>
        </p:nvSpPr>
        <p:spPr>
          <a:xfrm>
            <a:off x="5265017" y="6136489"/>
            <a:ext cx="1406582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拟检验关系</a:t>
            </a:r>
            <a:endParaRPr lang="zh-CN"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7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
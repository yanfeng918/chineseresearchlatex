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4630400" cy="97536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457200" y="2314575"/>
            <a:ext cx="3314700" cy="1990725"/>
          </a:xfrm>
          <a:prstGeom prst="rect">
            <a:avLst/>
          </a:prstGeom>
          <a:solidFill>
            <a:srgbClr val="FFFFFF"/>
          </a:solidFill>
          <a:ln w="50800">
            <a:solidFill>
              <a:srgbClr val="327FB7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466725" y="5181600"/>
            <a:ext cx="3305175" cy="1990725"/>
          </a:xfrm>
          <a:prstGeom prst="rect">
            <a:avLst/>
          </a:prstGeom>
          <a:solidFill>
            <a:srgbClr val="FFFFFF"/>
          </a:solidFill>
          <a:ln w="50800">
            <a:solidFill>
              <a:srgbClr val="327FB7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5610225" y="3552825"/>
            <a:ext cx="3419475" cy="2219325"/>
          </a:xfrm>
          <a:prstGeom prst="roundRect">
            <a:avLst>
              <a:gd name="adj" fmla="val 7725"/>
            </a:avLst>
          </a:prstGeom>
          <a:solidFill>
            <a:srgbClr val="FFFFFF"/>
          </a:solidFill>
          <a:ln w="50800">
            <a:solidFill>
              <a:srgbClr val="234F77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10858500" y="2085975"/>
            <a:ext cx="3333750" cy="1381125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50800">
            <a:solidFill>
              <a:srgbClr val="234F77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10858500" y="3943350"/>
            <a:ext cx="3333750" cy="1381125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50800">
            <a:solidFill>
              <a:srgbClr val="234F77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10858500" y="5753100"/>
            <a:ext cx="3333750" cy="1381125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50800">
            <a:solidFill>
              <a:srgbClr val="234F77"/>
            </a:solidFill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714375" y="3067050"/>
            <a:ext cx="2809875" cy="657225"/>
          </a:xfrm>
          <a:prstGeom prst="rect">
            <a:avLst/>
          </a:prstGeom>
          <a:solidFill>
            <a:srgbClr val="FFFFFF"/>
          </a:solidFill>
          <a:ln w="21590">
            <a:solidFill>
              <a:srgbClr val="327FB7"/>
            </a:solidFill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714375" y="5934075"/>
            <a:ext cx="2809875" cy="657225"/>
          </a:xfrm>
          <a:prstGeom prst="rect">
            <a:avLst/>
          </a:prstGeom>
          <a:solidFill>
            <a:srgbClr val="FFFFFF"/>
          </a:solidFill>
          <a:ln w="21590">
            <a:solidFill>
              <a:srgbClr val="327FB7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1647825" y="3067050"/>
            <a:ext cx="0" cy="657225"/>
          </a:xfrm>
          <a:prstGeom prst="line">
            <a:avLst/>
          </a:prstGeom>
          <a:noFill/>
          <a:ln w="21590">
            <a:solidFill>
              <a:srgbClr val="327FB7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2590800" y="3067050"/>
            <a:ext cx="0" cy="657225"/>
          </a:xfrm>
          <a:prstGeom prst="line">
            <a:avLst/>
          </a:prstGeom>
          <a:noFill/>
          <a:ln w="21590">
            <a:solidFill>
              <a:srgbClr val="327FB7"/>
            </a:solidFill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>
            <a:off x="714375" y="3395662"/>
            <a:ext cx="2809875" cy="0"/>
          </a:xfrm>
          <a:prstGeom prst="line">
            <a:avLst/>
          </a:prstGeom>
          <a:noFill/>
          <a:ln w="21590">
            <a:solidFill>
              <a:srgbClr val="327FB7"/>
            </a:solidFill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>
            <a:off x="1647825" y="5934075"/>
            <a:ext cx="0" cy="657225"/>
          </a:xfrm>
          <a:prstGeom prst="line">
            <a:avLst/>
          </a:prstGeom>
          <a:noFill/>
          <a:ln w="21590">
            <a:solidFill>
              <a:srgbClr val="327FB7"/>
            </a:solidFill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>
            <a:off x="2590800" y="5934075"/>
            <a:ext cx="0" cy="657225"/>
          </a:xfrm>
          <a:prstGeom prst="line">
            <a:avLst/>
          </a:prstGeom>
          <a:noFill/>
          <a:ln w="21590">
            <a:solidFill>
              <a:srgbClr val="327FB7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714375" y="6262688"/>
            <a:ext cx="2809875" cy="0"/>
          </a:xfrm>
          <a:prstGeom prst="line">
            <a:avLst/>
          </a:prstGeom>
          <a:noFill/>
          <a:ln w="21590">
            <a:solidFill>
              <a:srgbClr val="327FB7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>
            <a:off x="6515100" y="4657725"/>
            <a:ext cx="1609725" cy="0"/>
          </a:xfrm>
          <a:prstGeom prst="line">
            <a:avLst/>
          </a:prstGeom>
          <a:noFill/>
          <a:ln w="35560">
            <a:solidFill>
              <a:srgbClr val="327FB7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>
            <a:off x="6515100" y="4876800"/>
            <a:ext cx="1609725" cy="0"/>
          </a:xfrm>
          <a:prstGeom prst="line">
            <a:avLst/>
          </a:prstGeom>
          <a:noFill/>
          <a:ln w="35560">
            <a:solidFill>
              <a:srgbClr val="327FB7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>
            <a:off x="11172825" y="2771775"/>
            <a:ext cx="542925" cy="0"/>
          </a:xfrm>
          <a:prstGeom prst="line">
            <a:avLst/>
          </a:prstGeom>
          <a:noFill/>
          <a:ln w="43180">
            <a:solidFill>
              <a:srgbClr val="0C5289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11172825" y="4533900"/>
            <a:ext cx="542925" cy="0"/>
          </a:xfrm>
          <a:prstGeom prst="line">
            <a:avLst/>
          </a:prstGeom>
          <a:noFill/>
          <a:ln w="43180">
            <a:solidFill>
              <a:srgbClr val="0C5289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>
            <a:off x="11172825" y="4714875"/>
            <a:ext cx="542925" cy="0"/>
          </a:xfrm>
          <a:prstGeom prst="line">
            <a:avLst/>
          </a:prstGeom>
          <a:noFill/>
          <a:ln w="43180">
            <a:solidFill>
              <a:srgbClr val="0C5289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11172825" y="6286500"/>
            <a:ext cx="542925" cy="0"/>
          </a:xfrm>
          <a:prstGeom prst="line">
            <a:avLst/>
          </a:prstGeom>
          <a:noFill/>
          <a:ln w="43180">
            <a:solidFill>
              <a:srgbClr val="0C5289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11172825" y="6467475"/>
            <a:ext cx="542925" cy="0"/>
          </a:xfrm>
          <a:prstGeom prst="line">
            <a:avLst/>
          </a:prstGeom>
          <a:noFill/>
          <a:ln w="43180">
            <a:solidFill>
              <a:srgbClr val="0C5289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11172825" y="6638925"/>
            <a:ext cx="542925" cy="0"/>
          </a:xfrm>
          <a:prstGeom prst="line">
            <a:avLst/>
          </a:prstGeom>
          <a:noFill/>
          <a:ln w="43180">
            <a:solidFill>
              <a:srgbClr val="0C5289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3781425" y="3267075"/>
            <a:ext cx="866775" cy="0"/>
          </a:xfrm>
          <a:prstGeom prst="line">
            <a:avLst/>
          </a:prstGeom>
          <a:noFill/>
          <a:ln w="35560">
            <a:solidFill>
              <a:srgbClr val="5A5C5B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4648200" y="3267075"/>
            <a:ext cx="0" cy="1181100"/>
          </a:xfrm>
          <a:prstGeom prst="line">
            <a:avLst/>
          </a:prstGeom>
          <a:noFill/>
          <a:ln w="35560">
            <a:solidFill>
              <a:srgbClr val="5A5C5B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4648200" y="4448175"/>
            <a:ext cx="800100" cy="0"/>
          </a:xfrm>
          <a:prstGeom prst="line">
            <a:avLst/>
          </a:prstGeom>
          <a:noFill/>
          <a:ln w="35560">
            <a:solidFill>
              <a:srgbClr val="5A5C5B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3781425" y="6153150"/>
            <a:ext cx="866775" cy="0"/>
          </a:xfrm>
          <a:prstGeom prst="line">
            <a:avLst/>
          </a:prstGeom>
          <a:noFill/>
          <a:ln w="35560">
            <a:solidFill>
              <a:srgbClr val="5A5C5B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 flipV="1">
            <a:off x="4648200" y="4943475"/>
            <a:ext cx="0" cy="1209675"/>
          </a:xfrm>
          <a:prstGeom prst="line">
            <a:avLst/>
          </a:prstGeom>
          <a:noFill/>
          <a:ln w="35560">
            <a:solidFill>
              <a:srgbClr val="5A5C5B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4648200" y="4943475"/>
            <a:ext cx="800100" cy="0"/>
          </a:xfrm>
          <a:prstGeom prst="line">
            <a:avLst/>
          </a:prstGeom>
          <a:noFill/>
          <a:ln w="35560">
            <a:solidFill>
              <a:srgbClr val="5A5C5B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9029700" y="4629150"/>
            <a:ext cx="1666875" cy="0"/>
          </a:xfrm>
          <a:prstGeom prst="line">
            <a:avLst/>
          </a:prstGeom>
          <a:noFill/>
          <a:ln w="35560">
            <a:solidFill>
              <a:srgbClr val="5A5C5B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9839325" y="2771775"/>
            <a:ext cx="0" cy="1857375"/>
          </a:xfrm>
          <a:prstGeom prst="line">
            <a:avLst/>
          </a:prstGeom>
          <a:noFill/>
          <a:ln w="35560">
            <a:solidFill>
              <a:srgbClr val="5A5C5B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9839325" y="2771775"/>
            <a:ext cx="857250" cy="0"/>
          </a:xfrm>
          <a:prstGeom prst="line">
            <a:avLst/>
          </a:prstGeom>
          <a:noFill/>
          <a:ln w="35560">
            <a:solidFill>
              <a:srgbClr val="5A5C5B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9839325" y="4629150"/>
            <a:ext cx="0" cy="1857375"/>
          </a:xfrm>
          <a:prstGeom prst="line">
            <a:avLst/>
          </a:prstGeom>
          <a:noFill/>
          <a:ln w="35560">
            <a:solidFill>
              <a:srgbClr val="5A5C5B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9839325" y="6486525"/>
            <a:ext cx="857250" cy="0"/>
          </a:xfrm>
          <a:prstGeom prst="line">
            <a:avLst/>
          </a:prstGeom>
          <a:noFill/>
          <a:ln w="35560">
            <a:solidFill>
              <a:srgbClr val="5A5C5B"/>
            </a:solidFill>
          </a:ln>
        </p:spPr>
        <p:txBody>
          <a:bodyPr/>
          <a:lstStyle/>
          <a:p/>
        </p:txBody>
      </p:sp>
      <p:sp>
        <p:nvSpPr>
          <p:cNvPr id="35" name="Triangle 35"/>
          <p:cNvSpPr/>
          <p:nvPr/>
        </p:nvSpPr>
        <p:spPr>
          <a:xfrm>
            <a:off x="5419725" y="4352925"/>
            <a:ext cx="180975" cy="1905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5A5C5B"/>
          </a:solidFill>
          <a:ln w="6350">
            <a:solidFill>
              <a:srgbClr val="5A5C5B"/>
            </a:solidFill>
          </a:ln>
        </p:spPr>
        <p:txBody>
          <a:bodyPr/>
          <a:lstStyle/>
          <a:p/>
        </p:txBody>
      </p:sp>
      <p:sp>
        <p:nvSpPr>
          <p:cNvPr id="36" name="Triangle 36"/>
          <p:cNvSpPr/>
          <p:nvPr/>
        </p:nvSpPr>
        <p:spPr>
          <a:xfrm>
            <a:off x="5419725" y="4848225"/>
            <a:ext cx="180975" cy="1905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5A5C5B"/>
          </a:solidFill>
          <a:ln w="6350">
            <a:solidFill>
              <a:srgbClr val="5A5C5B"/>
            </a:solidFill>
          </a:ln>
        </p:spPr>
        <p:txBody>
          <a:bodyPr/>
          <a:lstStyle/>
          <a:p/>
        </p:txBody>
      </p:sp>
      <p:sp>
        <p:nvSpPr>
          <p:cNvPr id="37" name="Triangle 37"/>
          <p:cNvSpPr/>
          <p:nvPr/>
        </p:nvSpPr>
        <p:spPr>
          <a:xfrm>
            <a:off x="10677525" y="2676525"/>
            <a:ext cx="180975" cy="1905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5A5C5B"/>
          </a:solidFill>
          <a:ln w="6350">
            <a:solidFill>
              <a:srgbClr val="5A5C5B"/>
            </a:solidFill>
          </a:ln>
        </p:spPr>
        <p:txBody>
          <a:bodyPr/>
          <a:lstStyle/>
          <a:p/>
        </p:txBody>
      </p:sp>
      <p:sp>
        <p:nvSpPr>
          <p:cNvPr id="38" name="Triangle 38"/>
          <p:cNvSpPr/>
          <p:nvPr/>
        </p:nvSpPr>
        <p:spPr>
          <a:xfrm>
            <a:off x="10677525" y="4533900"/>
            <a:ext cx="180975" cy="1905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5A5C5B"/>
          </a:solidFill>
          <a:ln w="6350">
            <a:solidFill>
              <a:srgbClr val="5A5C5B"/>
            </a:solidFill>
          </a:ln>
        </p:spPr>
        <p:txBody>
          <a:bodyPr/>
          <a:lstStyle/>
          <a:p/>
        </p:txBody>
      </p:sp>
      <p:sp>
        <p:nvSpPr>
          <p:cNvPr id="39" name="Triangle 39"/>
          <p:cNvSpPr/>
          <p:nvPr/>
        </p:nvSpPr>
        <p:spPr>
          <a:xfrm>
            <a:off x="10677525" y="6391275"/>
            <a:ext cx="180975" cy="1905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5A5C5B"/>
          </a:solidFill>
          <a:ln w="6350">
            <a:solidFill>
              <a:srgbClr val="5A5C5B"/>
            </a:solidFill>
          </a:ln>
        </p:spPr>
        <p:txBody>
          <a:bodyPr/>
          <a:lstStyle/>
          <a:p/>
        </p:txBody>
      </p:sp>
      <p:sp>
        <p:nvSpPr>
          <p:cNvPr id="40" name="TextBox 40"/>
          <p:cNvSpPr txBox="1"/>
          <p:nvPr/>
        </p:nvSpPr>
        <p:spPr>
          <a:xfrm>
            <a:off x="1285875" y="2486025"/>
            <a:ext cx="1657350" cy="5048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292929"/>
                </a:solidFill>
                <a:latin typeface="Noto Sans CJK SC"/>
                <a:ea typeface="Noto Sans CJK SC"/>
                <a:cs typeface="Noto Sans CJK SC"/>
              </a:rPr>
              <a:t>气象变化</a:t>
            </a:r>
            <a:endParaRPr lang="zh-CN" sz="3200"/>
          </a:p>
        </p:txBody>
      </p:sp>
      <p:sp>
        <p:nvSpPr>
          <p:cNvPr id="41" name="TextBox 41"/>
          <p:cNvSpPr txBox="1"/>
          <p:nvPr/>
        </p:nvSpPr>
        <p:spPr>
          <a:xfrm>
            <a:off x="800100" y="3790950"/>
            <a:ext cx="2628900" cy="4762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00">
                <a:solidFill>
                  <a:srgbClr val="292929"/>
                </a:solidFill>
                <a:latin typeface="Noto Sans CJK SC"/>
                <a:ea typeface="Noto Sans CJK SC"/>
                <a:cs typeface="Noto Sans CJK SC"/>
              </a:rPr>
              <a:t>日照／云／沙尘</a:t>
            </a:r>
            <a:endParaRPr lang="zh-CN" sz="2500"/>
          </a:p>
        </p:txBody>
      </p:sp>
      <p:sp>
        <p:nvSpPr>
          <p:cNvPr id="42" name="TextBox 42"/>
          <p:cNvSpPr txBox="1"/>
          <p:nvPr/>
        </p:nvSpPr>
        <p:spPr>
          <a:xfrm>
            <a:off x="1285875" y="5353050"/>
            <a:ext cx="1657350" cy="5048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292929"/>
                </a:solidFill>
                <a:latin typeface="Noto Sans CJK SC"/>
                <a:ea typeface="Noto Sans CJK SC"/>
                <a:cs typeface="Noto Sans CJK SC"/>
              </a:rPr>
              <a:t>运行状态</a:t>
            </a:r>
            <a:endParaRPr lang="zh-CN" sz="3200"/>
          </a:p>
        </p:txBody>
      </p:sp>
      <p:sp>
        <p:nvSpPr>
          <p:cNvPr id="43" name="TextBox 43"/>
          <p:cNvSpPr txBox="1"/>
          <p:nvPr/>
        </p:nvSpPr>
        <p:spPr>
          <a:xfrm>
            <a:off x="1143000" y="6667500"/>
            <a:ext cx="1952625" cy="4667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00">
                <a:solidFill>
                  <a:srgbClr val="292929"/>
                </a:solidFill>
                <a:latin typeface="Noto Sans CJK SC"/>
                <a:ea typeface="Noto Sans CJK SC"/>
                <a:cs typeface="Noto Sans CJK SC"/>
              </a:rPr>
              <a:t>停机／限电</a:t>
            </a:r>
            <a:endParaRPr lang="zh-CN" sz="2500"/>
          </a:p>
        </p:txBody>
      </p:sp>
      <p:sp>
        <p:nvSpPr>
          <p:cNvPr id="44" name="TextBox 44"/>
          <p:cNvSpPr txBox="1"/>
          <p:nvPr/>
        </p:nvSpPr>
        <p:spPr>
          <a:xfrm>
            <a:off x="6305550" y="3924300"/>
            <a:ext cx="2019300" cy="5905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292929"/>
                </a:solidFill>
                <a:latin typeface="Noto Sans CJK SC"/>
                <a:ea typeface="Noto Sans CJK SC"/>
                <a:cs typeface="Noto Sans CJK SC"/>
              </a:rPr>
              <a:t>功率变化</a:t>
            </a:r>
            <a:endParaRPr lang="zh-CN" sz="3200"/>
          </a:p>
        </p:txBody>
      </p:sp>
      <p:sp>
        <p:nvSpPr>
          <p:cNvPr id="45" name="TextBox 45"/>
          <p:cNvSpPr txBox="1"/>
          <p:nvPr/>
        </p:nvSpPr>
        <p:spPr>
          <a:xfrm>
            <a:off x="6362700" y="5067300"/>
            <a:ext cx="1905000" cy="4667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00">
                <a:solidFill>
                  <a:srgbClr val="292929"/>
                </a:solidFill>
                <a:latin typeface="Noto Sans CJK SC"/>
                <a:ea typeface="Noto Sans CJK SC"/>
                <a:cs typeface="Noto Sans CJK SC"/>
              </a:rPr>
              <a:t>周期与突变</a:t>
            </a:r>
            <a:endParaRPr lang="zh-CN" sz="2500"/>
          </a:p>
        </p:txBody>
      </p:sp>
      <p:sp>
        <p:nvSpPr>
          <p:cNvPr id="46" name="TextBox 46"/>
          <p:cNvSpPr txBox="1"/>
          <p:nvPr/>
        </p:nvSpPr>
        <p:spPr>
          <a:xfrm>
            <a:off x="11887200" y="2552700"/>
            <a:ext cx="1971675" cy="5048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000" b="1">
                <a:solidFill>
                  <a:srgbClr val="292929"/>
                </a:solidFill>
                <a:latin typeface="Noto Sans CJK SC"/>
                <a:ea typeface="Noto Sans CJK SC"/>
                <a:cs typeface="Noto Sans CJK SC"/>
              </a:rPr>
              <a:t>信息可用性</a:t>
            </a:r>
            <a:endParaRPr lang="zh-CN" sz="3000"/>
          </a:p>
        </p:txBody>
      </p:sp>
      <p:sp>
        <p:nvSpPr>
          <p:cNvPr id="47" name="TextBox 47"/>
          <p:cNvSpPr txBox="1"/>
          <p:nvPr/>
        </p:nvSpPr>
        <p:spPr>
          <a:xfrm>
            <a:off x="11887200" y="4400550"/>
            <a:ext cx="1971675" cy="5048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000" b="1">
                <a:solidFill>
                  <a:srgbClr val="292929"/>
                </a:solidFill>
                <a:latin typeface="Noto Sans CJK SC"/>
                <a:ea typeface="Noto Sans CJK SC"/>
                <a:cs typeface="Noto Sans CJK SC"/>
              </a:rPr>
              <a:t>区间可靠性</a:t>
            </a:r>
            <a:endParaRPr lang="zh-CN" sz="3000"/>
          </a:p>
        </p:txBody>
      </p:sp>
      <p:sp>
        <p:nvSpPr>
          <p:cNvPr id="48" name="TextBox 48"/>
          <p:cNvSpPr txBox="1"/>
          <p:nvPr/>
        </p:nvSpPr>
        <p:spPr>
          <a:xfrm>
            <a:off x="11887200" y="6219825"/>
            <a:ext cx="1628775" cy="5048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000" b="1">
                <a:solidFill>
                  <a:srgbClr val="292929"/>
                </a:solidFill>
                <a:latin typeface="Noto Sans CJK SC"/>
                <a:ea typeface="Noto Sans CJK SC"/>
                <a:cs typeface="Noto Sans CJK SC"/>
              </a:rPr>
              <a:t>爬坡概率</a:t>
            </a:r>
            <a:endParaRPr lang="zh-CN" sz="3000"/>
          </a:p>
        </p:txBody>
      </p:sp>
      <p:sp>
        <p:nvSpPr>
          <p:cNvPr id="49" name="TextBox 49"/>
          <p:cNvSpPr txBox="1"/>
          <p:nvPr/>
        </p:nvSpPr>
        <p:spPr>
          <a:xfrm>
            <a:off x="5238750" y="7639050"/>
            <a:ext cx="4152900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00">
                <a:solidFill>
                  <a:srgbClr val="616161"/>
                </a:solidFill>
                <a:latin typeface="Noto Sans CJK SC"/>
                <a:ea typeface="Noto Sans CJK SC"/>
                <a:cs typeface="Noto Sans CJK SC"/>
              </a:rPr>
              <a:t>拟开展研究 · 数据待落实</a:t>
            </a:r>
            <a:endParaRPr lang="zh-CN"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3095625" y="3429000"/>
            <a:ext cx="533400" cy="0"/>
          </a:xfrm>
          <a:prstGeom prst="line">
            <a:avLst/>
          </a:prstGeom>
          <a:noFill/>
          <a:ln w="3048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3" name="Triangle 3"/>
          <p:cNvSpPr/>
          <p:nvPr/>
        </p:nvSpPr>
        <p:spPr>
          <a:xfrm>
            <a:off x="3609975" y="3324225"/>
            <a:ext cx="161925" cy="2095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61616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6515100" y="3438525"/>
            <a:ext cx="542925" cy="0"/>
          </a:xfrm>
          <a:prstGeom prst="line">
            <a:avLst/>
          </a:prstGeom>
          <a:noFill/>
          <a:ln w="3048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5" name="Triangle 5"/>
          <p:cNvSpPr/>
          <p:nvPr/>
        </p:nvSpPr>
        <p:spPr>
          <a:xfrm>
            <a:off x="7038975" y="3333750"/>
            <a:ext cx="161925" cy="2095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61616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10429875" y="3457575"/>
            <a:ext cx="647700" cy="0"/>
          </a:xfrm>
          <a:prstGeom prst="line">
            <a:avLst/>
          </a:prstGeom>
          <a:noFill/>
          <a:ln w="3048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7" name="Triangle 7"/>
          <p:cNvSpPr/>
          <p:nvPr/>
        </p:nvSpPr>
        <p:spPr>
          <a:xfrm>
            <a:off x="11058525" y="3352800"/>
            <a:ext cx="161925" cy="2095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616161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10429875" y="4200525"/>
            <a:ext cx="647700" cy="0"/>
          </a:xfrm>
          <a:prstGeom prst="line">
            <a:avLst/>
          </a:prstGeom>
          <a:noFill/>
          <a:ln w="3048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9" name="Triangle 9"/>
          <p:cNvSpPr/>
          <p:nvPr/>
        </p:nvSpPr>
        <p:spPr>
          <a:xfrm>
            <a:off x="11058525" y="4095750"/>
            <a:ext cx="161925" cy="2095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6161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8820150" y="4743450"/>
            <a:ext cx="0" cy="742950"/>
          </a:xfrm>
          <a:prstGeom prst="line">
            <a:avLst/>
          </a:prstGeom>
          <a:noFill/>
          <a:ln w="3048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11" name="Triangle 11"/>
          <p:cNvSpPr/>
          <p:nvPr/>
        </p:nvSpPr>
        <p:spPr>
          <a:xfrm>
            <a:off x="8715375" y="5467350"/>
            <a:ext cx="209550" cy="1619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0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6161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>
            <a:off x="12792075" y="4733925"/>
            <a:ext cx="0" cy="590550"/>
          </a:xfrm>
          <a:prstGeom prst="line">
            <a:avLst/>
          </a:prstGeom>
          <a:noFill/>
          <a:ln w="3048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13" name="Triangle 13"/>
          <p:cNvSpPr/>
          <p:nvPr/>
        </p:nvSpPr>
        <p:spPr>
          <a:xfrm>
            <a:off x="12687300" y="5305425"/>
            <a:ext cx="209550" cy="1619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0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6161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314325" y="2343150"/>
            <a:ext cx="2771775" cy="2295525"/>
          </a:xfrm>
          <a:prstGeom prst="rect">
            <a:avLst/>
          </a:prstGeom>
          <a:solidFill>
            <a:srgbClr val="FFFFFF"/>
          </a:solidFill>
          <a:ln w="38100">
            <a:solidFill>
              <a:srgbClr val="1C75A5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3790950" y="2324100"/>
            <a:ext cx="2714625" cy="2219325"/>
          </a:xfrm>
          <a:prstGeom prst="roundRect">
            <a:avLst>
              <a:gd name="adj" fmla="val 6009"/>
            </a:avLst>
          </a:prstGeom>
          <a:solidFill>
            <a:srgbClr val="FFFFFF"/>
          </a:solidFill>
          <a:ln w="38100">
            <a:solidFill>
              <a:srgbClr val="174F70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7219950" y="2076450"/>
            <a:ext cx="3200400" cy="2657475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38100">
            <a:solidFill>
              <a:srgbClr val="174F70"/>
            </a:solidFill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11239500" y="2076450"/>
            <a:ext cx="3105150" cy="2647950"/>
          </a:xfrm>
          <a:prstGeom prst="roundRect">
            <a:avLst>
              <a:gd name="adj" fmla="val 5396"/>
            </a:avLst>
          </a:prstGeom>
          <a:solidFill>
            <a:srgbClr val="FFFFFF"/>
          </a:solidFill>
          <a:ln w="38100">
            <a:solidFill>
              <a:srgbClr val="174F70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7362825" y="5638800"/>
            <a:ext cx="2924175" cy="1885950"/>
          </a:xfrm>
          <a:prstGeom prst="roundRect">
            <a:avLst>
              <a:gd name="adj" fmla="val 6566"/>
            </a:avLst>
          </a:prstGeom>
          <a:solidFill>
            <a:srgbClr val="FFFFFF"/>
          </a:solidFill>
          <a:ln w="3810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11344275" y="5467350"/>
            <a:ext cx="2933700" cy="2228850"/>
          </a:xfrm>
          <a:prstGeom prst="rect">
            <a:avLst/>
          </a:prstGeom>
          <a:solidFill>
            <a:srgbClr val="FFFFFF"/>
          </a:solidFill>
          <a:ln w="38100">
            <a:solidFill>
              <a:srgbClr val="1C75A5"/>
            </a:solidFill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552450" y="3867150"/>
            <a:ext cx="2286000" cy="571500"/>
          </a:xfrm>
          <a:prstGeom prst="rect">
            <a:avLst/>
          </a:prstGeom>
          <a:solidFill>
            <a:srgbClr val="FFFFFF"/>
          </a:solidFill>
          <a:ln w="1651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7362825" y="3200400"/>
            <a:ext cx="2952750" cy="62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F70"/>
            </a:solidFill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7362825" y="3933825"/>
            <a:ext cx="2952750" cy="62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F70"/>
            </a:solidFill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11372850" y="3200400"/>
            <a:ext cx="2857500" cy="62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F70"/>
            </a:solidFill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11372850" y="3933825"/>
            <a:ext cx="2857500" cy="62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F70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400050" y="3219450"/>
            <a:ext cx="2600325" cy="0"/>
          </a:xfrm>
          <a:prstGeom prst="line">
            <a:avLst/>
          </a:prstGeom>
          <a:noFill/>
          <a:ln w="17780">
            <a:solidFill>
              <a:srgbClr val="1C75A5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3905250" y="3609975"/>
            <a:ext cx="2495550" cy="0"/>
          </a:xfrm>
          <a:prstGeom prst="line">
            <a:avLst/>
          </a:prstGeom>
          <a:noFill/>
          <a:ln w="17780">
            <a:solidFill>
              <a:srgbClr val="174F70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7458075" y="6772275"/>
            <a:ext cx="2733675" cy="0"/>
          </a:xfrm>
          <a:prstGeom prst="line">
            <a:avLst/>
          </a:prstGeom>
          <a:noFill/>
          <a:ln w="1778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11420475" y="6686550"/>
            <a:ext cx="2781300" cy="0"/>
          </a:xfrm>
          <a:prstGeom prst="line">
            <a:avLst/>
          </a:prstGeom>
          <a:noFill/>
          <a:ln w="17780">
            <a:solidFill>
              <a:srgbClr val="1C75A5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11610975" y="7305675"/>
            <a:ext cx="2400300" cy="0"/>
          </a:xfrm>
          <a:prstGeom prst="line">
            <a:avLst/>
          </a:prstGeom>
          <a:noFill/>
          <a:ln w="17780">
            <a:solidFill>
              <a:srgbClr val="174F70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11610975" y="7486650"/>
            <a:ext cx="2400300" cy="0"/>
          </a:xfrm>
          <a:prstGeom prst="line">
            <a:avLst/>
          </a:prstGeom>
          <a:noFill/>
          <a:ln w="17780">
            <a:solidFill>
              <a:srgbClr val="174F70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1304925" y="3867150"/>
            <a:ext cx="0" cy="571500"/>
          </a:xfrm>
          <a:prstGeom prst="line">
            <a:avLst/>
          </a:prstGeom>
          <a:noFill/>
          <a:ln w="1651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2076450" y="3867150"/>
            <a:ext cx="0" cy="571500"/>
          </a:xfrm>
          <a:prstGeom prst="line">
            <a:avLst/>
          </a:prstGeom>
          <a:noFill/>
          <a:ln w="1651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552450" y="4152900"/>
            <a:ext cx="2286000" cy="0"/>
          </a:xfrm>
          <a:prstGeom prst="line">
            <a:avLst/>
          </a:prstGeom>
          <a:noFill/>
          <a:ln w="1651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4686300" y="2476500"/>
            <a:ext cx="0" cy="314325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4686300" y="2476500"/>
            <a:ext cx="7620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4686300" y="2790825"/>
            <a:ext cx="7620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5619750" y="2476500"/>
            <a:ext cx="0" cy="314325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5543550" y="2476500"/>
            <a:ext cx="7620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5543550" y="2790825"/>
            <a:ext cx="7620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4972050" y="2581275"/>
            <a:ext cx="36195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4972050" y="2686050"/>
            <a:ext cx="36195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8362950" y="2219325"/>
            <a:ext cx="0" cy="314325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8362950" y="2219325"/>
            <a:ext cx="7620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8362950" y="2533650"/>
            <a:ext cx="7620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9296400" y="2219325"/>
            <a:ext cx="0" cy="314325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9220200" y="2219325"/>
            <a:ext cx="7620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9220200" y="2533650"/>
            <a:ext cx="7620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8648700" y="2324100"/>
            <a:ext cx="36195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8648700" y="2428875"/>
            <a:ext cx="36195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12334875" y="2219325"/>
            <a:ext cx="0" cy="314325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12334875" y="2219325"/>
            <a:ext cx="7620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12334875" y="2533650"/>
            <a:ext cx="7620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13268325" y="2219325"/>
            <a:ext cx="0" cy="314325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>
            <a:off x="13192125" y="2219325"/>
            <a:ext cx="7620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13192125" y="2533650"/>
            <a:ext cx="7620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>
            <a:off x="12620625" y="2324100"/>
            <a:ext cx="36195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>
            <a:off x="12620625" y="2428875"/>
            <a:ext cx="36195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>
            <a:off x="8362950" y="5791200"/>
            <a:ext cx="0" cy="314325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>
            <a:off x="8362950" y="5791200"/>
            <a:ext cx="7620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>
            <a:off x="8362950" y="6105525"/>
            <a:ext cx="7620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9296400" y="5791200"/>
            <a:ext cx="0" cy="314325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>
            <a:off x="9220200" y="5791200"/>
            <a:ext cx="7620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>
            <a:off x="9220200" y="6105525"/>
            <a:ext cx="7620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>
            <a:off x="8648700" y="5895975"/>
            <a:ext cx="36195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>
            <a:off x="8648700" y="6000750"/>
            <a:ext cx="36195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>
            <a:off x="12334875" y="5629275"/>
            <a:ext cx="0" cy="314325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>
            <a:off x="12334875" y="5629275"/>
            <a:ext cx="7620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>
            <a:off x="12334875" y="5943600"/>
            <a:ext cx="7620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>
            <a:off x="13268325" y="5629275"/>
            <a:ext cx="0" cy="314325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>
            <a:off x="13192125" y="5629275"/>
            <a:ext cx="7620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>
            <a:off x="13192125" y="5943600"/>
            <a:ext cx="7620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>
            <a:off x="12620625" y="5734050"/>
            <a:ext cx="36195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>
            <a:off x="12620625" y="5838825"/>
            <a:ext cx="361950" cy="0"/>
          </a:xfrm>
          <a:prstGeom prst="line">
            <a:avLst/>
          </a:prstGeom>
          <a:noFill/>
          <a:ln w="2032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74" name="TextBox 74"/>
          <p:cNvSpPr txBox="1"/>
          <p:nvPr/>
        </p:nvSpPr>
        <p:spPr>
          <a:xfrm>
            <a:off x="538162" y="2543175"/>
            <a:ext cx="2324100" cy="552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拟获取数据</a:t>
            </a:r>
            <a:endParaRPr lang="zh-CN" sz="3200"/>
          </a:p>
        </p:txBody>
      </p:sp>
      <p:sp>
        <p:nvSpPr>
          <p:cNvPr id="75" name="TextBox 75"/>
          <p:cNvSpPr txBox="1"/>
          <p:nvPr/>
        </p:nvSpPr>
        <p:spPr>
          <a:xfrm>
            <a:off x="533400" y="3271838"/>
            <a:ext cx="2324100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发布时刻可用</a:t>
            </a:r>
            <a:endParaRPr lang="zh-CN" sz="2700"/>
          </a:p>
        </p:txBody>
      </p:sp>
      <p:sp>
        <p:nvSpPr>
          <p:cNvPr id="76" name="TextBox 76"/>
          <p:cNvSpPr txBox="1"/>
          <p:nvPr/>
        </p:nvSpPr>
        <p:spPr>
          <a:xfrm>
            <a:off x="3952875" y="2933700"/>
            <a:ext cx="2419350" cy="552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C1 气象尺度</a:t>
            </a:r>
            <a:endParaRPr lang="zh-CN" sz="3200"/>
          </a:p>
        </p:txBody>
      </p:sp>
      <p:sp>
        <p:nvSpPr>
          <p:cNvPr id="77" name="TextBox 77"/>
          <p:cNvSpPr txBox="1"/>
          <p:nvPr/>
        </p:nvSpPr>
        <p:spPr>
          <a:xfrm>
            <a:off x="3881438" y="3733800"/>
            <a:ext cx="2581275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固定输入与索引</a:t>
            </a:r>
            <a:endParaRPr lang="zh-CN" sz="2700"/>
          </a:p>
        </p:txBody>
      </p:sp>
      <p:sp>
        <p:nvSpPr>
          <p:cNvPr id="78" name="TextBox 78"/>
          <p:cNvSpPr txBox="1"/>
          <p:nvPr/>
        </p:nvSpPr>
        <p:spPr>
          <a:xfrm>
            <a:off x="7524750" y="2586038"/>
            <a:ext cx="2590800" cy="552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C2 分位预测</a:t>
            </a:r>
            <a:endParaRPr lang="zh-CN" sz="3200"/>
          </a:p>
        </p:txBody>
      </p:sp>
      <p:sp>
        <p:nvSpPr>
          <p:cNvPr id="79" name="TextBox 79"/>
          <p:cNvSpPr txBox="1"/>
          <p:nvPr/>
        </p:nvSpPr>
        <p:spPr>
          <a:xfrm>
            <a:off x="7620000" y="3257550"/>
            <a:ext cx="2400300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原始分位网格</a:t>
            </a:r>
            <a:endParaRPr lang="zh-CN" sz="2700"/>
          </a:p>
        </p:txBody>
      </p:sp>
      <p:sp>
        <p:nvSpPr>
          <p:cNvPr id="80" name="TextBox 80"/>
          <p:cNvSpPr txBox="1"/>
          <p:nvPr/>
        </p:nvSpPr>
        <p:spPr>
          <a:xfrm>
            <a:off x="7620000" y="4000500"/>
            <a:ext cx="2400300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完整外推误差</a:t>
            </a:r>
            <a:endParaRPr lang="zh-CN" sz="2700"/>
          </a:p>
        </p:txBody>
      </p:sp>
      <p:sp>
        <p:nvSpPr>
          <p:cNvPr id="81" name="TextBox 81"/>
          <p:cNvSpPr txBox="1"/>
          <p:nvPr/>
        </p:nvSpPr>
        <p:spPr>
          <a:xfrm>
            <a:off x="11525250" y="2586038"/>
            <a:ext cx="2590800" cy="552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C3 爬坡概率</a:t>
            </a:r>
            <a:endParaRPr lang="zh-CN" sz="3200"/>
          </a:p>
        </p:txBody>
      </p:sp>
      <p:sp>
        <p:nvSpPr>
          <p:cNvPr id="82" name="TextBox 82"/>
          <p:cNvSpPr txBox="1"/>
          <p:nvPr/>
        </p:nvSpPr>
        <p:spPr>
          <a:xfrm>
            <a:off x="11949112" y="3262312"/>
            <a:ext cx="1714500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固定边际</a:t>
            </a:r>
            <a:endParaRPr lang="zh-CN" sz="2700"/>
          </a:p>
        </p:txBody>
      </p:sp>
      <p:sp>
        <p:nvSpPr>
          <p:cNvPr id="83" name="TextBox 83"/>
          <p:cNvSpPr txBox="1"/>
          <p:nvPr/>
        </p:nvSpPr>
        <p:spPr>
          <a:xfrm>
            <a:off x="11949112" y="4005262"/>
            <a:ext cx="1714500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三组对照</a:t>
            </a:r>
            <a:endParaRPr lang="zh-CN" sz="2700"/>
          </a:p>
        </p:txBody>
      </p:sp>
      <p:sp>
        <p:nvSpPr>
          <p:cNvPr id="84" name="TextBox 84"/>
          <p:cNvSpPr txBox="1"/>
          <p:nvPr/>
        </p:nvSpPr>
        <p:spPr>
          <a:xfrm>
            <a:off x="7758112" y="6176962"/>
            <a:ext cx="2133600" cy="552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区间校准</a:t>
            </a:r>
            <a:endParaRPr lang="zh-CN" sz="3200"/>
          </a:p>
        </p:txBody>
      </p:sp>
      <p:sp>
        <p:nvSpPr>
          <p:cNvPr id="85" name="TextBox 85"/>
          <p:cNvSpPr txBox="1"/>
          <p:nvPr/>
        </p:nvSpPr>
        <p:spPr>
          <a:xfrm>
            <a:off x="7505700" y="6877050"/>
            <a:ext cx="2657475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并行可靠性诊断</a:t>
            </a:r>
            <a:endParaRPr lang="zh-CN" sz="2700"/>
          </a:p>
        </p:txBody>
      </p:sp>
      <p:sp>
        <p:nvSpPr>
          <p:cNvPr id="86" name="TextBox 86"/>
          <p:cNvSpPr txBox="1"/>
          <p:nvPr/>
        </p:nvSpPr>
        <p:spPr>
          <a:xfrm>
            <a:off x="11749088" y="6034088"/>
            <a:ext cx="2133600" cy="552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离线原型</a:t>
            </a:r>
            <a:endParaRPr lang="zh-CN" sz="3200"/>
          </a:p>
        </p:txBody>
      </p:sp>
      <p:sp>
        <p:nvSpPr>
          <p:cNvPr id="87" name="TextBox 87"/>
          <p:cNvSpPr txBox="1"/>
          <p:nvPr/>
        </p:nvSpPr>
        <p:spPr>
          <a:xfrm>
            <a:off x="11949112" y="6738937"/>
            <a:ext cx="1714500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适用边界</a:t>
            </a:r>
            <a:endParaRPr lang="zh-CN" sz="2700"/>
          </a:p>
        </p:txBody>
      </p:sp>
      <p:sp>
        <p:nvSpPr>
          <p:cNvPr id="88" name="TextBox 88"/>
          <p:cNvSpPr txBox="1"/>
          <p:nvPr/>
        </p:nvSpPr>
        <p:spPr>
          <a:xfrm>
            <a:off x="495300" y="7610475"/>
            <a:ext cx="1838325" cy="4667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拟开展研究</a:t>
            </a:r>
            <a:endParaRPr lang="zh-CN" sz="2500"/>
          </a:p>
        </p:txBody>
      </p:sp>
      <p:sp>
        <p:nvSpPr>
          <p:cNvPr id="89" name="TextBox 89"/>
          <p:cNvSpPr txBox="1"/>
          <p:nvPr/>
        </p:nvSpPr>
        <p:spPr>
          <a:xfrm>
            <a:off x="495300" y="8086725"/>
            <a:ext cx="1838325" cy="4667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数据待落实</a:t>
            </a:r>
            <a:endParaRPr lang="zh-CN"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542925" y="1933575"/>
            <a:ext cx="2800350" cy="4010025"/>
          </a:xfrm>
          <a:prstGeom prst="roundRect">
            <a:avLst>
              <a:gd name="adj" fmla="val 2721"/>
            </a:avLst>
          </a:prstGeom>
          <a:solidFill>
            <a:srgbClr val="FFFFFF"/>
          </a:solidFill>
          <a:ln w="31750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3952875" y="1933575"/>
            <a:ext cx="2276475" cy="3124200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31750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6677025" y="1933575"/>
            <a:ext cx="2752725" cy="3124200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31750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9867900" y="1933575"/>
            <a:ext cx="3181350" cy="3590925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31750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7048500" y="6238875"/>
            <a:ext cx="5553075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31750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13211175" y="6467475"/>
            <a:ext cx="1000125" cy="847725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31750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8" name="Ellipse 8"/>
          <p:cNvSpPr/>
          <p:nvPr/>
        </p:nvSpPr>
        <p:spPr>
          <a:xfrm>
            <a:off x="695325" y="2047875"/>
            <a:ext cx="514350" cy="5143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9" name="Ellipse 9"/>
          <p:cNvSpPr/>
          <p:nvPr/>
        </p:nvSpPr>
        <p:spPr>
          <a:xfrm>
            <a:off x="4038600" y="2047875"/>
            <a:ext cx="514350" cy="5143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0" name="Ellipse 10"/>
          <p:cNvSpPr/>
          <p:nvPr/>
        </p:nvSpPr>
        <p:spPr>
          <a:xfrm>
            <a:off x="6819900" y="2047875"/>
            <a:ext cx="514350" cy="5143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1" name="Ellipse 11"/>
          <p:cNvSpPr/>
          <p:nvPr/>
        </p:nvSpPr>
        <p:spPr>
          <a:xfrm>
            <a:off x="10029825" y="2047875"/>
            <a:ext cx="514350" cy="5143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2" name="Ellipse 12"/>
          <p:cNvSpPr/>
          <p:nvPr/>
        </p:nvSpPr>
        <p:spPr>
          <a:xfrm>
            <a:off x="7210425" y="6353175"/>
            <a:ext cx="514350" cy="5143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685800" y="2800350"/>
            <a:ext cx="2514600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685800" y="3819525"/>
            <a:ext cx="2514600" cy="866775"/>
          </a:xfrm>
          <a:prstGeom prst="rect">
            <a:avLst/>
          </a:prstGeom>
          <a:solidFill>
            <a:srgbClr val="FFFFFF"/>
          </a:solidFill>
          <a:ln w="19050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685800" y="4848225"/>
            <a:ext cx="2514600" cy="933450"/>
          </a:xfrm>
          <a:prstGeom prst="rect">
            <a:avLst/>
          </a:prstGeom>
          <a:solidFill>
            <a:srgbClr val="FFFFFF"/>
          </a:solidFill>
          <a:ln w="19050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6886575" y="3390900"/>
            <a:ext cx="2333625" cy="619125"/>
          </a:xfrm>
          <a:prstGeom prst="rect">
            <a:avLst/>
          </a:prstGeom>
          <a:solidFill>
            <a:srgbClr val="FFFFFF"/>
          </a:solidFill>
          <a:ln w="19050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6886575" y="4257675"/>
            <a:ext cx="2333625" cy="609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10077450" y="3362325"/>
            <a:ext cx="27622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10077450" y="4029075"/>
            <a:ext cx="2762250" cy="5715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10077450" y="4752975"/>
            <a:ext cx="2762250" cy="561975"/>
          </a:xfrm>
          <a:prstGeom prst="rect">
            <a:avLst/>
          </a:prstGeom>
          <a:solidFill>
            <a:srgbClr val="FFFFFF"/>
          </a:solidFill>
          <a:ln w="19050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3429000" y="3733800"/>
            <a:ext cx="390525" cy="0"/>
          </a:xfrm>
          <a:prstGeom prst="line">
            <a:avLst/>
          </a:prstGeom>
          <a:noFill/>
          <a:ln w="38100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6229350" y="3733800"/>
            <a:ext cx="314325" cy="0"/>
          </a:xfrm>
          <a:prstGeom prst="line">
            <a:avLst/>
          </a:prstGeom>
          <a:noFill/>
          <a:ln w="38100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9429750" y="3733800"/>
            <a:ext cx="304800" cy="0"/>
          </a:xfrm>
          <a:prstGeom prst="line">
            <a:avLst/>
          </a:prstGeom>
          <a:noFill/>
          <a:ln w="38100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11325225" y="5524500"/>
            <a:ext cx="0" cy="581025"/>
          </a:xfrm>
          <a:prstGeom prst="line">
            <a:avLst/>
          </a:prstGeom>
          <a:noFill/>
          <a:ln w="38100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12601575" y="6905625"/>
            <a:ext cx="476250" cy="0"/>
          </a:xfrm>
          <a:prstGeom prst="line">
            <a:avLst/>
          </a:prstGeom>
          <a:noFill/>
          <a:ln w="38100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5086350" y="5067300"/>
            <a:ext cx="0" cy="104775"/>
          </a:xfrm>
          <a:prstGeom prst="line">
            <a:avLst/>
          </a:prstGeom>
          <a:noFill/>
          <a:ln w="38100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5086350" y="5248275"/>
            <a:ext cx="0" cy="104775"/>
          </a:xfrm>
          <a:prstGeom prst="line">
            <a:avLst/>
          </a:prstGeom>
          <a:noFill/>
          <a:ln w="38100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5086350" y="5429250"/>
            <a:ext cx="0" cy="104775"/>
          </a:xfrm>
          <a:prstGeom prst="line">
            <a:avLst/>
          </a:prstGeom>
          <a:noFill/>
          <a:ln w="38100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5086350" y="5610225"/>
            <a:ext cx="0" cy="104775"/>
          </a:xfrm>
          <a:prstGeom prst="line">
            <a:avLst/>
          </a:prstGeom>
          <a:noFill/>
          <a:ln w="38100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5086350" y="5791200"/>
            <a:ext cx="0" cy="104775"/>
          </a:xfrm>
          <a:prstGeom prst="line">
            <a:avLst/>
          </a:prstGeom>
          <a:noFill/>
          <a:ln w="38100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5086350" y="5972175"/>
            <a:ext cx="0" cy="104775"/>
          </a:xfrm>
          <a:prstGeom prst="line">
            <a:avLst/>
          </a:prstGeom>
          <a:noFill/>
          <a:ln w="38100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32" name="Polygon 32"/>
          <p:cNvSpPr/>
          <p:nvPr/>
        </p:nvSpPr>
        <p:spPr>
          <a:xfrm>
            <a:off x="3781425" y="3638550"/>
            <a:ext cx="161925" cy="1905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Polygon 33"/>
          <p:cNvSpPr/>
          <p:nvPr/>
        </p:nvSpPr>
        <p:spPr>
          <a:xfrm>
            <a:off x="6505575" y="3638550"/>
            <a:ext cx="161925" cy="1905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Polygon 34"/>
          <p:cNvSpPr/>
          <p:nvPr/>
        </p:nvSpPr>
        <p:spPr>
          <a:xfrm>
            <a:off x="9696450" y="3638550"/>
            <a:ext cx="161925" cy="1905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Polygon 35"/>
          <p:cNvSpPr/>
          <p:nvPr/>
        </p:nvSpPr>
        <p:spPr>
          <a:xfrm>
            <a:off x="11229975" y="6067425"/>
            <a:ext cx="190500" cy="1619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555555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Polygon 36"/>
          <p:cNvSpPr/>
          <p:nvPr/>
        </p:nvSpPr>
        <p:spPr>
          <a:xfrm>
            <a:off x="13039725" y="6810375"/>
            <a:ext cx="161925" cy="1905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Polygon 37"/>
          <p:cNvSpPr/>
          <p:nvPr/>
        </p:nvSpPr>
        <p:spPr>
          <a:xfrm>
            <a:off x="4991100" y="6096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555555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542925" y="2647950"/>
            <a:ext cx="2800350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3952875" y="2676525"/>
            <a:ext cx="227647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6677025" y="2676525"/>
            <a:ext cx="27527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9867900" y="2676525"/>
            <a:ext cx="3181350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7048500" y="6972300"/>
            <a:ext cx="555307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3333750" y="1857375"/>
            <a:ext cx="9336" cy="459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3343086" y="1857834"/>
            <a:ext cx="9246" cy="1372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3352332" y="1859205"/>
            <a:ext cx="9067" cy="2271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3361400" y="1861476"/>
            <a:ext cx="8801" cy="3149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3370201" y="1864625"/>
            <a:ext cx="8450" cy="3997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3378651" y="1868622"/>
            <a:ext cx="8018" cy="4806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3386668" y="1873428"/>
            <a:ext cx="7508" cy="5568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3394176" y="1878996"/>
            <a:ext cx="6926" cy="6277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3401102" y="1885273"/>
            <a:ext cx="6277" cy="6926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3407379" y="1892199"/>
            <a:ext cx="5568" cy="7508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3412947" y="1899707"/>
            <a:ext cx="4806" cy="8018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>
            <a:off x="3417753" y="1907724"/>
            <a:ext cx="3997" cy="845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3421750" y="1916174"/>
            <a:ext cx="3149" cy="8801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>
            <a:off x="3424899" y="1924975"/>
            <a:ext cx="561" cy="224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>
            <a:off x="3429000" y="1993567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>
            <a:off x="3429000" y="2184067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>
            <a:off x="3429000" y="2374567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>
            <a:off x="3429000" y="2565067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3429000" y="2755567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>
            <a:off x="3429000" y="2946067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>
            <a:off x="3429000" y="3136567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>
            <a:off x="3429000" y="3327067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>
            <a:off x="3429000" y="3517567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>
            <a:off x="3429000" y="3708067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>
            <a:off x="3429000" y="3898567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>
            <a:off x="3429000" y="4089067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>
            <a:off x="3429000" y="4279567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>
            <a:off x="3429000" y="4470067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>
            <a:off x="3429000" y="4660567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>
            <a:off x="3429000" y="4851067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>
            <a:off x="3429000" y="5041567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>
            <a:off x="3429000" y="5232067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>
            <a:off x="3429000" y="5422567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76" name="Line 76"/>
          <p:cNvSpPr/>
          <p:nvPr/>
        </p:nvSpPr>
        <p:spPr>
          <a:xfrm>
            <a:off x="3429000" y="5613067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>
            <a:off x="3429000" y="5803567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 flipH="1">
            <a:off x="3407379" y="5990131"/>
            <a:ext cx="3241" cy="4369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79" name="Line 79"/>
          <p:cNvSpPr/>
          <p:nvPr/>
        </p:nvSpPr>
        <p:spPr>
          <a:xfrm flipH="1">
            <a:off x="3401102" y="5994501"/>
            <a:ext cx="6277" cy="6926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80" name="Line 80"/>
          <p:cNvSpPr/>
          <p:nvPr/>
        </p:nvSpPr>
        <p:spPr>
          <a:xfrm flipH="1">
            <a:off x="3394176" y="6001427"/>
            <a:ext cx="6926" cy="6277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 flipH="1">
            <a:off x="3386668" y="6007704"/>
            <a:ext cx="7508" cy="5568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82" name="Line 82"/>
          <p:cNvSpPr/>
          <p:nvPr/>
        </p:nvSpPr>
        <p:spPr>
          <a:xfrm flipH="1">
            <a:off x="3378651" y="6013272"/>
            <a:ext cx="8018" cy="4806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83" name="Line 83"/>
          <p:cNvSpPr/>
          <p:nvPr/>
        </p:nvSpPr>
        <p:spPr>
          <a:xfrm flipH="1">
            <a:off x="3370201" y="6018078"/>
            <a:ext cx="8450" cy="3997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84" name="Line 84"/>
          <p:cNvSpPr/>
          <p:nvPr/>
        </p:nvSpPr>
        <p:spPr>
          <a:xfrm flipH="1">
            <a:off x="3361400" y="6022075"/>
            <a:ext cx="8801" cy="3149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85" name="Line 85"/>
          <p:cNvSpPr/>
          <p:nvPr/>
        </p:nvSpPr>
        <p:spPr>
          <a:xfrm flipH="1">
            <a:off x="3352332" y="6025224"/>
            <a:ext cx="9067" cy="2271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86" name="Line 86"/>
          <p:cNvSpPr/>
          <p:nvPr/>
        </p:nvSpPr>
        <p:spPr>
          <a:xfrm flipH="1">
            <a:off x="3343086" y="6027495"/>
            <a:ext cx="9246" cy="1372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87" name="Line 87"/>
          <p:cNvSpPr/>
          <p:nvPr/>
        </p:nvSpPr>
        <p:spPr>
          <a:xfrm flipH="1">
            <a:off x="3333750" y="6028866"/>
            <a:ext cx="9336" cy="459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88" name="Line 88"/>
          <p:cNvSpPr/>
          <p:nvPr/>
        </p:nvSpPr>
        <p:spPr>
          <a:xfrm flipH="1">
            <a:off x="3299492" y="6029325"/>
            <a:ext cx="34258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 flipH="1">
            <a:off x="3108992" y="602932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 flipH="1">
            <a:off x="2918492" y="602932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91" name="Line 91"/>
          <p:cNvSpPr/>
          <p:nvPr/>
        </p:nvSpPr>
        <p:spPr>
          <a:xfrm flipH="1">
            <a:off x="2727992" y="602932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92" name="Line 92"/>
          <p:cNvSpPr/>
          <p:nvPr/>
        </p:nvSpPr>
        <p:spPr>
          <a:xfrm flipH="1">
            <a:off x="2537492" y="602932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 flipH="1">
            <a:off x="2346992" y="602932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94" name="Line 94"/>
          <p:cNvSpPr/>
          <p:nvPr/>
        </p:nvSpPr>
        <p:spPr>
          <a:xfrm flipH="1">
            <a:off x="2156492" y="602932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95" name="Line 95"/>
          <p:cNvSpPr/>
          <p:nvPr/>
        </p:nvSpPr>
        <p:spPr>
          <a:xfrm flipH="1">
            <a:off x="1965992" y="602932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96" name="Line 96"/>
          <p:cNvSpPr/>
          <p:nvPr/>
        </p:nvSpPr>
        <p:spPr>
          <a:xfrm flipH="1">
            <a:off x="1775492" y="602932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 flipH="1">
            <a:off x="1584992" y="602932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 flipH="1">
            <a:off x="1394492" y="602932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 flipH="1">
            <a:off x="1203992" y="602932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00" name="Line 100"/>
          <p:cNvSpPr/>
          <p:nvPr/>
        </p:nvSpPr>
        <p:spPr>
          <a:xfrm flipH="1">
            <a:off x="1013492" y="602932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01" name="Line 101"/>
          <p:cNvSpPr/>
          <p:nvPr/>
        </p:nvSpPr>
        <p:spPr>
          <a:xfrm flipH="1">
            <a:off x="822992" y="602932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02" name="Line 102"/>
          <p:cNvSpPr/>
          <p:nvPr/>
        </p:nvSpPr>
        <p:spPr>
          <a:xfrm flipH="1">
            <a:off x="632492" y="602932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03" name="Line 103"/>
          <p:cNvSpPr/>
          <p:nvPr/>
        </p:nvSpPr>
        <p:spPr>
          <a:xfrm flipH="1">
            <a:off x="533400" y="6029325"/>
            <a:ext cx="32417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04" name="Line 104"/>
          <p:cNvSpPr/>
          <p:nvPr/>
        </p:nvSpPr>
        <p:spPr>
          <a:xfrm flipH="1" flipV="1">
            <a:off x="524064" y="6028866"/>
            <a:ext cx="9336" cy="459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05" name="Line 105"/>
          <p:cNvSpPr/>
          <p:nvPr/>
        </p:nvSpPr>
        <p:spPr>
          <a:xfrm flipH="1" flipV="1">
            <a:off x="514818" y="6027495"/>
            <a:ext cx="9246" cy="1372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06" name="Line 106"/>
          <p:cNvSpPr/>
          <p:nvPr/>
        </p:nvSpPr>
        <p:spPr>
          <a:xfrm flipH="1" flipV="1">
            <a:off x="505750" y="6025224"/>
            <a:ext cx="9067" cy="2271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 flipH="1" flipV="1">
            <a:off x="496949" y="6022075"/>
            <a:ext cx="8801" cy="3149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08" name="Line 108"/>
          <p:cNvSpPr/>
          <p:nvPr/>
        </p:nvSpPr>
        <p:spPr>
          <a:xfrm flipH="1" flipV="1">
            <a:off x="488499" y="6018078"/>
            <a:ext cx="8450" cy="3997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09" name="Line 109"/>
          <p:cNvSpPr/>
          <p:nvPr/>
        </p:nvSpPr>
        <p:spPr>
          <a:xfrm flipH="1" flipV="1">
            <a:off x="480482" y="6013272"/>
            <a:ext cx="8018" cy="4806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10" name="Line 110"/>
          <p:cNvSpPr/>
          <p:nvPr/>
        </p:nvSpPr>
        <p:spPr>
          <a:xfrm flipH="1" flipV="1">
            <a:off x="472974" y="6007704"/>
            <a:ext cx="7508" cy="5568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11" name="Line 111"/>
          <p:cNvSpPr/>
          <p:nvPr/>
        </p:nvSpPr>
        <p:spPr>
          <a:xfrm flipH="1" flipV="1">
            <a:off x="466048" y="6001427"/>
            <a:ext cx="6926" cy="6277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12" name="Line 112"/>
          <p:cNvSpPr/>
          <p:nvPr/>
        </p:nvSpPr>
        <p:spPr>
          <a:xfrm flipH="1" flipV="1">
            <a:off x="459771" y="5994501"/>
            <a:ext cx="6277" cy="6926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13" name="Line 113"/>
          <p:cNvSpPr/>
          <p:nvPr/>
        </p:nvSpPr>
        <p:spPr>
          <a:xfrm flipH="1" flipV="1">
            <a:off x="455433" y="5988652"/>
            <a:ext cx="4338" cy="5849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14" name="Line 114"/>
          <p:cNvSpPr/>
          <p:nvPr/>
        </p:nvSpPr>
        <p:spPr>
          <a:xfrm flipV="1">
            <a:off x="438150" y="5801725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15" name="Line 115"/>
          <p:cNvSpPr/>
          <p:nvPr/>
        </p:nvSpPr>
        <p:spPr>
          <a:xfrm flipV="1">
            <a:off x="438150" y="5611225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16" name="Line 116"/>
          <p:cNvSpPr/>
          <p:nvPr/>
        </p:nvSpPr>
        <p:spPr>
          <a:xfrm flipV="1">
            <a:off x="438150" y="5420725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17" name="Line 117"/>
          <p:cNvSpPr/>
          <p:nvPr/>
        </p:nvSpPr>
        <p:spPr>
          <a:xfrm flipV="1">
            <a:off x="438150" y="5230225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18" name="Line 118"/>
          <p:cNvSpPr/>
          <p:nvPr/>
        </p:nvSpPr>
        <p:spPr>
          <a:xfrm flipV="1">
            <a:off x="438150" y="5039725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19" name="Line 119"/>
          <p:cNvSpPr/>
          <p:nvPr/>
        </p:nvSpPr>
        <p:spPr>
          <a:xfrm flipV="1">
            <a:off x="438150" y="4849225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20" name="Line 120"/>
          <p:cNvSpPr/>
          <p:nvPr/>
        </p:nvSpPr>
        <p:spPr>
          <a:xfrm flipV="1">
            <a:off x="438150" y="4658725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21" name="Line 121"/>
          <p:cNvSpPr/>
          <p:nvPr/>
        </p:nvSpPr>
        <p:spPr>
          <a:xfrm flipV="1">
            <a:off x="438150" y="4468225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22" name="Line 122"/>
          <p:cNvSpPr/>
          <p:nvPr/>
        </p:nvSpPr>
        <p:spPr>
          <a:xfrm flipV="1">
            <a:off x="438150" y="4277725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23" name="Line 123"/>
          <p:cNvSpPr/>
          <p:nvPr/>
        </p:nvSpPr>
        <p:spPr>
          <a:xfrm flipV="1">
            <a:off x="438150" y="4087225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24" name="Line 124"/>
          <p:cNvSpPr/>
          <p:nvPr/>
        </p:nvSpPr>
        <p:spPr>
          <a:xfrm flipV="1">
            <a:off x="438150" y="3896725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25" name="Line 125"/>
          <p:cNvSpPr/>
          <p:nvPr/>
        </p:nvSpPr>
        <p:spPr>
          <a:xfrm flipV="1">
            <a:off x="438150" y="3706225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26" name="Line 126"/>
          <p:cNvSpPr/>
          <p:nvPr/>
        </p:nvSpPr>
        <p:spPr>
          <a:xfrm flipV="1">
            <a:off x="438150" y="3515725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27" name="Line 127"/>
          <p:cNvSpPr/>
          <p:nvPr/>
        </p:nvSpPr>
        <p:spPr>
          <a:xfrm flipV="1">
            <a:off x="438150" y="3325225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28" name="Line 128"/>
          <p:cNvSpPr/>
          <p:nvPr/>
        </p:nvSpPr>
        <p:spPr>
          <a:xfrm flipV="1">
            <a:off x="438150" y="3134725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29" name="Line 129"/>
          <p:cNvSpPr/>
          <p:nvPr/>
        </p:nvSpPr>
        <p:spPr>
          <a:xfrm flipV="1">
            <a:off x="438150" y="2944225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30" name="Line 130"/>
          <p:cNvSpPr/>
          <p:nvPr/>
        </p:nvSpPr>
        <p:spPr>
          <a:xfrm flipV="1">
            <a:off x="438150" y="2753725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31" name="Line 131"/>
          <p:cNvSpPr/>
          <p:nvPr/>
        </p:nvSpPr>
        <p:spPr>
          <a:xfrm flipV="1">
            <a:off x="438150" y="2563225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32" name="Line 132"/>
          <p:cNvSpPr/>
          <p:nvPr/>
        </p:nvSpPr>
        <p:spPr>
          <a:xfrm flipV="1">
            <a:off x="438150" y="2372725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33" name="Line 133"/>
          <p:cNvSpPr/>
          <p:nvPr/>
        </p:nvSpPr>
        <p:spPr>
          <a:xfrm flipV="1">
            <a:off x="438150" y="2182225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34" name="Line 134"/>
          <p:cNvSpPr/>
          <p:nvPr/>
        </p:nvSpPr>
        <p:spPr>
          <a:xfrm flipV="1">
            <a:off x="438150" y="1991725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35" name="Line 135"/>
          <p:cNvSpPr/>
          <p:nvPr/>
        </p:nvSpPr>
        <p:spPr>
          <a:xfrm flipV="1">
            <a:off x="442138" y="1924975"/>
            <a:ext cx="113" cy="453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36" name="Line 136"/>
          <p:cNvSpPr/>
          <p:nvPr/>
        </p:nvSpPr>
        <p:spPr>
          <a:xfrm flipV="1">
            <a:off x="442251" y="1916174"/>
            <a:ext cx="3149" cy="8801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37" name="Line 137"/>
          <p:cNvSpPr/>
          <p:nvPr/>
        </p:nvSpPr>
        <p:spPr>
          <a:xfrm flipV="1">
            <a:off x="445400" y="1907724"/>
            <a:ext cx="3997" cy="845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38" name="Line 138"/>
          <p:cNvSpPr/>
          <p:nvPr/>
        </p:nvSpPr>
        <p:spPr>
          <a:xfrm flipV="1">
            <a:off x="449397" y="1899707"/>
            <a:ext cx="4806" cy="8018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39" name="Line 139"/>
          <p:cNvSpPr/>
          <p:nvPr/>
        </p:nvSpPr>
        <p:spPr>
          <a:xfrm flipV="1">
            <a:off x="454203" y="1892199"/>
            <a:ext cx="5568" cy="7508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40" name="Line 140"/>
          <p:cNvSpPr/>
          <p:nvPr/>
        </p:nvSpPr>
        <p:spPr>
          <a:xfrm flipV="1">
            <a:off x="459771" y="1885273"/>
            <a:ext cx="6277" cy="6926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41" name="Line 141"/>
          <p:cNvSpPr/>
          <p:nvPr/>
        </p:nvSpPr>
        <p:spPr>
          <a:xfrm flipV="1">
            <a:off x="466048" y="1878996"/>
            <a:ext cx="6926" cy="6277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42" name="Line 142"/>
          <p:cNvSpPr/>
          <p:nvPr/>
        </p:nvSpPr>
        <p:spPr>
          <a:xfrm flipV="1">
            <a:off x="472974" y="1873428"/>
            <a:ext cx="7508" cy="5568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43" name="Line 143"/>
          <p:cNvSpPr/>
          <p:nvPr/>
        </p:nvSpPr>
        <p:spPr>
          <a:xfrm flipV="1">
            <a:off x="480482" y="1868622"/>
            <a:ext cx="8018" cy="4806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44" name="Line 144"/>
          <p:cNvSpPr/>
          <p:nvPr/>
        </p:nvSpPr>
        <p:spPr>
          <a:xfrm flipV="1">
            <a:off x="488499" y="1864625"/>
            <a:ext cx="8450" cy="3997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45" name="Line 145"/>
          <p:cNvSpPr/>
          <p:nvPr/>
        </p:nvSpPr>
        <p:spPr>
          <a:xfrm flipV="1">
            <a:off x="496949" y="1861476"/>
            <a:ext cx="8801" cy="3149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46" name="Line 146"/>
          <p:cNvSpPr/>
          <p:nvPr/>
        </p:nvSpPr>
        <p:spPr>
          <a:xfrm flipV="1">
            <a:off x="505750" y="1859205"/>
            <a:ext cx="9067" cy="2271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47" name="Line 147"/>
          <p:cNvSpPr/>
          <p:nvPr/>
        </p:nvSpPr>
        <p:spPr>
          <a:xfrm flipV="1">
            <a:off x="514818" y="1857834"/>
            <a:ext cx="9246" cy="1372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48" name="Line 148"/>
          <p:cNvSpPr/>
          <p:nvPr/>
        </p:nvSpPr>
        <p:spPr>
          <a:xfrm flipV="1">
            <a:off x="524064" y="1857375"/>
            <a:ext cx="9336" cy="459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49" name="Line 149"/>
          <p:cNvSpPr/>
          <p:nvPr/>
        </p:nvSpPr>
        <p:spPr>
          <a:xfrm>
            <a:off x="533400" y="1857375"/>
            <a:ext cx="1842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50" name="Line 150"/>
          <p:cNvSpPr/>
          <p:nvPr/>
        </p:nvSpPr>
        <p:spPr>
          <a:xfrm>
            <a:off x="601917" y="185737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51" name="Line 151"/>
          <p:cNvSpPr/>
          <p:nvPr/>
        </p:nvSpPr>
        <p:spPr>
          <a:xfrm>
            <a:off x="792417" y="185737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52" name="Line 152"/>
          <p:cNvSpPr/>
          <p:nvPr/>
        </p:nvSpPr>
        <p:spPr>
          <a:xfrm>
            <a:off x="982917" y="185737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53" name="Line 153"/>
          <p:cNvSpPr/>
          <p:nvPr/>
        </p:nvSpPr>
        <p:spPr>
          <a:xfrm>
            <a:off x="1173417" y="185737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54" name="Line 154"/>
          <p:cNvSpPr/>
          <p:nvPr/>
        </p:nvSpPr>
        <p:spPr>
          <a:xfrm>
            <a:off x="1363917" y="185737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55" name="Line 155"/>
          <p:cNvSpPr/>
          <p:nvPr/>
        </p:nvSpPr>
        <p:spPr>
          <a:xfrm>
            <a:off x="1554417" y="185737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56" name="Line 156"/>
          <p:cNvSpPr/>
          <p:nvPr/>
        </p:nvSpPr>
        <p:spPr>
          <a:xfrm>
            <a:off x="1744917" y="185737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57" name="Line 157"/>
          <p:cNvSpPr/>
          <p:nvPr/>
        </p:nvSpPr>
        <p:spPr>
          <a:xfrm>
            <a:off x="1935417" y="185737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58" name="Line 158"/>
          <p:cNvSpPr/>
          <p:nvPr/>
        </p:nvSpPr>
        <p:spPr>
          <a:xfrm>
            <a:off x="2125917" y="185737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59" name="Line 159"/>
          <p:cNvSpPr/>
          <p:nvPr/>
        </p:nvSpPr>
        <p:spPr>
          <a:xfrm>
            <a:off x="2316417" y="185737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60" name="Line 160"/>
          <p:cNvSpPr/>
          <p:nvPr/>
        </p:nvSpPr>
        <p:spPr>
          <a:xfrm>
            <a:off x="2506917" y="185737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61" name="Line 161"/>
          <p:cNvSpPr/>
          <p:nvPr/>
        </p:nvSpPr>
        <p:spPr>
          <a:xfrm>
            <a:off x="2697417" y="185737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62" name="Line 162"/>
          <p:cNvSpPr/>
          <p:nvPr/>
        </p:nvSpPr>
        <p:spPr>
          <a:xfrm>
            <a:off x="2887917" y="185737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63" name="Line 163"/>
          <p:cNvSpPr/>
          <p:nvPr/>
        </p:nvSpPr>
        <p:spPr>
          <a:xfrm>
            <a:off x="3078417" y="1857375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64" name="Line 164"/>
          <p:cNvSpPr/>
          <p:nvPr/>
        </p:nvSpPr>
        <p:spPr>
          <a:xfrm>
            <a:off x="3268917" y="1857375"/>
            <a:ext cx="64833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65" name="Line 165"/>
          <p:cNvSpPr/>
          <p:nvPr/>
        </p:nvSpPr>
        <p:spPr>
          <a:xfrm>
            <a:off x="6267450" y="6305550"/>
            <a:ext cx="7469" cy="367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66" name="Line 166"/>
          <p:cNvSpPr/>
          <p:nvPr/>
        </p:nvSpPr>
        <p:spPr>
          <a:xfrm>
            <a:off x="6274919" y="6305917"/>
            <a:ext cx="7397" cy="1097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67" name="Line 167"/>
          <p:cNvSpPr/>
          <p:nvPr/>
        </p:nvSpPr>
        <p:spPr>
          <a:xfrm>
            <a:off x="6282316" y="6307014"/>
            <a:ext cx="7254" cy="1817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68" name="Line 168"/>
          <p:cNvSpPr/>
          <p:nvPr/>
        </p:nvSpPr>
        <p:spPr>
          <a:xfrm>
            <a:off x="6289570" y="6308831"/>
            <a:ext cx="7041" cy="2519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69" name="Line 169"/>
          <p:cNvSpPr/>
          <p:nvPr/>
        </p:nvSpPr>
        <p:spPr>
          <a:xfrm>
            <a:off x="6296610" y="6311350"/>
            <a:ext cx="6760" cy="3197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70" name="Line 170"/>
          <p:cNvSpPr/>
          <p:nvPr/>
        </p:nvSpPr>
        <p:spPr>
          <a:xfrm>
            <a:off x="6303370" y="6314548"/>
            <a:ext cx="6414" cy="3844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71" name="Line 171"/>
          <p:cNvSpPr/>
          <p:nvPr/>
        </p:nvSpPr>
        <p:spPr>
          <a:xfrm>
            <a:off x="6309784" y="6318392"/>
            <a:ext cx="6006" cy="445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72" name="Line 172"/>
          <p:cNvSpPr/>
          <p:nvPr/>
        </p:nvSpPr>
        <p:spPr>
          <a:xfrm>
            <a:off x="6315791" y="6322847"/>
            <a:ext cx="5541" cy="5022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73" name="Line 173"/>
          <p:cNvSpPr/>
          <p:nvPr/>
        </p:nvSpPr>
        <p:spPr>
          <a:xfrm>
            <a:off x="6321332" y="6327868"/>
            <a:ext cx="5022" cy="5541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74" name="Line 174"/>
          <p:cNvSpPr/>
          <p:nvPr/>
        </p:nvSpPr>
        <p:spPr>
          <a:xfrm>
            <a:off x="6326353" y="6333409"/>
            <a:ext cx="4455" cy="6006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75" name="Line 175"/>
          <p:cNvSpPr/>
          <p:nvPr/>
        </p:nvSpPr>
        <p:spPr>
          <a:xfrm>
            <a:off x="6330808" y="6339416"/>
            <a:ext cx="3844" cy="6414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76" name="Line 176"/>
          <p:cNvSpPr/>
          <p:nvPr/>
        </p:nvSpPr>
        <p:spPr>
          <a:xfrm>
            <a:off x="6334652" y="6345830"/>
            <a:ext cx="3197" cy="676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77" name="Line 177"/>
          <p:cNvSpPr/>
          <p:nvPr/>
        </p:nvSpPr>
        <p:spPr>
          <a:xfrm>
            <a:off x="6337850" y="6352590"/>
            <a:ext cx="2519" cy="7041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78" name="Line 178"/>
          <p:cNvSpPr/>
          <p:nvPr/>
        </p:nvSpPr>
        <p:spPr>
          <a:xfrm>
            <a:off x="6340369" y="6359630"/>
            <a:ext cx="1817" cy="7254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79" name="Line 179"/>
          <p:cNvSpPr/>
          <p:nvPr/>
        </p:nvSpPr>
        <p:spPr>
          <a:xfrm>
            <a:off x="6342186" y="6366884"/>
            <a:ext cx="1097" cy="7397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80" name="Line 180"/>
          <p:cNvSpPr/>
          <p:nvPr/>
        </p:nvSpPr>
        <p:spPr>
          <a:xfrm>
            <a:off x="6343283" y="6374281"/>
            <a:ext cx="367" cy="7469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81" name="Line 181"/>
          <p:cNvSpPr/>
          <p:nvPr/>
        </p:nvSpPr>
        <p:spPr>
          <a:xfrm>
            <a:off x="6343650" y="6381750"/>
            <a:ext cx="0" cy="4178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82" name="Line 182"/>
          <p:cNvSpPr/>
          <p:nvPr/>
        </p:nvSpPr>
        <p:spPr>
          <a:xfrm>
            <a:off x="6343650" y="6452603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83" name="Line 183"/>
          <p:cNvSpPr/>
          <p:nvPr/>
        </p:nvSpPr>
        <p:spPr>
          <a:xfrm>
            <a:off x="6343650" y="6643103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84" name="Line 184"/>
          <p:cNvSpPr/>
          <p:nvPr/>
        </p:nvSpPr>
        <p:spPr>
          <a:xfrm>
            <a:off x="6343650" y="6833603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85" name="Line 185"/>
          <p:cNvSpPr/>
          <p:nvPr/>
        </p:nvSpPr>
        <p:spPr>
          <a:xfrm>
            <a:off x="6343650" y="7024103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86" name="Line 186"/>
          <p:cNvSpPr/>
          <p:nvPr/>
        </p:nvSpPr>
        <p:spPr>
          <a:xfrm>
            <a:off x="6343650" y="7214603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87" name="Line 187"/>
          <p:cNvSpPr/>
          <p:nvPr/>
        </p:nvSpPr>
        <p:spPr>
          <a:xfrm flipH="1">
            <a:off x="6342186" y="7405027"/>
            <a:ext cx="184" cy="1239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88" name="Line 188"/>
          <p:cNvSpPr/>
          <p:nvPr/>
        </p:nvSpPr>
        <p:spPr>
          <a:xfrm flipH="1">
            <a:off x="6340369" y="7406266"/>
            <a:ext cx="1817" cy="7254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89" name="Line 189"/>
          <p:cNvSpPr/>
          <p:nvPr/>
        </p:nvSpPr>
        <p:spPr>
          <a:xfrm flipH="1">
            <a:off x="6337850" y="7413520"/>
            <a:ext cx="2519" cy="7041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90" name="Line 190"/>
          <p:cNvSpPr/>
          <p:nvPr/>
        </p:nvSpPr>
        <p:spPr>
          <a:xfrm flipH="1">
            <a:off x="6334652" y="7420560"/>
            <a:ext cx="3197" cy="676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91" name="Line 191"/>
          <p:cNvSpPr/>
          <p:nvPr/>
        </p:nvSpPr>
        <p:spPr>
          <a:xfrm flipH="1">
            <a:off x="6330808" y="7427320"/>
            <a:ext cx="3844" cy="6414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92" name="Line 192"/>
          <p:cNvSpPr/>
          <p:nvPr/>
        </p:nvSpPr>
        <p:spPr>
          <a:xfrm flipH="1">
            <a:off x="6326353" y="7433734"/>
            <a:ext cx="4455" cy="6006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93" name="Line 193"/>
          <p:cNvSpPr/>
          <p:nvPr/>
        </p:nvSpPr>
        <p:spPr>
          <a:xfrm flipH="1">
            <a:off x="6321332" y="7439741"/>
            <a:ext cx="5022" cy="5541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94" name="Line 194"/>
          <p:cNvSpPr/>
          <p:nvPr/>
        </p:nvSpPr>
        <p:spPr>
          <a:xfrm flipH="1">
            <a:off x="6315791" y="7445282"/>
            <a:ext cx="5541" cy="5022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95" name="Line 195"/>
          <p:cNvSpPr/>
          <p:nvPr/>
        </p:nvSpPr>
        <p:spPr>
          <a:xfrm flipH="1">
            <a:off x="6309784" y="7450303"/>
            <a:ext cx="6006" cy="445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96" name="Line 196"/>
          <p:cNvSpPr/>
          <p:nvPr/>
        </p:nvSpPr>
        <p:spPr>
          <a:xfrm flipH="1">
            <a:off x="6303370" y="7454758"/>
            <a:ext cx="6414" cy="3844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97" name="Line 197"/>
          <p:cNvSpPr/>
          <p:nvPr/>
        </p:nvSpPr>
        <p:spPr>
          <a:xfrm flipH="1">
            <a:off x="6296610" y="7458602"/>
            <a:ext cx="6760" cy="3197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98" name="Line 198"/>
          <p:cNvSpPr/>
          <p:nvPr/>
        </p:nvSpPr>
        <p:spPr>
          <a:xfrm flipH="1">
            <a:off x="6289570" y="7461800"/>
            <a:ext cx="7041" cy="2519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199" name="Line 199"/>
          <p:cNvSpPr/>
          <p:nvPr/>
        </p:nvSpPr>
        <p:spPr>
          <a:xfrm flipH="1">
            <a:off x="6282316" y="7464319"/>
            <a:ext cx="7254" cy="1817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00" name="Line 200"/>
          <p:cNvSpPr/>
          <p:nvPr/>
        </p:nvSpPr>
        <p:spPr>
          <a:xfrm flipH="1">
            <a:off x="6274919" y="7466136"/>
            <a:ext cx="7397" cy="1097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01" name="Line 201"/>
          <p:cNvSpPr/>
          <p:nvPr/>
        </p:nvSpPr>
        <p:spPr>
          <a:xfrm flipH="1">
            <a:off x="6267450" y="7467233"/>
            <a:ext cx="7469" cy="367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02" name="Line 202"/>
          <p:cNvSpPr/>
          <p:nvPr/>
        </p:nvSpPr>
        <p:spPr>
          <a:xfrm flipH="1">
            <a:off x="6249568" y="7467600"/>
            <a:ext cx="17882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03" name="Line 203"/>
          <p:cNvSpPr/>
          <p:nvPr/>
        </p:nvSpPr>
        <p:spPr>
          <a:xfrm flipH="1">
            <a:off x="6059068" y="7467600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04" name="Line 204"/>
          <p:cNvSpPr/>
          <p:nvPr/>
        </p:nvSpPr>
        <p:spPr>
          <a:xfrm flipH="1">
            <a:off x="5868568" y="7467600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05" name="Line 205"/>
          <p:cNvSpPr/>
          <p:nvPr/>
        </p:nvSpPr>
        <p:spPr>
          <a:xfrm flipH="1">
            <a:off x="5678068" y="7467600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06" name="Line 206"/>
          <p:cNvSpPr/>
          <p:nvPr/>
        </p:nvSpPr>
        <p:spPr>
          <a:xfrm flipH="1">
            <a:off x="5487568" y="7467600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07" name="Line 207"/>
          <p:cNvSpPr/>
          <p:nvPr/>
        </p:nvSpPr>
        <p:spPr>
          <a:xfrm flipH="1">
            <a:off x="5297068" y="7467600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08" name="Line 208"/>
          <p:cNvSpPr/>
          <p:nvPr/>
        </p:nvSpPr>
        <p:spPr>
          <a:xfrm flipH="1">
            <a:off x="5106568" y="7467600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09" name="Line 209"/>
          <p:cNvSpPr/>
          <p:nvPr/>
        </p:nvSpPr>
        <p:spPr>
          <a:xfrm flipH="1">
            <a:off x="4916068" y="7467600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10" name="Line 210"/>
          <p:cNvSpPr/>
          <p:nvPr/>
        </p:nvSpPr>
        <p:spPr>
          <a:xfrm flipH="1">
            <a:off x="4725568" y="7467600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11" name="Line 211"/>
          <p:cNvSpPr/>
          <p:nvPr/>
        </p:nvSpPr>
        <p:spPr>
          <a:xfrm flipH="1">
            <a:off x="4535068" y="7467600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12" name="Line 212"/>
          <p:cNvSpPr/>
          <p:nvPr/>
        </p:nvSpPr>
        <p:spPr>
          <a:xfrm flipH="1">
            <a:off x="4344568" y="7467600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13" name="Line 213"/>
          <p:cNvSpPr/>
          <p:nvPr/>
        </p:nvSpPr>
        <p:spPr>
          <a:xfrm flipH="1">
            <a:off x="4154068" y="7467600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14" name="Line 214"/>
          <p:cNvSpPr/>
          <p:nvPr/>
        </p:nvSpPr>
        <p:spPr>
          <a:xfrm flipH="1">
            <a:off x="3981450" y="7467600"/>
            <a:ext cx="105943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15" name="Line 215"/>
          <p:cNvSpPr/>
          <p:nvPr/>
        </p:nvSpPr>
        <p:spPr>
          <a:xfrm flipH="1" flipV="1">
            <a:off x="3973981" y="7467233"/>
            <a:ext cx="7469" cy="367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16" name="Line 216"/>
          <p:cNvSpPr/>
          <p:nvPr/>
        </p:nvSpPr>
        <p:spPr>
          <a:xfrm flipH="1" flipV="1">
            <a:off x="3966584" y="7466136"/>
            <a:ext cx="7397" cy="1097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17" name="Line 217"/>
          <p:cNvSpPr/>
          <p:nvPr/>
        </p:nvSpPr>
        <p:spPr>
          <a:xfrm flipH="1" flipV="1">
            <a:off x="3963746" y="7465425"/>
            <a:ext cx="2838" cy="711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18" name="Line 218"/>
          <p:cNvSpPr/>
          <p:nvPr/>
        </p:nvSpPr>
        <p:spPr>
          <a:xfrm flipH="1" flipV="1">
            <a:off x="3911050" y="7420560"/>
            <a:ext cx="2214" cy="4681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19" name="Line 219"/>
          <p:cNvSpPr/>
          <p:nvPr/>
        </p:nvSpPr>
        <p:spPr>
          <a:xfrm flipH="1" flipV="1">
            <a:off x="3908531" y="7413520"/>
            <a:ext cx="2519" cy="7041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20" name="Line 220"/>
          <p:cNvSpPr/>
          <p:nvPr/>
        </p:nvSpPr>
        <p:spPr>
          <a:xfrm flipH="1" flipV="1">
            <a:off x="3906714" y="7406266"/>
            <a:ext cx="1817" cy="7254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21" name="Line 221"/>
          <p:cNvSpPr/>
          <p:nvPr/>
        </p:nvSpPr>
        <p:spPr>
          <a:xfrm flipH="1" flipV="1">
            <a:off x="3905617" y="7398869"/>
            <a:ext cx="1097" cy="7397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22" name="Line 222"/>
          <p:cNvSpPr/>
          <p:nvPr/>
        </p:nvSpPr>
        <p:spPr>
          <a:xfrm flipH="1" flipV="1">
            <a:off x="3905250" y="7391400"/>
            <a:ext cx="367" cy="7469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23" name="Line 223"/>
          <p:cNvSpPr/>
          <p:nvPr/>
        </p:nvSpPr>
        <p:spPr>
          <a:xfrm flipV="1">
            <a:off x="3905250" y="7302665"/>
            <a:ext cx="0" cy="8873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24" name="Line 224"/>
          <p:cNvSpPr/>
          <p:nvPr/>
        </p:nvSpPr>
        <p:spPr>
          <a:xfrm flipV="1">
            <a:off x="3905250" y="7112165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25" name="Line 225"/>
          <p:cNvSpPr/>
          <p:nvPr/>
        </p:nvSpPr>
        <p:spPr>
          <a:xfrm flipV="1">
            <a:off x="3905250" y="6921665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26" name="Line 226"/>
          <p:cNvSpPr/>
          <p:nvPr/>
        </p:nvSpPr>
        <p:spPr>
          <a:xfrm flipV="1">
            <a:off x="3905250" y="6731165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27" name="Line 227"/>
          <p:cNvSpPr/>
          <p:nvPr/>
        </p:nvSpPr>
        <p:spPr>
          <a:xfrm flipV="1">
            <a:off x="3905250" y="6540665"/>
            <a:ext cx="0" cy="123825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28" name="Line 228"/>
          <p:cNvSpPr/>
          <p:nvPr/>
        </p:nvSpPr>
        <p:spPr>
          <a:xfrm flipV="1">
            <a:off x="3905250" y="6381750"/>
            <a:ext cx="0" cy="9224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29" name="Line 229"/>
          <p:cNvSpPr/>
          <p:nvPr/>
        </p:nvSpPr>
        <p:spPr>
          <a:xfrm flipV="1">
            <a:off x="3905250" y="6374281"/>
            <a:ext cx="367" cy="7469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30" name="Line 230"/>
          <p:cNvSpPr/>
          <p:nvPr/>
        </p:nvSpPr>
        <p:spPr>
          <a:xfrm flipV="1">
            <a:off x="3905617" y="6366884"/>
            <a:ext cx="1097" cy="7397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31" name="Line 231"/>
          <p:cNvSpPr/>
          <p:nvPr/>
        </p:nvSpPr>
        <p:spPr>
          <a:xfrm flipV="1">
            <a:off x="3906714" y="6359630"/>
            <a:ext cx="1817" cy="7254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32" name="Line 232"/>
          <p:cNvSpPr/>
          <p:nvPr/>
        </p:nvSpPr>
        <p:spPr>
          <a:xfrm flipV="1">
            <a:off x="3908531" y="6352590"/>
            <a:ext cx="2519" cy="7041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33" name="Line 233"/>
          <p:cNvSpPr/>
          <p:nvPr/>
        </p:nvSpPr>
        <p:spPr>
          <a:xfrm flipV="1">
            <a:off x="3911050" y="6351077"/>
            <a:ext cx="716" cy="1513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34" name="Line 234"/>
          <p:cNvSpPr/>
          <p:nvPr/>
        </p:nvSpPr>
        <p:spPr>
          <a:xfrm flipV="1">
            <a:off x="3960346" y="6307014"/>
            <a:ext cx="6238" cy="1563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35" name="Line 235"/>
          <p:cNvSpPr/>
          <p:nvPr/>
        </p:nvSpPr>
        <p:spPr>
          <a:xfrm flipV="1">
            <a:off x="3966584" y="6305917"/>
            <a:ext cx="7397" cy="1097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36" name="Line 236"/>
          <p:cNvSpPr/>
          <p:nvPr/>
        </p:nvSpPr>
        <p:spPr>
          <a:xfrm flipV="1">
            <a:off x="3973981" y="6305550"/>
            <a:ext cx="7469" cy="367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37" name="Line 237"/>
          <p:cNvSpPr/>
          <p:nvPr/>
        </p:nvSpPr>
        <p:spPr>
          <a:xfrm>
            <a:off x="3981450" y="6305550"/>
            <a:ext cx="102439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38" name="Line 238"/>
          <p:cNvSpPr/>
          <p:nvPr/>
        </p:nvSpPr>
        <p:spPr>
          <a:xfrm>
            <a:off x="4150564" y="6305550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39" name="Line 239"/>
          <p:cNvSpPr/>
          <p:nvPr/>
        </p:nvSpPr>
        <p:spPr>
          <a:xfrm>
            <a:off x="4341064" y="6305550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40" name="Line 240"/>
          <p:cNvSpPr/>
          <p:nvPr/>
        </p:nvSpPr>
        <p:spPr>
          <a:xfrm>
            <a:off x="4531564" y="6305550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41" name="Line 241"/>
          <p:cNvSpPr/>
          <p:nvPr/>
        </p:nvSpPr>
        <p:spPr>
          <a:xfrm>
            <a:off x="4722064" y="6305550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42" name="Line 242"/>
          <p:cNvSpPr/>
          <p:nvPr/>
        </p:nvSpPr>
        <p:spPr>
          <a:xfrm>
            <a:off x="4912564" y="6305550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43" name="Line 243"/>
          <p:cNvSpPr/>
          <p:nvPr/>
        </p:nvSpPr>
        <p:spPr>
          <a:xfrm>
            <a:off x="5103064" y="6305550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44" name="Line 244"/>
          <p:cNvSpPr/>
          <p:nvPr/>
        </p:nvSpPr>
        <p:spPr>
          <a:xfrm>
            <a:off x="5293564" y="6305550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45" name="Line 245"/>
          <p:cNvSpPr/>
          <p:nvPr/>
        </p:nvSpPr>
        <p:spPr>
          <a:xfrm>
            <a:off x="5484064" y="6305550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46" name="Line 246"/>
          <p:cNvSpPr/>
          <p:nvPr/>
        </p:nvSpPr>
        <p:spPr>
          <a:xfrm>
            <a:off x="5674564" y="6305550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47" name="Line 247"/>
          <p:cNvSpPr/>
          <p:nvPr/>
        </p:nvSpPr>
        <p:spPr>
          <a:xfrm>
            <a:off x="5865064" y="6305550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48" name="Line 248"/>
          <p:cNvSpPr/>
          <p:nvPr/>
        </p:nvSpPr>
        <p:spPr>
          <a:xfrm>
            <a:off x="6055564" y="6305550"/>
            <a:ext cx="123825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49" name="Line 249"/>
          <p:cNvSpPr/>
          <p:nvPr/>
        </p:nvSpPr>
        <p:spPr>
          <a:xfrm>
            <a:off x="6246064" y="6305550"/>
            <a:ext cx="21386" cy="0"/>
          </a:xfrm>
          <a:prstGeom prst="line">
            <a:avLst/>
          </a:prstGeom>
          <a:noFill/>
          <a:ln w="285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50" name="Rect 250"/>
          <p:cNvSpPr/>
          <p:nvPr/>
        </p:nvSpPr>
        <p:spPr>
          <a:xfrm>
            <a:off x="4114800" y="3095625"/>
            <a:ext cx="114300" cy="15811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/>
          <a:lstStyle/>
          <a:p/>
        </p:txBody>
      </p:sp>
      <p:sp>
        <p:nvSpPr>
          <p:cNvPr id="251" name="Rect 251"/>
          <p:cNvSpPr/>
          <p:nvPr/>
        </p:nvSpPr>
        <p:spPr>
          <a:xfrm>
            <a:off x="6000750" y="3095625"/>
            <a:ext cx="114300" cy="15811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" name="Rect 252"/>
          <p:cNvSpPr/>
          <p:nvPr/>
        </p:nvSpPr>
        <p:spPr>
          <a:xfrm>
            <a:off x="4162425" y="3352800"/>
            <a:ext cx="1885950" cy="962025"/>
          </a:xfrm>
          <a:prstGeom prst="rect">
            <a:avLst/>
          </a:prstGeom>
          <a:solidFill>
            <a:srgbClr val="FFFFFF"/>
          </a:solidFill>
          <a:ln w="15875">
            <a:solidFill>
              <a:srgbClr val="164F73"/>
            </a:solidFill>
          </a:ln>
        </p:spPr>
        <p:txBody>
          <a:bodyPr/>
          <a:lstStyle/>
          <a:p/>
        </p:txBody>
      </p:sp>
      <p:sp>
        <p:nvSpPr>
          <p:cNvPr id="253" name="TextBox 253"/>
          <p:cNvSpPr txBox="1"/>
          <p:nvPr/>
        </p:nvSpPr>
        <p:spPr>
          <a:xfrm>
            <a:off x="695325" y="2047875"/>
            <a:ext cx="514350" cy="5143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lang="zh-CN" sz="2700"/>
          </a:p>
        </p:txBody>
      </p:sp>
      <p:sp>
        <p:nvSpPr>
          <p:cNvPr id="254" name="TextBox 254"/>
          <p:cNvSpPr txBox="1"/>
          <p:nvPr/>
        </p:nvSpPr>
        <p:spPr>
          <a:xfrm>
            <a:off x="4038600" y="2047875"/>
            <a:ext cx="514350" cy="5143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lang="zh-CN" sz="2700"/>
          </a:p>
        </p:txBody>
      </p:sp>
      <p:sp>
        <p:nvSpPr>
          <p:cNvPr id="255" name="TextBox 255"/>
          <p:cNvSpPr txBox="1"/>
          <p:nvPr/>
        </p:nvSpPr>
        <p:spPr>
          <a:xfrm>
            <a:off x="6819900" y="2047875"/>
            <a:ext cx="514350" cy="5143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lang="zh-CN" sz="2700"/>
          </a:p>
        </p:txBody>
      </p:sp>
      <p:sp>
        <p:nvSpPr>
          <p:cNvPr id="256" name="TextBox 256"/>
          <p:cNvSpPr txBox="1"/>
          <p:nvPr/>
        </p:nvSpPr>
        <p:spPr>
          <a:xfrm>
            <a:off x="10029825" y="2047875"/>
            <a:ext cx="514350" cy="5143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lang="zh-CN" sz="2700"/>
          </a:p>
        </p:txBody>
      </p:sp>
      <p:sp>
        <p:nvSpPr>
          <p:cNvPr id="257" name="TextBox 257"/>
          <p:cNvSpPr txBox="1"/>
          <p:nvPr/>
        </p:nvSpPr>
        <p:spPr>
          <a:xfrm>
            <a:off x="7210425" y="6353175"/>
            <a:ext cx="514350" cy="5143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lang="zh-CN" sz="2700"/>
          </a:p>
        </p:txBody>
      </p:sp>
      <p:sp>
        <p:nvSpPr>
          <p:cNvPr id="258" name="TextBox 258"/>
          <p:cNvSpPr txBox="1"/>
          <p:nvPr/>
        </p:nvSpPr>
        <p:spPr>
          <a:xfrm>
            <a:off x="1276350" y="2066925"/>
            <a:ext cx="1990725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拟获取输入</a:t>
            </a:r>
            <a:endParaRPr lang="zh-CN" sz="2900"/>
          </a:p>
        </p:txBody>
      </p:sp>
      <p:sp>
        <p:nvSpPr>
          <p:cNvPr id="259" name="TextBox 259"/>
          <p:cNvSpPr txBox="1"/>
          <p:nvPr/>
        </p:nvSpPr>
        <p:spPr>
          <a:xfrm>
            <a:off x="4629150" y="2066925"/>
            <a:ext cx="1524000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时间门槛</a:t>
            </a:r>
            <a:endParaRPr lang="zh-CN" sz="2900"/>
          </a:p>
        </p:txBody>
      </p:sp>
      <p:sp>
        <p:nvSpPr>
          <p:cNvPr id="260" name="TextBox 260"/>
          <p:cNvSpPr txBox="1"/>
          <p:nvPr/>
        </p:nvSpPr>
        <p:spPr>
          <a:xfrm>
            <a:off x="7458075" y="2066925"/>
            <a:ext cx="1847850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因果窗口</a:t>
            </a:r>
            <a:endParaRPr lang="zh-CN" sz="2900"/>
          </a:p>
        </p:txBody>
      </p:sp>
      <p:sp>
        <p:nvSpPr>
          <p:cNvPr id="261" name="TextBox 261"/>
          <p:cNvSpPr txBox="1"/>
          <p:nvPr/>
        </p:nvSpPr>
        <p:spPr>
          <a:xfrm>
            <a:off x="10668000" y="2066925"/>
            <a:ext cx="2257425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受控消融</a:t>
            </a:r>
            <a:endParaRPr lang="zh-CN" sz="2900"/>
          </a:p>
        </p:txBody>
      </p:sp>
      <p:sp>
        <p:nvSpPr>
          <p:cNvPr id="262" name="TextBox 262"/>
          <p:cNvSpPr txBox="1"/>
          <p:nvPr/>
        </p:nvSpPr>
        <p:spPr>
          <a:xfrm>
            <a:off x="7820025" y="6315075"/>
            <a:ext cx="4676775" cy="609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保留变量／尺度／样本索引</a:t>
            </a:r>
            <a:endParaRPr lang="zh-CN" sz="2900"/>
          </a:p>
        </p:txBody>
      </p:sp>
      <p:sp>
        <p:nvSpPr>
          <p:cNvPr id="263" name="TextBox 263"/>
          <p:cNvSpPr txBox="1"/>
          <p:nvPr/>
        </p:nvSpPr>
        <p:spPr>
          <a:xfrm>
            <a:off x="6810375" y="2800350"/>
            <a:ext cx="2476500" cy="4286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仅用历史输入</a:t>
            </a:r>
            <a:endParaRPr lang="zh-CN" sz="2700"/>
          </a:p>
        </p:txBody>
      </p:sp>
      <p:sp>
        <p:nvSpPr>
          <p:cNvPr id="264" name="TextBox 264"/>
          <p:cNvSpPr txBox="1"/>
          <p:nvPr/>
        </p:nvSpPr>
        <p:spPr>
          <a:xfrm>
            <a:off x="10048875" y="2800350"/>
            <a:ext cx="2819400" cy="4286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同容量／同预算</a:t>
            </a:r>
            <a:endParaRPr lang="zh-CN" sz="2700"/>
          </a:p>
        </p:txBody>
      </p:sp>
      <p:sp>
        <p:nvSpPr>
          <p:cNvPr id="265" name="TextBox 265"/>
          <p:cNvSpPr txBox="1"/>
          <p:nvPr/>
        </p:nvSpPr>
        <p:spPr>
          <a:xfrm>
            <a:off x="857250" y="2867025"/>
            <a:ext cx="21717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00">
                <a:solidFill>
                  <a:srgbClr val="303030"/>
                </a:solidFill>
                <a:latin typeface="Noto Sans CJK SC Medium"/>
                <a:ea typeface="Noto Sans CJK SC Medium"/>
                <a:cs typeface="Noto Sans CJK SC Medium"/>
              </a:rPr>
              <a:t>功率历史</a:t>
            </a:r>
            <a:endParaRPr lang="zh-CN" sz="2500"/>
          </a:p>
        </p:txBody>
      </p:sp>
      <p:sp>
        <p:nvSpPr>
          <p:cNvPr id="266" name="TextBox 266"/>
          <p:cNvSpPr txBox="1"/>
          <p:nvPr/>
        </p:nvSpPr>
        <p:spPr>
          <a:xfrm>
            <a:off x="857250" y="3257550"/>
            <a:ext cx="21717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00">
                <a:solidFill>
                  <a:srgbClr val="303030"/>
                </a:solidFill>
                <a:latin typeface="Noto Sans CJK SC Medium"/>
                <a:ea typeface="Noto Sans CJK SC Medium"/>
                <a:cs typeface="Noto Sans CJK SC Medium"/>
              </a:rPr>
              <a:t>太阳几何</a:t>
            </a:r>
            <a:endParaRPr lang="zh-CN" sz="2500"/>
          </a:p>
        </p:txBody>
      </p:sp>
      <p:sp>
        <p:nvSpPr>
          <p:cNvPr id="267" name="TextBox 267"/>
          <p:cNvSpPr txBox="1"/>
          <p:nvPr/>
        </p:nvSpPr>
        <p:spPr>
          <a:xfrm>
            <a:off x="876300" y="38862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00">
                <a:solidFill>
                  <a:srgbClr val="303030"/>
                </a:solidFill>
                <a:latin typeface="Noto Sans CJK SC Medium"/>
                <a:ea typeface="Noto Sans CJK SC Medium"/>
                <a:cs typeface="Noto Sans CJK SC Medium"/>
              </a:rPr>
              <a:t>地面气象</a:t>
            </a:r>
            <a:endParaRPr lang="zh-CN" sz="2500"/>
          </a:p>
        </p:txBody>
      </p:sp>
      <p:sp>
        <p:nvSpPr>
          <p:cNvPr id="268" name="TextBox 268"/>
          <p:cNvSpPr txBox="1"/>
          <p:nvPr/>
        </p:nvSpPr>
        <p:spPr>
          <a:xfrm>
            <a:off x="876300" y="4276725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00">
                <a:solidFill>
                  <a:srgbClr val="303030"/>
                </a:solidFill>
                <a:latin typeface="Noto Sans CJK SC Medium"/>
                <a:ea typeface="Noto Sans CJK SC Medium"/>
                <a:cs typeface="Noto Sans CJK SC Medium"/>
              </a:rPr>
              <a:t>观测</a:t>
            </a:r>
            <a:endParaRPr lang="zh-CN" sz="2500"/>
          </a:p>
        </p:txBody>
      </p:sp>
      <p:sp>
        <p:nvSpPr>
          <p:cNvPr id="269" name="TextBox 269"/>
          <p:cNvSpPr txBox="1"/>
          <p:nvPr/>
        </p:nvSpPr>
        <p:spPr>
          <a:xfrm>
            <a:off x="857250" y="4914900"/>
            <a:ext cx="2171700" cy="4000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00">
                <a:solidFill>
                  <a:srgbClr val="303030"/>
                </a:solidFill>
                <a:latin typeface="Noto Sans CJK SC Medium"/>
                <a:ea typeface="Noto Sans CJK SC Medium"/>
                <a:cs typeface="Noto Sans CJK SC Medium"/>
              </a:rPr>
              <a:t>NWP与卫星</a:t>
            </a:r>
            <a:endParaRPr lang="zh-CN" sz="2500"/>
          </a:p>
        </p:txBody>
      </p:sp>
      <p:sp>
        <p:nvSpPr>
          <p:cNvPr id="270" name="TextBox 270"/>
          <p:cNvSpPr txBox="1"/>
          <p:nvPr/>
        </p:nvSpPr>
        <p:spPr>
          <a:xfrm>
            <a:off x="857250" y="5324475"/>
            <a:ext cx="2171700" cy="4000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00">
                <a:solidFill>
                  <a:srgbClr val="303030"/>
                </a:solidFill>
                <a:latin typeface="Noto Sans CJK SC Medium"/>
                <a:ea typeface="Noto Sans CJK SC Medium"/>
                <a:cs typeface="Noto Sans CJK SC Medium"/>
              </a:rPr>
              <a:t>按授权加入</a:t>
            </a:r>
            <a:endParaRPr lang="zh-CN" sz="2500"/>
          </a:p>
        </p:txBody>
      </p:sp>
      <p:sp>
        <p:nvSpPr>
          <p:cNvPr id="271" name="TextBox 271"/>
          <p:cNvSpPr txBox="1"/>
          <p:nvPr/>
        </p:nvSpPr>
        <p:spPr>
          <a:xfrm>
            <a:off x="4210050" y="3419475"/>
            <a:ext cx="1790700" cy="4286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303030"/>
                </a:solidFill>
                <a:latin typeface="Noto Sans CJK SC Medium"/>
                <a:ea typeface="Noto Sans CJK SC Medium"/>
                <a:cs typeface="Noto Sans CJK SC Medium"/>
              </a:rPr>
              <a:t>获取时间</a:t>
            </a:r>
            <a:endParaRPr lang="zh-CN" sz="2700"/>
          </a:p>
        </p:txBody>
      </p:sp>
      <p:sp>
        <p:nvSpPr>
          <p:cNvPr id="272" name="TextBox 272"/>
          <p:cNvSpPr txBox="1"/>
          <p:nvPr/>
        </p:nvSpPr>
        <p:spPr>
          <a:xfrm>
            <a:off x="4191000" y="3848100"/>
            <a:ext cx="1828800" cy="4286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303030"/>
                </a:solidFill>
                <a:latin typeface="Noto Sans CJK SC Medium"/>
                <a:ea typeface="Noto Sans CJK SC Medium"/>
                <a:cs typeface="Noto Sans CJK SC Medium"/>
              </a:rPr>
              <a:t>不晚于发布</a:t>
            </a:r>
            <a:endParaRPr lang="zh-CN" sz="2700"/>
          </a:p>
        </p:txBody>
      </p:sp>
      <p:sp>
        <p:nvSpPr>
          <p:cNvPr id="273" name="TextBox 273"/>
          <p:cNvSpPr txBox="1"/>
          <p:nvPr/>
        </p:nvSpPr>
        <p:spPr>
          <a:xfrm>
            <a:off x="7038975" y="3486150"/>
            <a:ext cx="2028825" cy="4191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303030"/>
                </a:solidFill>
                <a:latin typeface="Noto Sans CJK SC Medium"/>
                <a:ea typeface="Noto Sans CJK SC Medium"/>
                <a:cs typeface="Noto Sans CJK SC Medium"/>
              </a:rPr>
              <a:t>慢变成分</a:t>
            </a:r>
            <a:endParaRPr lang="zh-CN" sz="2700"/>
          </a:p>
        </p:txBody>
      </p:sp>
      <p:sp>
        <p:nvSpPr>
          <p:cNvPr id="274" name="TextBox 274"/>
          <p:cNvSpPr txBox="1"/>
          <p:nvPr/>
        </p:nvSpPr>
        <p:spPr>
          <a:xfrm>
            <a:off x="7038975" y="4352925"/>
            <a:ext cx="2028825" cy="4191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303030"/>
                </a:solidFill>
                <a:latin typeface="Noto Sans CJK SC Medium"/>
                <a:ea typeface="Noto Sans CJK SC Medium"/>
                <a:cs typeface="Noto Sans CJK SC Medium"/>
              </a:rPr>
              <a:t>快变成分</a:t>
            </a:r>
            <a:endParaRPr lang="zh-CN" sz="2700"/>
          </a:p>
        </p:txBody>
      </p:sp>
      <p:sp>
        <p:nvSpPr>
          <p:cNvPr id="275" name="TextBox 275"/>
          <p:cNvSpPr txBox="1"/>
          <p:nvPr/>
        </p:nvSpPr>
        <p:spPr>
          <a:xfrm>
            <a:off x="10287000" y="3429000"/>
            <a:ext cx="2343150" cy="4191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303030"/>
                </a:solidFill>
                <a:latin typeface="Noto Sans CJK SC Medium"/>
                <a:ea typeface="Noto Sans CJK SC Medium"/>
                <a:cs typeface="Noto Sans CJK SC Medium"/>
              </a:rPr>
              <a:t>逐源增加</a:t>
            </a:r>
            <a:endParaRPr lang="zh-CN" sz="2700"/>
          </a:p>
        </p:txBody>
      </p:sp>
      <p:sp>
        <p:nvSpPr>
          <p:cNvPr id="276" name="TextBox 276"/>
          <p:cNvSpPr txBox="1"/>
          <p:nvPr/>
        </p:nvSpPr>
        <p:spPr>
          <a:xfrm>
            <a:off x="10287000" y="4105275"/>
            <a:ext cx="2343150" cy="4191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303030"/>
                </a:solidFill>
                <a:latin typeface="Noto Sans CJK SC Medium"/>
                <a:ea typeface="Noto Sans CJK SC Medium"/>
                <a:cs typeface="Noto Sans CJK SC Medium"/>
              </a:rPr>
              <a:t>去除尺度</a:t>
            </a:r>
            <a:endParaRPr lang="zh-CN" sz="2700"/>
          </a:p>
        </p:txBody>
      </p:sp>
      <p:sp>
        <p:nvSpPr>
          <p:cNvPr id="277" name="TextBox 277"/>
          <p:cNvSpPr txBox="1"/>
          <p:nvPr/>
        </p:nvSpPr>
        <p:spPr>
          <a:xfrm>
            <a:off x="10287000" y="4819650"/>
            <a:ext cx="2343150" cy="4191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303030"/>
                </a:solidFill>
                <a:latin typeface="Noto Sans CJK SC Medium"/>
                <a:ea typeface="Noto Sans CJK SC Medium"/>
                <a:cs typeface="Noto Sans CJK SC Medium"/>
              </a:rPr>
              <a:t>固定融合</a:t>
            </a:r>
            <a:endParaRPr lang="zh-CN" sz="2700"/>
          </a:p>
        </p:txBody>
      </p:sp>
      <p:sp>
        <p:nvSpPr>
          <p:cNvPr id="278" name="TextBox 278"/>
          <p:cNvSpPr txBox="1"/>
          <p:nvPr/>
        </p:nvSpPr>
        <p:spPr>
          <a:xfrm>
            <a:off x="4095750" y="6467475"/>
            <a:ext cx="2057400" cy="4286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303030"/>
                </a:solidFill>
                <a:latin typeface="Noto Sans CJK SC Medium"/>
                <a:ea typeface="Noto Sans CJK SC Medium"/>
                <a:cs typeface="Noto Sans CJK SC Medium"/>
              </a:rPr>
              <a:t>未到达数据</a:t>
            </a:r>
            <a:endParaRPr lang="zh-CN" sz="2700"/>
          </a:p>
        </p:txBody>
      </p:sp>
      <p:sp>
        <p:nvSpPr>
          <p:cNvPr id="279" name="TextBox 279"/>
          <p:cNvSpPr txBox="1"/>
          <p:nvPr/>
        </p:nvSpPr>
        <p:spPr>
          <a:xfrm>
            <a:off x="4095750" y="6915150"/>
            <a:ext cx="2057400" cy="4286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303030"/>
                </a:solidFill>
                <a:latin typeface="Noto Sans CJK SC Medium"/>
                <a:ea typeface="Noto Sans CJK SC Medium"/>
                <a:cs typeface="Noto Sans CJK SC Medium"/>
              </a:rPr>
              <a:t>等待</a:t>
            </a:r>
            <a:endParaRPr lang="zh-CN" sz="2700"/>
          </a:p>
        </p:txBody>
      </p:sp>
      <p:sp>
        <p:nvSpPr>
          <p:cNvPr id="280" name="TextBox 280"/>
          <p:cNvSpPr txBox="1"/>
          <p:nvPr/>
        </p:nvSpPr>
        <p:spPr>
          <a:xfrm>
            <a:off x="7258050" y="7029450"/>
            <a:ext cx="5133975" cy="4000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00">
                <a:solidFill>
                  <a:srgbClr val="303030"/>
                </a:solidFill>
                <a:latin typeface="Noto Sans CJK SC Medium"/>
                <a:ea typeface="Noto Sans CJK SC Medium"/>
                <a:cs typeface="Noto Sans CJK SC Medium"/>
              </a:rPr>
              <a:t>训练与历史验证选取；</a:t>
            </a:r>
            <a:endParaRPr lang="zh-CN" sz="2500"/>
          </a:p>
        </p:txBody>
      </p:sp>
      <p:sp>
        <p:nvSpPr>
          <p:cNvPr id="281" name="TextBox 281"/>
          <p:cNvSpPr txBox="1"/>
          <p:nvPr/>
        </p:nvSpPr>
        <p:spPr>
          <a:xfrm>
            <a:off x="7258050" y="7419975"/>
            <a:ext cx="5133975" cy="4000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00">
                <a:solidFill>
                  <a:srgbClr val="303030"/>
                </a:solidFill>
                <a:latin typeface="Noto Sans CJK SC Medium"/>
                <a:ea typeface="Noto Sans CJK SC Medium"/>
                <a:cs typeface="Noto Sans CJK SC Medium"/>
              </a:rPr>
              <a:t>测试不参与选择</a:t>
            </a:r>
            <a:endParaRPr lang="zh-CN" sz="2500"/>
          </a:p>
        </p:txBody>
      </p:sp>
      <p:sp>
        <p:nvSpPr>
          <p:cNvPr id="282" name="TextBox 282"/>
          <p:cNvSpPr txBox="1"/>
          <p:nvPr/>
        </p:nvSpPr>
        <p:spPr>
          <a:xfrm>
            <a:off x="13401675" y="6667500"/>
            <a:ext cx="647700" cy="4476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C2</a:t>
            </a:r>
            <a:endParaRPr lang="zh-CN" sz="2700"/>
          </a:p>
        </p:txBody>
      </p:sp>
      <p:sp>
        <p:nvSpPr>
          <p:cNvPr id="283" name="TextBox 283"/>
          <p:cNvSpPr txBox="1"/>
          <p:nvPr/>
        </p:nvSpPr>
        <p:spPr>
          <a:xfrm>
            <a:off x="400050" y="8143875"/>
            <a:ext cx="3476625" cy="4762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 b="1">
                <a:solidFill>
                  <a:srgbClr val="303030"/>
                </a:solidFill>
                <a:latin typeface="Noto Sans CJK SC"/>
                <a:ea typeface="Noto Sans CJK SC"/>
                <a:cs typeface="Noto Sans CJK SC"/>
              </a:rPr>
              <a:t>拟开展研究／结构示意</a:t>
            </a:r>
            <a:endParaRPr lang="zh-CN"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1724025" y="1524000"/>
            <a:ext cx="2152650" cy="647700"/>
          </a:xfrm>
          <a:prstGeom prst="rect">
            <a:avLst/>
          </a:prstGeom>
          <a:solidFill>
            <a:srgbClr val="FFFFFF"/>
          </a:solidFill>
          <a:ln w="27940">
            <a:solidFill>
              <a:srgbClr val="005C96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1724025" y="2600325"/>
            <a:ext cx="2152650" cy="647700"/>
          </a:xfrm>
          <a:prstGeom prst="rect">
            <a:avLst/>
          </a:prstGeom>
          <a:solidFill>
            <a:srgbClr val="FFFFFF"/>
          </a:solidFill>
          <a:ln w="27940">
            <a:solidFill>
              <a:srgbClr val="005C96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4448175" y="2066925"/>
            <a:ext cx="2047875" cy="952500"/>
          </a:xfrm>
          <a:prstGeom prst="rect">
            <a:avLst/>
          </a:prstGeom>
          <a:solidFill>
            <a:srgbClr val="FFFFFF"/>
          </a:solidFill>
          <a:ln w="27940">
            <a:solidFill>
              <a:srgbClr val="0F3C60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7277100" y="1647825"/>
            <a:ext cx="2286000" cy="1409700"/>
          </a:xfrm>
          <a:prstGeom prst="rect">
            <a:avLst/>
          </a:prstGeom>
          <a:solidFill>
            <a:srgbClr val="FFFFFF"/>
          </a:solidFill>
          <a:ln w="27940">
            <a:solidFill>
              <a:srgbClr val="007DA3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7381875" y="1752600"/>
            <a:ext cx="2076450" cy="533400"/>
          </a:xfrm>
          <a:prstGeom prst="rect">
            <a:avLst/>
          </a:prstGeom>
          <a:solidFill>
            <a:srgbClr val="FFFFFF"/>
          </a:solidFill>
          <a:ln w="16510">
            <a:solidFill>
              <a:srgbClr val="007DA3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7381875" y="2390775"/>
            <a:ext cx="2076450" cy="561975"/>
          </a:xfrm>
          <a:prstGeom prst="rect">
            <a:avLst/>
          </a:prstGeom>
          <a:solidFill>
            <a:srgbClr val="FFFFFF"/>
          </a:solidFill>
          <a:ln w="16510">
            <a:solidFill>
              <a:srgbClr val="007DA3"/>
            </a:solidFill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12001500" y="1476375"/>
            <a:ext cx="2362200" cy="1743075"/>
          </a:xfrm>
          <a:prstGeom prst="rect">
            <a:avLst/>
          </a:prstGeom>
          <a:solidFill>
            <a:srgbClr val="FFFFFF"/>
          </a:solidFill>
          <a:ln w="27940">
            <a:solidFill>
              <a:srgbClr val="005C96"/>
            </a:solidFill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12115800" y="2019300"/>
            <a:ext cx="2133600" cy="514350"/>
          </a:xfrm>
          <a:prstGeom prst="rect">
            <a:avLst/>
          </a:prstGeom>
          <a:solidFill>
            <a:srgbClr val="FFFFFF"/>
          </a:solidFill>
          <a:ln w="16510">
            <a:solidFill>
              <a:srgbClr val="005C96"/>
            </a:solidFill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12115800" y="2628900"/>
            <a:ext cx="2133600" cy="485775"/>
          </a:xfrm>
          <a:prstGeom prst="rect">
            <a:avLst/>
          </a:prstGeom>
          <a:solidFill>
            <a:srgbClr val="FFFFFF"/>
          </a:solidFill>
          <a:ln w="16510">
            <a:solidFill>
              <a:srgbClr val="005C96"/>
            </a:solidFill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1724025" y="4048125"/>
            <a:ext cx="2152650" cy="609600"/>
          </a:xfrm>
          <a:prstGeom prst="rect">
            <a:avLst/>
          </a:prstGeom>
          <a:solidFill>
            <a:srgbClr val="FFFFFF"/>
          </a:solidFill>
          <a:ln w="27940">
            <a:solidFill>
              <a:srgbClr val="005C96"/>
            </a:solidFill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1724025" y="4838700"/>
            <a:ext cx="2152650" cy="609600"/>
          </a:xfrm>
          <a:prstGeom prst="rect">
            <a:avLst/>
          </a:prstGeom>
          <a:solidFill>
            <a:srgbClr val="FFFFFF"/>
          </a:solidFill>
          <a:ln w="27940">
            <a:solidFill>
              <a:srgbClr val="005C96"/>
            </a:solidFill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1724025" y="5953125"/>
            <a:ext cx="2152650" cy="609600"/>
          </a:xfrm>
          <a:prstGeom prst="rect">
            <a:avLst/>
          </a:prstGeom>
          <a:solidFill>
            <a:srgbClr val="FFFFFF"/>
          </a:solidFill>
          <a:ln w="27940">
            <a:solidFill>
              <a:srgbClr val="005C96"/>
            </a:solidFill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4448175" y="4953000"/>
            <a:ext cx="2047875" cy="685800"/>
          </a:xfrm>
          <a:prstGeom prst="rect">
            <a:avLst/>
          </a:prstGeom>
          <a:solidFill>
            <a:srgbClr val="FFFFFF"/>
          </a:solidFill>
          <a:ln w="27940">
            <a:solidFill>
              <a:srgbClr val="005C96"/>
            </a:solidFill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7181850" y="4086225"/>
            <a:ext cx="2476500" cy="2514600"/>
          </a:xfrm>
          <a:prstGeom prst="rect">
            <a:avLst/>
          </a:prstGeom>
          <a:solidFill>
            <a:srgbClr val="FFFFFF"/>
          </a:solidFill>
          <a:ln w="27940">
            <a:solidFill>
              <a:srgbClr val="0F3C60"/>
            </a:solidFill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7296150" y="5048250"/>
            <a:ext cx="2247900" cy="504825"/>
          </a:xfrm>
          <a:prstGeom prst="rect">
            <a:avLst/>
          </a:prstGeom>
          <a:solidFill>
            <a:srgbClr val="FFFFFF"/>
          </a:solidFill>
          <a:ln w="16510">
            <a:solidFill>
              <a:srgbClr val="005C96"/>
            </a:solidFill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7296150" y="5638800"/>
            <a:ext cx="2247900" cy="847725"/>
          </a:xfrm>
          <a:prstGeom prst="rect">
            <a:avLst/>
          </a:prstGeom>
          <a:solidFill>
            <a:srgbClr val="FFFFFF"/>
          </a:solidFill>
          <a:ln w="16510">
            <a:solidFill>
              <a:srgbClr val="005C96"/>
            </a:solidFill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10172700" y="4314825"/>
            <a:ext cx="2667000" cy="1819275"/>
          </a:xfrm>
          <a:prstGeom prst="rect">
            <a:avLst/>
          </a:prstGeom>
          <a:solidFill>
            <a:srgbClr val="FFFFFF"/>
          </a:solidFill>
          <a:ln w="2794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10287000" y="4867275"/>
            <a:ext cx="2438400" cy="514350"/>
          </a:xfrm>
          <a:prstGeom prst="rect">
            <a:avLst/>
          </a:prstGeom>
          <a:solidFill>
            <a:srgbClr val="FFFFFF"/>
          </a:solidFill>
          <a:ln w="1651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10287000" y="5486400"/>
            <a:ext cx="2438400" cy="523875"/>
          </a:xfrm>
          <a:prstGeom prst="rect">
            <a:avLst/>
          </a:prstGeom>
          <a:solidFill>
            <a:srgbClr val="FFFFFF"/>
          </a:solidFill>
          <a:ln w="1651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1724025" y="7515225"/>
            <a:ext cx="2152650" cy="647700"/>
          </a:xfrm>
          <a:prstGeom prst="rect">
            <a:avLst/>
          </a:prstGeom>
          <a:solidFill>
            <a:srgbClr val="FFFFFF"/>
          </a:solidFill>
          <a:ln w="27940">
            <a:solidFill>
              <a:srgbClr val="005C96"/>
            </a:solidFill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4448175" y="7162800"/>
            <a:ext cx="2047875" cy="1047750"/>
          </a:xfrm>
          <a:prstGeom prst="rect">
            <a:avLst/>
          </a:prstGeom>
          <a:solidFill>
            <a:srgbClr val="FFFFFF"/>
          </a:solidFill>
          <a:ln w="27940">
            <a:solidFill>
              <a:srgbClr val="0F3C60"/>
            </a:solidFill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7181850" y="7477125"/>
            <a:ext cx="2476500" cy="685800"/>
          </a:xfrm>
          <a:prstGeom prst="rect">
            <a:avLst/>
          </a:prstGeom>
          <a:solidFill>
            <a:srgbClr val="FFFFFF"/>
          </a:solidFill>
          <a:ln w="27940">
            <a:solidFill>
              <a:srgbClr val="005C96"/>
            </a:solidFill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10620375" y="7143750"/>
            <a:ext cx="2476500" cy="1152525"/>
          </a:xfrm>
          <a:prstGeom prst="rect">
            <a:avLst/>
          </a:prstGeom>
          <a:solidFill>
            <a:srgbClr val="FFFFFF"/>
          </a:solidFill>
          <a:ln w="27940">
            <a:solidFill>
              <a:srgbClr val="007DA3"/>
            </a:solidFill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10734675" y="7248525"/>
            <a:ext cx="2247900" cy="438150"/>
          </a:xfrm>
          <a:prstGeom prst="rect">
            <a:avLst/>
          </a:prstGeom>
          <a:solidFill>
            <a:srgbClr val="FFFFFF"/>
          </a:solidFill>
          <a:ln w="16510">
            <a:solidFill>
              <a:srgbClr val="007DA3"/>
            </a:solidFill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10734675" y="7791450"/>
            <a:ext cx="2247900" cy="400050"/>
          </a:xfrm>
          <a:prstGeom prst="rect">
            <a:avLst/>
          </a:prstGeom>
          <a:solidFill>
            <a:srgbClr val="FFFFFF"/>
          </a:solidFill>
          <a:ln w="16510">
            <a:solidFill>
              <a:srgbClr val="007DA3"/>
            </a:solidFill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209550" y="9344025"/>
            <a:ext cx="409575" cy="295275"/>
          </a:xfrm>
          <a:prstGeom prst="rect">
            <a:avLst/>
          </a:prstGeom>
          <a:solidFill>
            <a:srgbClr val="FFFFFF"/>
          </a:solidFill>
          <a:ln w="19050">
            <a:solidFill>
              <a:srgbClr val="005C96"/>
            </a:solidFill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2819400" y="9344025"/>
            <a:ext cx="409575" cy="295275"/>
          </a:xfrm>
          <a:prstGeom prst="rect">
            <a:avLst/>
          </a:prstGeom>
          <a:solidFill>
            <a:srgbClr val="FFFFFF"/>
          </a:solidFill>
          <a:ln w="19050">
            <a:solidFill>
              <a:srgbClr val="007DA3"/>
            </a:solidFill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5429250" y="9344025"/>
            <a:ext cx="409575" cy="295275"/>
          </a:xfrm>
          <a:prstGeom prst="rect">
            <a:avLst/>
          </a:prstGeom>
          <a:solidFill>
            <a:srgbClr val="FFFFFF"/>
          </a:solidFill>
          <a:ln w="1905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4762500" y="1209675"/>
            <a:ext cx="9525000" cy="0"/>
          </a:xfrm>
          <a:prstGeom prst="line">
            <a:avLst/>
          </a:prstGeom>
          <a:noFill/>
          <a:ln w="22860">
            <a:solidFill>
              <a:srgbClr val="121212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4762500" y="1095375"/>
            <a:ext cx="0" cy="228600"/>
          </a:xfrm>
          <a:prstGeom prst="line">
            <a:avLst/>
          </a:prstGeom>
          <a:noFill/>
          <a:ln w="22860">
            <a:solidFill>
              <a:srgbClr val="121212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8001000" y="1095375"/>
            <a:ext cx="0" cy="228600"/>
          </a:xfrm>
          <a:prstGeom prst="line">
            <a:avLst/>
          </a:prstGeom>
          <a:noFill/>
          <a:ln w="22860">
            <a:solidFill>
              <a:srgbClr val="121212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11620500" y="1095375"/>
            <a:ext cx="0" cy="228600"/>
          </a:xfrm>
          <a:prstGeom prst="line">
            <a:avLst/>
          </a:prstGeom>
          <a:noFill/>
          <a:ln w="22860">
            <a:solidFill>
              <a:srgbClr val="121212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14287500" y="1095375"/>
            <a:ext cx="0" cy="228600"/>
          </a:xfrm>
          <a:prstGeom prst="line">
            <a:avLst/>
          </a:prstGeom>
          <a:noFill/>
          <a:ln w="22860">
            <a:solidFill>
              <a:srgbClr val="121212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1524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2857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4191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5524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6858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8191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9525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10858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12192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13525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14859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16192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17526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18859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20193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21526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22860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24193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25527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>
            <a:off x="26860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28194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>
            <a:off x="29527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>
            <a:off x="30861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>
            <a:off x="32194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>
            <a:off x="33528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>
            <a:off x="34861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36195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>
            <a:off x="37528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>
            <a:off x="38862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>
            <a:off x="40195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>
            <a:off x="41529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>
            <a:off x="42862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>
            <a:off x="44196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>
            <a:off x="45529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>
            <a:off x="46863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>
            <a:off x="48196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>
            <a:off x="49530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>
            <a:off x="50863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>
            <a:off x="52197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>
            <a:off x="53530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>
            <a:off x="54864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76" name="Line 76"/>
          <p:cNvSpPr/>
          <p:nvPr/>
        </p:nvSpPr>
        <p:spPr>
          <a:xfrm>
            <a:off x="56197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>
            <a:off x="57531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>
            <a:off x="58864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79" name="Line 79"/>
          <p:cNvSpPr/>
          <p:nvPr/>
        </p:nvSpPr>
        <p:spPr>
          <a:xfrm>
            <a:off x="60198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80" name="Line 80"/>
          <p:cNvSpPr/>
          <p:nvPr/>
        </p:nvSpPr>
        <p:spPr>
          <a:xfrm>
            <a:off x="61531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>
            <a:off x="62865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82" name="Line 82"/>
          <p:cNvSpPr/>
          <p:nvPr/>
        </p:nvSpPr>
        <p:spPr>
          <a:xfrm>
            <a:off x="64198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83" name="Line 83"/>
          <p:cNvSpPr/>
          <p:nvPr/>
        </p:nvSpPr>
        <p:spPr>
          <a:xfrm>
            <a:off x="65532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84" name="Line 84"/>
          <p:cNvSpPr/>
          <p:nvPr/>
        </p:nvSpPr>
        <p:spPr>
          <a:xfrm>
            <a:off x="66865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85" name="Line 85"/>
          <p:cNvSpPr/>
          <p:nvPr/>
        </p:nvSpPr>
        <p:spPr>
          <a:xfrm>
            <a:off x="68199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86" name="Line 86"/>
          <p:cNvSpPr/>
          <p:nvPr/>
        </p:nvSpPr>
        <p:spPr>
          <a:xfrm>
            <a:off x="69532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87" name="Line 87"/>
          <p:cNvSpPr/>
          <p:nvPr/>
        </p:nvSpPr>
        <p:spPr>
          <a:xfrm>
            <a:off x="70866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88" name="Line 88"/>
          <p:cNvSpPr/>
          <p:nvPr/>
        </p:nvSpPr>
        <p:spPr>
          <a:xfrm>
            <a:off x="72199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>
            <a:off x="73533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>
            <a:off x="74866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91" name="Line 91"/>
          <p:cNvSpPr/>
          <p:nvPr/>
        </p:nvSpPr>
        <p:spPr>
          <a:xfrm>
            <a:off x="76200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92" name="Line 92"/>
          <p:cNvSpPr/>
          <p:nvPr/>
        </p:nvSpPr>
        <p:spPr>
          <a:xfrm>
            <a:off x="77533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>
            <a:off x="78867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94" name="Line 94"/>
          <p:cNvSpPr/>
          <p:nvPr/>
        </p:nvSpPr>
        <p:spPr>
          <a:xfrm>
            <a:off x="80200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95" name="Line 95"/>
          <p:cNvSpPr/>
          <p:nvPr/>
        </p:nvSpPr>
        <p:spPr>
          <a:xfrm>
            <a:off x="81534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96" name="Line 96"/>
          <p:cNvSpPr/>
          <p:nvPr/>
        </p:nvSpPr>
        <p:spPr>
          <a:xfrm>
            <a:off x="82867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>
            <a:off x="84201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>
            <a:off x="85534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>
            <a:off x="86868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00" name="Line 100"/>
          <p:cNvSpPr/>
          <p:nvPr/>
        </p:nvSpPr>
        <p:spPr>
          <a:xfrm>
            <a:off x="88201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01" name="Line 101"/>
          <p:cNvSpPr/>
          <p:nvPr/>
        </p:nvSpPr>
        <p:spPr>
          <a:xfrm>
            <a:off x="89535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02" name="Line 102"/>
          <p:cNvSpPr/>
          <p:nvPr/>
        </p:nvSpPr>
        <p:spPr>
          <a:xfrm>
            <a:off x="90868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03" name="Line 103"/>
          <p:cNvSpPr/>
          <p:nvPr/>
        </p:nvSpPr>
        <p:spPr>
          <a:xfrm>
            <a:off x="92202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04" name="Line 104"/>
          <p:cNvSpPr/>
          <p:nvPr/>
        </p:nvSpPr>
        <p:spPr>
          <a:xfrm>
            <a:off x="93535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05" name="Line 105"/>
          <p:cNvSpPr/>
          <p:nvPr/>
        </p:nvSpPr>
        <p:spPr>
          <a:xfrm>
            <a:off x="94869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06" name="Line 106"/>
          <p:cNvSpPr/>
          <p:nvPr/>
        </p:nvSpPr>
        <p:spPr>
          <a:xfrm>
            <a:off x="96202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>
            <a:off x="97536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08" name="Line 108"/>
          <p:cNvSpPr/>
          <p:nvPr/>
        </p:nvSpPr>
        <p:spPr>
          <a:xfrm>
            <a:off x="98869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09" name="Line 109"/>
          <p:cNvSpPr/>
          <p:nvPr/>
        </p:nvSpPr>
        <p:spPr>
          <a:xfrm>
            <a:off x="100203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10" name="Line 110"/>
          <p:cNvSpPr/>
          <p:nvPr/>
        </p:nvSpPr>
        <p:spPr>
          <a:xfrm>
            <a:off x="101536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11" name="Line 111"/>
          <p:cNvSpPr/>
          <p:nvPr/>
        </p:nvSpPr>
        <p:spPr>
          <a:xfrm>
            <a:off x="102870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12" name="Line 112"/>
          <p:cNvSpPr/>
          <p:nvPr/>
        </p:nvSpPr>
        <p:spPr>
          <a:xfrm>
            <a:off x="104203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13" name="Line 113"/>
          <p:cNvSpPr/>
          <p:nvPr/>
        </p:nvSpPr>
        <p:spPr>
          <a:xfrm>
            <a:off x="105537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14" name="Line 114"/>
          <p:cNvSpPr/>
          <p:nvPr/>
        </p:nvSpPr>
        <p:spPr>
          <a:xfrm>
            <a:off x="106870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15" name="Line 115"/>
          <p:cNvSpPr/>
          <p:nvPr/>
        </p:nvSpPr>
        <p:spPr>
          <a:xfrm>
            <a:off x="108204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16" name="Line 116"/>
          <p:cNvSpPr/>
          <p:nvPr/>
        </p:nvSpPr>
        <p:spPr>
          <a:xfrm>
            <a:off x="109537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17" name="Line 117"/>
          <p:cNvSpPr/>
          <p:nvPr/>
        </p:nvSpPr>
        <p:spPr>
          <a:xfrm>
            <a:off x="110871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18" name="Line 118"/>
          <p:cNvSpPr/>
          <p:nvPr/>
        </p:nvSpPr>
        <p:spPr>
          <a:xfrm>
            <a:off x="112204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19" name="Line 119"/>
          <p:cNvSpPr/>
          <p:nvPr/>
        </p:nvSpPr>
        <p:spPr>
          <a:xfrm>
            <a:off x="113538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20" name="Line 120"/>
          <p:cNvSpPr/>
          <p:nvPr/>
        </p:nvSpPr>
        <p:spPr>
          <a:xfrm>
            <a:off x="114871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21" name="Line 121"/>
          <p:cNvSpPr/>
          <p:nvPr/>
        </p:nvSpPr>
        <p:spPr>
          <a:xfrm>
            <a:off x="116205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22" name="Line 122"/>
          <p:cNvSpPr/>
          <p:nvPr/>
        </p:nvSpPr>
        <p:spPr>
          <a:xfrm>
            <a:off x="117538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23" name="Line 123"/>
          <p:cNvSpPr/>
          <p:nvPr/>
        </p:nvSpPr>
        <p:spPr>
          <a:xfrm>
            <a:off x="118872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24" name="Line 124"/>
          <p:cNvSpPr/>
          <p:nvPr/>
        </p:nvSpPr>
        <p:spPr>
          <a:xfrm>
            <a:off x="120205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25" name="Line 125"/>
          <p:cNvSpPr/>
          <p:nvPr/>
        </p:nvSpPr>
        <p:spPr>
          <a:xfrm>
            <a:off x="121539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26" name="Line 126"/>
          <p:cNvSpPr/>
          <p:nvPr/>
        </p:nvSpPr>
        <p:spPr>
          <a:xfrm>
            <a:off x="122872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27" name="Line 127"/>
          <p:cNvSpPr/>
          <p:nvPr/>
        </p:nvSpPr>
        <p:spPr>
          <a:xfrm>
            <a:off x="124206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28" name="Line 128"/>
          <p:cNvSpPr/>
          <p:nvPr/>
        </p:nvSpPr>
        <p:spPr>
          <a:xfrm>
            <a:off x="125539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29" name="Line 129"/>
          <p:cNvSpPr/>
          <p:nvPr/>
        </p:nvSpPr>
        <p:spPr>
          <a:xfrm>
            <a:off x="126873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30" name="Line 130"/>
          <p:cNvSpPr/>
          <p:nvPr/>
        </p:nvSpPr>
        <p:spPr>
          <a:xfrm>
            <a:off x="128206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31" name="Line 131"/>
          <p:cNvSpPr/>
          <p:nvPr/>
        </p:nvSpPr>
        <p:spPr>
          <a:xfrm>
            <a:off x="129540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32" name="Line 132"/>
          <p:cNvSpPr/>
          <p:nvPr/>
        </p:nvSpPr>
        <p:spPr>
          <a:xfrm>
            <a:off x="130873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33" name="Line 133"/>
          <p:cNvSpPr/>
          <p:nvPr/>
        </p:nvSpPr>
        <p:spPr>
          <a:xfrm>
            <a:off x="132207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34" name="Line 134"/>
          <p:cNvSpPr/>
          <p:nvPr/>
        </p:nvSpPr>
        <p:spPr>
          <a:xfrm>
            <a:off x="133540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35" name="Line 135"/>
          <p:cNvSpPr/>
          <p:nvPr/>
        </p:nvSpPr>
        <p:spPr>
          <a:xfrm>
            <a:off x="134874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36" name="Line 136"/>
          <p:cNvSpPr/>
          <p:nvPr/>
        </p:nvSpPr>
        <p:spPr>
          <a:xfrm>
            <a:off x="136207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37" name="Line 137"/>
          <p:cNvSpPr/>
          <p:nvPr/>
        </p:nvSpPr>
        <p:spPr>
          <a:xfrm>
            <a:off x="137541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38" name="Line 138"/>
          <p:cNvSpPr/>
          <p:nvPr/>
        </p:nvSpPr>
        <p:spPr>
          <a:xfrm>
            <a:off x="138874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39" name="Line 139"/>
          <p:cNvSpPr/>
          <p:nvPr/>
        </p:nvSpPr>
        <p:spPr>
          <a:xfrm>
            <a:off x="140208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40" name="Line 140"/>
          <p:cNvSpPr/>
          <p:nvPr/>
        </p:nvSpPr>
        <p:spPr>
          <a:xfrm>
            <a:off x="1415415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41" name="Line 141"/>
          <p:cNvSpPr/>
          <p:nvPr/>
        </p:nvSpPr>
        <p:spPr>
          <a:xfrm>
            <a:off x="14287500" y="381000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42" name="Line 142"/>
          <p:cNvSpPr/>
          <p:nvPr/>
        </p:nvSpPr>
        <p:spPr>
          <a:xfrm>
            <a:off x="14420850" y="3810000"/>
            <a:ext cx="5715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43" name="Line 143"/>
          <p:cNvSpPr/>
          <p:nvPr/>
        </p:nvSpPr>
        <p:spPr>
          <a:xfrm>
            <a:off x="1524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44" name="Line 144"/>
          <p:cNvSpPr/>
          <p:nvPr/>
        </p:nvSpPr>
        <p:spPr>
          <a:xfrm>
            <a:off x="2857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45" name="Line 145"/>
          <p:cNvSpPr/>
          <p:nvPr/>
        </p:nvSpPr>
        <p:spPr>
          <a:xfrm>
            <a:off x="4191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46" name="Line 146"/>
          <p:cNvSpPr/>
          <p:nvPr/>
        </p:nvSpPr>
        <p:spPr>
          <a:xfrm>
            <a:off x="5524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47" name="Line 147"/>
          <p:cNvSpPr/>
          <p:nvPr/>
        </p:nvSpPr>
        <p:spPr>
          <a:xfrm>
            <a:off x="6858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48" name="Line 148"/>
          <p:cNvSpPr/>
          <p:nvPr/>
        </p:nvSpPr>
        <p:spPr>
          <a:xfrm>
            <a:off x="8191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49" name="Line 149"/>
          <p:cNvSpPr/>
          <p:nvPr/>
        </p:nvSpPr>
        <p:spPr>
          <a:xfrm>
            <a:off x="9525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50" name="Line 150"/>
          <p:cNvSpPr/>
          <p:nvPr/>
        </p:nvSpPr>
        <p:spPr>
          <a:xfrm>
            <a:off x="10858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51" name="Line 151"/>
          <p:cNvSpPr/>
          <p:nvPr/>
        </p:nvSpPr>
        <p:spPr>
          <a:xfrm>
            <a:off x="12192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52" name="Line 152"/>
          <p:cNvSpPr/>
          <p:nvPr/>
        </p:nvSpPr>
        <p:spPr>
          <a:xfrm>
            <a:off x="13525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53" name="Line 153"/>
          <p:cNvSpPr/>
          <p:nvPr/>
        </p:nvSpPr>
        <p:spPr>
          <a:xfrm>
            <a:off x="14859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54" name="Line 154"/>
          <p:cNvSpPr/>
          <p:nvPr/>
        </p:nvSpPr>
        <p:spPr>
          <a:xfrm>
            <a:off x="16192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55" name="Line 155"/>
          <p:cNvSpPr/>
          <p:nvPr/>
        </p:nvSpPr>
        <p:spPr>
          <a:xfrm>
            <a:off x="17526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56" name="Line 156"/>
          <p:cNvSpPr/>
          <p:nvPr/>
        </p:nvSpPr>
        <p:spPr>
          <a:xfrm>
            <a:off x="18859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57" name="Line 157"/>
          <p:cNvSpPr/>
          <p:nvPr/>
        </p:nvSpPr>
        <p:spPr>
          <a:xfrm>
            <a:off x="20193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58" name="Line 158"/>
          <p:cNvSpPr/>
          <p:nvPr/>
        </p:nvSpPr>
        <p:spPr>
          <a:xfrm>
            <a:off x="21526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59" name="Line 159"/>
          <p:cNvSpPr/>
          <p:nvPr/>
        </p:nvSpPr>
        <p:spPr>
          <a:xfrm>
            <a:off x="22860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60" name="Line 160"/>
          <p:cNvSpPr/>
          <p:nvPr/>
        </p:nvSpPr>
        <p:spPr>
          <a:xfrm>
            <a:off x="24193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61" name="Line 161"/>
          <p:cNvSpPr/>
          <p:nvPr/>
        </p:nvSpPr>
        <p:spPr>
          <a:xfrm>
            <a:off x="25527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62" name="Line 162"/>
          <p:cNvSpPr/>
          <p:nvPr/>
        </p:nvSpPr>
        <p:spPr>
          <a:xfrm>
            <a:off x="26860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63" name="Line 163"/>
          <p:cNvSpPr/>
          <p:nvPr/>
        </p:nvSpPr>
        <p:spPr>
          <a:xfrm>
            <a:off x="28194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64" name="Line 164"/>
          <p:cNvSpPr/>
          <p:nvPr/>
        </p:nvSpPr>
        <p:spPr>
          <a:xfrm>
            <a:off x="29527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65" name="Line 165"/>
          <p:cNvSpPr/>
          <p:nvPr/>
        </p:nvSpPr>
        <p:spPr>
          <a:xfrm>
            <a:off x="30861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66" name="Line 166"/>
          <p:cNvSpPr/>
          <p:nvPr/>
        </p:nvSpPr>
        <p:spPr>
          <a:xfrm>
            <a:off x="32194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67" name="Line 167"/>
          <p:cNvSpPr/>
          <p:nvPr/>
        </p:nvSpPr>
        <p:spPr>
          <a:xfrm>
            <a:off x="33528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68" name="Line 168"/>
          <p:cNvSpPr/>
          <p:nvPr/>
        </p:nvSpPr>
        <p:spPr>
          <a:xfrm>
            <a:off x="34861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69" name="Line 169"/>
          <p:cNvSpPr/>
          <p:nvPr/>
        </p:nvSpPr>
        <p:spPr>
          <a:xfrm>
            <a:off x="36195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70" name="Line 170"/>
          <p:cNvSpPr/>
          <p:nvPr/>
        </p:nvSpPr>
        <p:spPr>
          <a:xfrm>
            <a:off x="37528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71" name="Line 171"/>
          <p:cNvSpPr/>
          <p:nvPr/>
        </p:nvSpPr>
        <p:spPr>
          <a:xfrm>
            <a:off x="38862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72" name="Line 172"/>
          <p:cNvSpPr/>
          <p:nvPr/>
        </p:nvSpPr>
        <p:spPr>
          <a:xfrm>
            <a:off x="40195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73" name="Line 173"/>
          <p:cNvSpPr/>
          <p:nvPr/>
        </p:nvSpPr>
        <p:spPr>
          <a:xfrm>
            <a:off x="41529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74" name="Line 174"/>
          <p:cNvSpPr/>
          <p:nvPr/>
        </p:nvSpPr>
        <p:spPr>
          <a:xfrm>
            <a:off x="42862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75" name="Line 175"/>
          <p:cNvSpPr/>
          <p:nvPr/>
        </p:nvSpPr>
        <p:spPr>
          <a:xfrm>
            <a:off x="44196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76" name="Line 176"/>
          <p:cNvSpPr/>
          <p:nvPr/>
        </p:nvSpPr>
        <p:spPr>
          <a:xfrm>
            <a:off x="45529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77" name="Line 177"/>
          <p:cNvSpPr/>
          <p:nvPr/>
        </p:nvSpPr>
        <p:spPr>
          <a:xfrm>
            <a:off x="46863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78" name="Line 178"/>
          <p:cNvSpPr/>
          <p:nvPr/>
        </p:nvSpPr>
        <p:spPr>
          <a:xfrm>
            <a:off x="48196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79" name="Line 179"/>
          <p:cNvSpPr/>
          <p:nvPr/>
        </p:nvSpPr>
        <p:spPr>
          <a:xfrm>
            <a:off x="49530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80" name="Line 180"/>
          <p:cNvSpPr/>
          <p:nvPr/>
        </p:nvSpPr>
        <p:spPr>
          <a:xfrm>
            <a:off x="50863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81" name="Line 181"/>
          <p:cNvSpPr/>
          <p:nvPr/>
        </p:nvSpPr>
        <p:spPr>
          <a:xfrm>
            <a:off x="52197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82" name="Line 182"/>
          <p:cNvSpPr/>
          <p:nvPr/>
        </p:nvSpPr>
        <p:spPr>
          <a:xfrm>
            <a:off x="53530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83" name="Line 183"/>
          <p:cNvSpPr/>
          <p:nvPr/>
        </p:nvSpPr>
        <p:spPr>
          <a:xfrm>
            <a:off x="54864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84" name="Line 184"/>
          <p:cNvSpPr/>
          <p:nvPr/>
        </p:nvSpPr>
        <p:spPr>
          <a:xfrm>
            <a:off x="56197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85" name="Line 185"/>
          <p:cNvSpPr/>
          <p:nvPr/>
        </p:nvSpPr>
        <p:spPr>
          <a:xfrm>
            <a:off x="57531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86" name="Line 186"/>
          <p:cNvSpPr/>
          <p:nvPr/>
        </p:nvSpPr>
        <p:spPr>
          <a:xfrm>
            <a:off x="58864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87" name="Line 187"/>
          <p:cNvSpPr/>
          <p:nvPr/>
        </p:nvSpPr>
        <p:spPr>
          <a:xfrm>
            <a:off x="60198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88" name="Line 188"/>
          <p:cNvSpPr/>
          <p:nvPr/>
        </p:nvSpPr>
        <p:spPr>
          <a:xfrm>
            <a:off x="61531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89" name="Line 189"/>
          <p:cNvSpPr/>
          <p:nvPr/>
        </p:nvSpPr>
        <p:spPr>
          <a:xfrm>
            <a:off x="62865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90" name="Line 190"/>
          <p:cNvSpPr/>
          <p:nvPr/>
        </p:nvSpPr>
        <p:spPr>
          <a:xfrm>
            <a:off x="64198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91" name="Line 191"/>
          <p:cNvSpPr/>
          <p:nvPr/>
        </p:nvSpPr>
        <p:spPr>
          <a:xfrm>
            <a:off x="65532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92" name="Line 192"/>
          <p:cNvSpPr/>
          <p:nvPr/>
        </p:nvSpPr>
        <p:spPr>
          <a:xfrm>
            <a:off x="66865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93" name="Line 193"/>
          <p:cNvSpPr/>
          <p:nvPr/>
        </p:nvSpPr>
        <p:spPr>
          <a:xfrm>
            <a:off x="68199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94" name="Line 194"/>
          <p:cNvSpPr/>
          <p:nvPr/>
        </p:nvSpPr>
        <p:spPr>
          <a:xfrm>
            <a:off x="69532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95" name="Line 195"/>
          <p:cNvSpPr/>
          <p:nvPr/>
        </p:nvSpPr>
        <p:spPr>
          <a:xfrm>
            <a:off x="70866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96" name="Line 196"/>
          <p:cNvSpPr/>
          <p:nvPr/>
        </p:nvSpPr>
        <p:spPr>
          <a:xfrm>
            <a:off x="72199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97" name="Line 197"/>
          <p:cNvSpPr/>
          <p:nvPr/>
        </p:nvSpPr>
        <p:spPr>
          <a:xfrm>
            <a:off x="73533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98" name="Line 198"/>
          <p:cNvSpPr/>
          <p:nvPr/>
        </p:nvSpPr>
        <p:spPr>
          <a:xfrm>
            <a:off x="74866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199" name="Line 199"/>
          <p:cNvSpPr/>
          <p:nvPr/>
        </p:nvSpPr>
        <p:spPr>
          <a:xfrm>
            <a:off x="76200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00" name="Line 200"/>
          <p:cNvSpPr/>
          <p:nvPr/>
        </p:nvSpPr>
        <p:spPr>
          <a:xfrm>
            <a:off x="77533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01" name="Line 201"/>
          <p:cNvSpPr/>
          <p:nvPr/>
        </p:nvSpPr>
        <p:spPr>
          <a:xfrm>
            <a:off x="78867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02" name="Line 202"/>
          <p:cNvSpPr/>
          <p:nvPr/>
        </p:nvSpPr>
        <p:spPr>
          <a:xfrm>
            <a:off x="80200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03" name="Line 203"/>
          <p:cNvSpPr/>
          <p:nvPr/>
        </p:nvSpPr>
        <p:spPr>
          <a:xfrm>
            <a:off x="81534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04" name="Line 204"/>
          <p:cNvSpPr/>
          <p:nvPr/>
        </p:nvSpPr>
        <p:spPr>
          <a:xfrm>
            <a:off x="82867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05" name="Line 205"/>
          <p:cNvSpPr/>
          <p:nvPr/>
        </p:nvSpPr>
        <p:spPr>
          <a:xfrm>
            <a:off x="84201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06" name="Line 206"/>
          <p:cNvSpPr/>
          <p:nvPr/>
        </p:nvSpPr>
        <p:spPr>
          <a:xfrm>
            <a:off x="85534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07" name="Line 207"/>
          <p:cNvSpPr/>
          <p:nvPr/>
        </p:nvSpPr>
        <p:spPr>
          <a:xfrm>
            <a:off x="86868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08" name="Line 208"/>
          <p:cNvSpPr/>
          <p:nvPr/>
        </p:nvSpPr>
        <p:spPr>
          <a:xfrm>
            <a:off x="88201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09" name="Line 209"/>
          <p:cNvSpPr/>
          <p:nvPr/>
        </p:nvSpPr>
        <p:spPr>
          <a:xfrm>
            <a:off x="89535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10" name="Line 210"/>
          <p:cNvSpPr/>
          <p:nvPr/>
        </p:nvSpPr>
        <p:spPr>
          <a:xfrm>
            <a:off x="90868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11" name="Line 211"/>
          <p:cNvSpPr/>
          <p:nvPr/>
        </p:nvSpPr>
        <p:spPr>
          <a:xfrm>
            <a:off x="92202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12" name="Line 212"/>
          <p:cNvSpPr/>
          <p:nvPr/>
        </p:nvSpPr>
        <p:spPr>
          <a:xfrm>
            <a:off x="93535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13" name="Line 213"/>
          <p:cNvSpPr/>
          <p:nvPr/>
        </p:nvSpPr>
        <p:spPr>
          <a:xfrm>
            <a:off x="94869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14" name="Line 214"/>
          <p:cNvSpPr/>
          <p:nvPr/>
        </p:nvSpPr>
        <p:spPr>
          <a:xfrm>
            <a:off x="96202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15" name="Line 215"/>
          <p:cNvSpPr/>
          <p:nvPr/>
        </p:nvSpPr>
        <p:spPr>
          <a:xfrm>
            <a:off x="97536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16" name="Line 216"/>
          <p:cNvSpPr/>
          <p:nvPr/>
        </p:nvSpPr>
        <p:spPr>
          <a:xfrm>
            <a:off x="98869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17" name="Line 217"/>
          <p:cNvSpPr/>
          <p:nvPr/>
        </p:nvSpPr>
        <p:spPr>
          <a:xfrm>
            <a:off x="100203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18" name="Line 218"/>
          <p:cNvSpPr/>
          <p:nvPr/>
        </p:nvSpPr>
        <p:spPr>
          <a:xfrm>
            <a:off x="101536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19" name="Line 219"/>
          <p:cNvSpPr/>
          <p:nvPr/>
        </p:nvSpPr>
        <p:spPr>
          <a:xfrm>
            <a:off x="102870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20" name="Line 220"/>
          <p:cNvSpPr/>
          <p:nvPr/>
        </p:nvSpPr>
        <p:spPr>
          <a:xfrm>
            <a:off x="104203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21" name="Line 221"/>
          <p:cNvSpPr/>
          <p:nvPr/>
        </p:nvSpPr>
        <p:spPr>
          <a:xfrm>
            <a:off x="105537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22" name="Line 222"/>
          <p:cNvSpPr/>
          <p:nvPr/>
        </p:nvSpPr>
        <p:spPr>
          <a:xfrm>
            <a:off x="106870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23" name="Line 223"/>
          <p:cNvSpPr/>
          <p:nvPr/>
        </p:nvSpPr>
        <p:spPr>
          <a:xfrm>
            <a:off x="108204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24" name="Line 224"/>
          <p:cNvSpPr/>
          <p:nvPr/>
        </p:nvSpPr>
        <p:spPr>
          <a:xfrm>
            <a:off x="109537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25" name="Line 225"/>
          <p:cNvSpPr/>
          <p:nvPr/>
        </p:nvSpPr>
        <p:spPr>
          <a:xfrm>
            <a:off x="110871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26" name="Line 226"/>
          <p:cNvSpPr/>
          <p:nvPr/>
        </p:nvSpPr>
        <p:spPr>
          <a:xfrm>
            <a:off x="112204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27" name="Line 227"/>
          <p:cNvSpPr/>
          <p:nvPr/>
        </p:nvSpPr>
        <p:spPr>
          <a:xfrm>
            <a:off x="113538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28" name="Line 228"/>
          <p:cNvSpPr/>
          <p:nvPr/>
        </p:nvSpPr>
        <p:spPr>
          <a:xfrm>
            <a:off x="114871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29" name="Line 229"/>
          <p:cNvSpPr/>
          <p:nvPr/>
        </p:nvSpPr>
        <p:spPr>
          <a:xfrm>
            <a:off x="116205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30" name="Line 230"/>
          <p:cNvSpPr/>
          <p:nvPr/>
        </p:nvSpPr>
        <p:spPr>
          <a:xfrm>
            <a:off x="117538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31" name="Line 231"/>
          <p:cNvSpPr/>
          <p:nvPr/>
        </p:nvSpPr>
        <p:spPr>
          <a:xfrm>
            <a:off x="118872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32" name="Line 232"/>
          <p:cNvSpPr/>
          <p:nvPr/>
        </p:nvSpPr>
        <p:spPr>
          <a:xfrm>
            <a:off x="120205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33" name="Line 233"/>
          <p:cNvSpPr/>
          <p:nvPr/>
        </p:nvSpPr>
        <p:spPr>
          <a:xfrm>
            <a:off x="121539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34" name="Line 234"/>
          <p:cNvSpPr/>
          <p:nvPr/>
        </p:nvSpPr>
        <p:spPr>
          <a:xfrm>
            <a:off x="122872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35" name="Line 235"/>
          <p:cNvSpPr/>
          <p:nvPr/>
        </p:nvSpPr>
        <p:spPr>
          <a:xfrm>
            <a:off x="124206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36" name="Line 236"/>
          <p:cNvSpPr/>
          <p:nvPr/>
        </p:nvSpPr>
        <p:spPr>
          <a:xfrm>
            <a:off x="125539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37" name="Line 237"/>
          <p:cNvSpPr/>
          <p:nvPr/>
        </p:nvSpPr>
        <p:spPr>
          <a:xfrm>
            <a:off x="126873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38" name="Line 238"/>
          <p:cNvSpPr/>
          <p:nvPr/>
        </p:nvSpPr>
        <p:spPr>
          <a:xfrm>
            <a:off x="128206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39" name="Line 239"/>
          <p:cNvSpPr/>
          <p:nvPr/>
        </p:nvSpPr>
        <p:spPr>
          <a:xfrm>
            <a:off x="129540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40" name="Line 240"/>
          <p:cNvSpPr/>
          <p:nvPr/>
        </p:nvSpPr>
        <p:spPr>
          <a:xfrm>
            <a:off x="130873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41" name="Line 241"/>
          <p:cNvSpPr/>
          <p:nvPr/>
        </p:nvSpPr>
        <p:spPr>
          <a:xfrm>
            <a:off x="132207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42" name="Line 242"/>
          <p:cNvSpPr/>
          <p:nvPr/>
        </p:nvSpPr>
        <p:spPr>
          <a:xfrm>
            <a:off x="133540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43" name="Line 243"/>
          <p:cNvSpPr/>
          <p:nvPr/>
        </p:nvSpPr>
        <p:spPr>
          <a:xfrm>
            <a:off x="134874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44" name="Line 244"/>
          <p:cNvSpPr/>
          <p:nvPr/>
        </p:nvSpPr>
        <p:spPr>
          <a:xfrm>
            <a:off x="136207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45" name="Line 245"/>
          <p:cNvSpPr/>
          <p:nvPr/>
        </p:nvSpPr>
        <p:spPr>
          <a:xfrm>
            <a:off x="137541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46" name="Line 246"/>
          <p:cNvSpPr/>
          <p:nvPr/>
        </p:nvSpPr>
        <p:spPr>
          <a:xfrm>
            <a:off x="138874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47" name="Line 247"/>
          <p:cNvSpPr/>
          <p:nvPr/>
        </p:nvSpPr>
        <p:spPr>
          <a:xfrm>
            <a:off x="140208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48" name="Line 248"/>
          <p:cNvSpPr/>
          <p:nvPr/>
        </p:nvSpPr>
        <p:spPr>
          <a:xfrm>
            <a:off x="1415415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49" name="Line 249"/>
          <p:cNvSpPr/>
          <p:nvPr/>
        </p:nvSpPr>
        <p:spPr>
          <a:xfrm>
            <a:off x="14287500" y="6800850"/>
            <a:ext cx="7620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50" name="Line 250"/>
          <p:cNvSpPr/>
          <p:nvPr/>
        </p:nvSpPr>
        <p:spPr>
          <a:xfrm>
            <a:off x="14420850" y="6800850"/>
            <a:ext cx="57150" cy="0"/>
          </a:xfrm>
          <a:prstGeom prst="line">
            <a:avLst/>
          </a:prstGeom>
          <a:noFill/>
          <a:ln w="1397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51" name="Line 251"/>
          <p:cNvSpPr/>
          <p:nvPr/>
        </p:nvSpPr>
        <p:spPr>
          <a:xfrm>
            <a:off x="3876675" y="1847850"/>
            <a:ext cx="266700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52" name="Line 252"/>
          <p:cNvSpPr/>
          <p:nvPr/>
        </p:nvSpPr>
        <p:spPr>
          <a:xfrm>
            <a:off x="3876675" y="2924175"/>
            <a:ext cx="266700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53" name="Line 253"/>
          <p:cNvSpPr/>
          <p:nvPr/>
        </p:nvSpPr>
        <p:spPr>
          <a:xfrm>
            <a:off x="4143375" y="1847850"/>
            <a:ext cx="0" cy="1076325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54" name="Line 254"/>
          <p:cNvSpPr/>
          <p:nvPr/>
        </p:nvSpPr>
        <p:spPr>
          <a:xfrm>
            <a:off x="4143375" y="2543175"/>
            <a:ext cx="304800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55" name="Line 255"/>
          <p:cNvSpPr/>
          <p:nvPr/>
        </p:nvSpPr>
        <p:spPr>
          <a:xfrm>
            <a:off x="6496050" y="2543175"/>
            <a:ext cx="781050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56" name="Line 256"/>
          <p:cNvSpPr/>
          <p:nvPr/>
        </p:nvSpPr>
        <p:spPr>
          <a:xfrm>
            <a:off x="9563100" y="2276475"/>
            <a:ext cx="2438400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57" name="Line 257"/>
          <p:cNvSpPr/>
          <p:nvPr/>
        </p:nvSpPr>
        <p:spPr>
          <a:xfrm>
            <a:off x="8420100" y="3057525"/>
            <a:ext cx="0" cy="102870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58" name="Line 258"/>
          <p:cNvSpPr/>
          <p:nvPr/>
        </p:nvSpPr>
        <p:spPr>
          <a:xfrm>
            <a:off x="3876675" y="4352925"/>
            <a:ext cx="76200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59" name="Line 259"/>
          <p:cNvSpPr/>
          <p:nvPr/>
        </p:nvSpPr>
        <p:spPr>
          <a:xfrm>
            <a:off x="4010025" y="4352925"/>
            <a:ext cx="76200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60" name="Line 260"/>
          <p:cNvSpPr/>
          <p:nvPr/>
        </p:nvSpPr>
        <p:spPr>
          <a:xfrm>
            <a:off x="4143375" y="4352925"/>
            <a:ext cx="0" cy="7620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61" name="Line 261"/>
          <p:cNvSpPr/>
          <p:nvPr/>
        </p:nvSpPr>
        <p:spPr>
          <a:xfrm>
            <a:off x="4143375" y="4486275"/>
            <a:ext cx="0" cy="7620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62" name="Line 262"/>
          <p:cNvSpPr/>
          <p:nvPr/>
        </p:nvSpPr>
        <p:spPr>
          <a:xfrm>
            <a:off x="4143375" y="4619625"/>
            <a:ext cx="0" cy="7620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63" name="Line 263"/>
          <p:cNvSpPr/>
          <p:nvPr/>
        </p:nvSpPr>
        <p:spPr>
          <a:xfrm>
            <a:off x="4143375" y="4752975"/>
            <a:ext cx="0" cy="7620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64" name="Line 264"/>
          <p:cNvSpPr/>
          <p:nvPr/>
        </p:nvSpPr>
        <p:spPr>
          <a:xfrm>
            <a:off x="4143375" y="4886325"/>
            <a:ext cx="0" cy="7620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65" name="Line 265"/>
          <p:cNvSpPr/>
          <p:nvPr/>
        </p:nvSpPr>
        <p:spPr>
          <a:xfrm>
            <a:off x="4143375" y="5019675"/>
            <a:ext cx="0" cy="7620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66" name="Line 266"/>
          <p:cNvSpPr/>
          <p:nvPr/>
        </p:nvSpPr>
        <p:spPr>
          <a:xfrm>
            <a:off x="4143375" y="5124450"/>
            <a:ext cx="76200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67" name="Line 267"/>
          <p:cNvSpPr/>
          <p:nvPr/>
        </p:nvSpPr>
        <p:spPr>
          <a:xfrm>
            <a:off x="4276725" y="5124450"/>
            <a:ext cx="76200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68" name="Line 268"/>
          <p:cNvSpPr/>
          <p:nvPr/>
        </p:nvSpPr>
        <p:spPr>
          <a:xfrm>
            <a:off x="4410075" y="5124450"/>
            <a:ext cx="38100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69" name="Line 269"/>
          <p:cNvSpPr/>
          <p:nvPr/>
        </p:nvSpPr>
        <p:spPr>
          <a:xfrm>
            <a:off x="3876675" y="5286375"/>
            <a:ext cx="76200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70" name="Line 270"/>
          <p:cNvSpPr/>
          <p:nvPr/>
        </p:nvSpPr>
        <p:spPr>
          <a:xfrm>
            <a:off x="4010025" y="5286375"/>
            <a:ext cx="76200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71" name="Line 271"/>
          <p:cNvSpPr/>
          <p:nvPr/>
        </p:nvSpPr>
        <p:spPr>
          <a:xfrm>
            <a:off x="4143375" y="5286375"/>
            <a:ext cx="76200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72" name="Line 272"/>
          <p:cNvSpPr/>
          <p:nvPr/>
        </p:nvSpPr>
        <p:spPr>
          <a:xfrm>
            <a:off x="4276725" y="5286375"/>
            <a:ext cx="76200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73" name="Line 273"/>
          <p:cNvSpPr/>
          <p:nvPr/>
        </p:nvSpPr>
        <p:spPr>
          <a:xfrm>
            <a:off x="4410075" y="5286375"/>
            <a:ext cx="38100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74" name="Line 274"/>
          <p:cNvSpPr/>
          <p:nvPr/>
        </p:nvSpPr>
        <p:spPr>
          <a:xfrm>
            <a:off x="3876675" y="6257925"/>
            <a:ext cx="1590675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75" name="Line 275"/>
          <p:cNvSpPr/>
          <p:nvPr/>
        </p:nvSpPr>
        <p:spPr>
          <a:xfrm flipV="1">
            <a:off x="5467350" y="5638800"/>
            <a:ext cx="0" cy="619125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76" name="Line 276"/>
          <p:cNvSpPr/>
          <p:nvPr/>
        </p:nvSpPr>
        <p:spPr>
          <a:xfrm>
            <a:off x="6496050" y="5295900"/>
            <a:ext cx="685800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77" name="Line 277"/>
          <p:cNvSpPr/>
          <p:nvPr/>
        </p:nvSpPr>
        <p:spPr>
          <a:xfrm>
            <a:off x="9658350" y="5229225"/>
            <a:ext cx="514350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78" name="Line 278"/>
          <p:cNvSpPr/>
          <p:nvPr/>
        </p:nvSpPr>
        <p:spPr>
          <a:xfrm>
            <a:off x="3876675" y="7839075"/>
            <a:ext cx="571500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79" name="Line 279"/>
          <p:cNvSpPr/>
          <p:nvPr/>
        </p:nvSpPr>
        <p:spPr>
          <a:xfrm>
            <a:off x="6496050" y="7839075"/>
            <a:ext cx="685800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80" name="Line 280"/>
          <p:cNvSpPr/>
          <p:nvPr/>
        </p:nvSpPr>
        <p:spPr>
          <a:xfrm>
            <a:off x="9658350" y="7839075"/>
            <a:ext cx="962025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81" name="Line 281"/>
          <p:cNvSpPr/>
          <p:nvPr/>
        </p:nvSpPr>
        <p:spPr>
          <a:xfrm>
            <a:off x="13096875" y="7724775"/>
            <a:ext cx="1457325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82" name="Line 282"/>
          <p:cNvSpPr/>
          <p:nvPr/>
        </p:nvSpPr>
        <p:spPr>
          <a:xfrm flipV="1">
            <a:off x="14554200" y="2867025"/>
            <a:ext cx="0" cy="485775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83" name="Line 283"/>
          <p:cNvSpPr/>
          <p:nvPr/>
        </p:nvSpPr>
        <p:spPr>
          <a:xfrm flipH="1">
            <a:off x="14363700" y="2867025"/>
            <a:ext cx="190500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84" name="Line 284"/>
          <p:cNvSpPr/>
          <p:nvPr/>
        </p:nvSpPr>
        <p:spPr>
          <a:xfrm flipV="1">
            <a:off x="8420100" y="9010650"/>
            <a:ext cx="0" cy="7620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85" name="Line 285"/>
          <p:cNvSpPr/>
          <p:nvPr/>
        </p:nvSpPr>
        <p:spPr>
          <a:xfrm flipV="1">
            <a:off x="8420100" y="8877300"/>
            <a:ext cx="0" cy="7620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86" name="Line 286"/>
          <p:cNvSpPr/>
          <p:nvPr/>
        </p:nvSpPr>
        <p:spPr>
          <a:xfrm flipV="1">
            <a:off x="8420100" y="8743950"/>
            <a:ext cx="0" cy="7620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87" name="Line 287"/>
          <p:cNvSpPr/>
          <p:nvPr/>
        </p:nvSpPr>
        <p:spPr>
          <a:xfrm flipV="1">
            <a:off x="8420100" y="8610600"/>
            <a:ext cx="0" cy="7620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88" name="Line 288"/>
          <p:cNvSpPr/>
          <p:nvPr/>
        </p:nvSpPr>
        <p:spPr>
          <a:xfrm flipV="1">
            <a:off x="8420100" y="8477250"/>
            <a:ext cx="0" cy="7620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89" name="Line 289"/>
          <p:cNvSpPr/>
          <p:nvPr/>
        </p:nvSpPr>
        <p:spPr>
          <a:xfrm flipV="1">
            <a:off x="8420100" y="8343900"/>
            <a:ext cx="0" cy="7620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90" name="Line 290"/>
          <p:cNvSpPr/>
          <p:nvPr/>
        </p:nvSpPr>
        <p:spPr>
          <a:xfrm flipV="1">
            <a:off x="8420100" y="8210550"/>
            <a:ext cx="0" cy="7620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91" name="Line 291"/>
          <p:cNvSpPr/>
          <p:nvPr/>
        </p:nvSpPr>
        <p:spPr>
          <a:xfrm>
            <a:off x="8096250" y="9486900"/>
            <a:ext cx="542925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92" name="Line 292"/>
          <p:cNvSpPr/>
          <p:nvPr/>
        </p:nvSpPr>
        <p:spPr>
          <a:xfrm>
            <a:off x="10810875" y="9486900"/>
            <a:ext cx="76200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93" name="Line 293"/>
          <p:cNvSpPr/>
          <p:nvPr/>
        </p:nvSpPr>
        <p:spPr>
          <a:xfrm>
            <a:off x="10944225" y="9486900"/>
            <a:ext cx="76200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94" name="Line 294"/>
          <p:cNvSpPr/>
          <p:nvPr/>
        </p:nvSpPr>
        <p:spPr>
          <a:xfrm>
            <a:off x="11077575" y="9486900"/>
            <a:ext cx="76200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95" name="Line 295"/>
          <p:cNvSpPr/>
          <p:nvPr/>
        </p:nvSpPr>
        <p:spPr>
          <a:xfrm>
            <a:off x="11210925" y="9486900"/>
            <a:ext cx="76200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96" name="Line 296"/>
          <p:cNvSpPr/>
          <p:nvPr/>
        </p:nvSpPr>
        <p:spPr>
          <a:xfrm>
            <a:off x="11344275" y="9486900"/>
            <a:ext cx="38100" cy="0"/>
          </a:xfrm>
          <a:prstGeom prst="line">
            <a:avLst/>
          </a:prstGeom>
          <a:noFill/>
          <a:ln w="2032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97" name="Triangle 297"/>
          <p:cNvSpPr/>
          <p:nvPr/>
        </p:nvSpPr>
        <p:spPr>
          <a:xfrm>
            <a:off x="4314825" y="24765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5C5C5C"/>
          </a:solidFill>
          <a:ln w="635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98" name="Triangle 298"/>
          <p:cNvSpPr/>
          <p:nvPr/>
        </p:nvSpPr>
        <p:spPr>
          <a:xfrm>
            <a:off x="7143750" y="24765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5C5C5C"/>
          </a:solidFill>
          <a:ln w="635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299" name="Triangle 299"/>
          <p:cNvSpPr/>
          <p:nvPr/>
        </p:nvSpPr>
        <p:spPr>
          <a:xfrm>
            <a:off x="11868150" y="22098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5C5C5C"/>
          </a:solidFill>
          <a:ln w="635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300" name="Triangle 300"/>
          <p:cNvSpPr/>
          <p:nvPr/>
        </p:nvSpPr>
        <p:spPr>
          <a:xfrm>
            <a:off x="8353425" y="3952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0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5C5C5C"/>
          </a:solidFill>
          <a:ln w="635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301" name="Triangle 301"/>
          <p:cNvSpPr/>
          <p:nvPr/>
        </p:nvSpPr>
        <p:spPr>
          <a:xfrm>
            <a:off x="4314825" y="50577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5C5C5C"/>
          </a:solidFill>
          <a:ln w="635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302" name="Triangle 302"/>
          <p:cNvSpPr/>
          <p:nvPr/>
        </p:nvSpPr>
        <p:spPr>
          <a:xfrm>
            <a:off x="4314825" y="52197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5C5C5C"/>
          </a:solidFill>
          <a:ln w="635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303" name="Triangle 303"/>
          <p:cNvSpPr/>
          <p:nvPr/>
        </p:nvSpPr>
        <p:spPr>
          <a:xfrm>
            <a:off x="5400675" y="56388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08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5C5C5C"/>
          </a:solidFill>
          <a:ln w="635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304" name="Triangle 304"/>
          <p:cNvSpPr/>
          <p:nvPr/>
        </p:nvSpPr>
        <p:spPr>
          <a:xfrm>
            <a:off x="7048500" y="52292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5C5C5C"/>
          </a:solidFill>
          <a:ln w="635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305" name="Triangle 305"/>
          <p:cNvSpPr/>
          <p:nvPr/>
        </p:nvSpPr>
        <p:spPr>
          <a:xfrm>
            <a:off x="10039350" y="51625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5C5C5C"/>
          </a:solidFill>
          <a:ln w="635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306" name="Triangle 306"/>
          <p:cNvSpPr/>
          <p:nvPr/>
        </p:nvSpPr>
        <p:spPr>
          <a:xfrm>
            <a:off x="4314825" y="77724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5C5C5C"/>
          </a:solidFill>
          <a:ln w="635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307" name="Triangle 307"/>
          <p:cNvSpPr/>
          <p:nvPr/>
        </p:nvSpPr>
        <p:spPr>
          <a:xfrm>
            <a:off x="7048500" y="77724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5C5C5C"/>
          </a:solidFill>
          <a:ln w="635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308" name="Triangle 308"/>
          <p:cNvSpPr/>
          <p:nvPr/>
        </p:nvSpPr>
        <p:spPr>
          <a:xfrm>
            <a:off x="10487025" y="77724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5C5C5C"/>
          </a:solidFill>
          <a:ln w="635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309" name="Triangle 309"/>
          <p:cNvSpPr/>
          <p:nvPr/>
        </p:nvSpPr>
        <p:spPr>
          <a:xfrm>
            <a:off x="14363700" y="28003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0"/>
                </a:moveTo>
                <a:lnTo>
                  <a:pt x="0" y="108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5C5C5C"/>
          </a:solidFill>
          <a:ln w="635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310" name="Triangle 310"/>
          <p:cNvSpPr/>
          <p:nvPr/>
        </p:nvSpPr>
        <p:spPr>
          <a:xfrm>
            <a:off x="8353425" y="8162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08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5C5C5C"/>
          </a:solidFill>
          <a:ln w="635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311" name="Triangle 311"/>
          <p:cNvSpPr/>
          <p:nvPr/>
        </p:nvSpPr>
        <p:spPr>
          <a:xfrm>
            <a:off x="8505825" y="94202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5C5C5C"/>
          </a:solidFill>
          <a:ln w="635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312" name="Triangle 312"/>
          <p:cNvSpPr/>
          <p:nvPr/>
        </p:nvSpPr>
        <p:spPr>
          <a:xfrm>
            <a:off x="11249025" y="94202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5C5C5C"/>
          </a:solidFill>
          <a:ln w="6350">
            <a:solidFill>
              <a:srgbClr val="5C5C5C"/>
            </a:solidFill>
          </a:ln>
        </p:spPr>
        <p:txBody>
          <a:bodyPr/>
          <a:lstStyle/>
          <a:p/>
        </p:txBody>
      </p:sp>
      <p:sp>
        <p:nvSpPr>
          <p:cNvPr id="313" name="Ellipse 313"/>
          <p:cNvSpPr/>
          <p:nvPr/>
        </p:nvSpPr>
        <p:spPr>
          <a:xfrm>
            <a:off x="247650" y="1666875"/>
            <a:ext cx="457200" cy="4572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F3C60"/>
            </a:solidFill>
          </a:ln>
        </p:spPr>
        <p:txBody>
          <a:bodyPr/>
          <a:lstStyle/>
          <a:p/>
        </p:txBody>
      </p:sp>
      <p:sp>
        <p:nvSpPr>
          <p:cNvPr id="314" name="Ellipse 314"/>
          <p:cNvSpPr/>
          <p:nvPr/>
        </p:nvSpPr>
        <p:spPr>
          <a:xfrm>
            <a:off x="247650" y="4210050"/>
            <a:ext cx="457200" cy="4572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F3C60"/>
            </a:solidFill>
          </a:ln>
        </p:spPr>
        <p:txBody>
          <a:bodyPr/>
          <a:lstStyle/>
          <a:p/>
        </p:txBody>
      </p:sp>
      <p:sp>
        <p:nvSpPr>
          <p:cNvPr id="315" name="Ellipse 315"/>
          <p:cNvSpPr/>
          <p:nvPr/>
        </p:nvSpPr>
        <p:spPr>
          <a:xfrm>
            <a:off x="247650" y="7115175"/>
            <a:ext cx="457200" cy="4572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F3C60"/>
            </a:solidFill>
          </a:ln>
        </p:spPr>
        <p:txBody>
          <a:bodyPr/>
          <a:lstStyle/>
          <a:p/>
        </p:txBody>
      </p:sp>
      <p:sp>
        <p:nvSpPr>
          <p:cNvPr id="316" name="TextBox 316"/>
          <p:cNvSpPr txBox="1"/>
          <p:nvPr/>
        </p:nvSpPr>
        <p:spPr>
          <a:xfrm>
            <a:off x="247650" y="133350"/>
            <a:ext cx="4667250" cy="5905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0F3C60"/>
                </a:solidFill>
                <a:latin typeface="Noto Sans CJK SC"/>
                <a:ea typeface="Noto Sans CJK SC"/>
                <a:cs typeface="Noto Sans CJK SC"/>
              </a:rPr>
              <a:t>拟开展研究／结构示意</a:t>
            </a:r>
            <a:endParaRPr lang="zh-CN" sz="3200"/>
          </a:p>
        </p:txBody>
      </p:sp>
      <p:sp>
        <p:nvSpPr>
          <p:cNvPr id="317" name="TextBox 317"/>
          <p:cNvSpPr txBox="1"/>
          <p:nvPr/>
        </p:nvSpPr>
        <p:spPr>
          <a:xfrm>
            <a:off x="4943475" y="742950"/>
            <a:ext cx="1428750" cy="4191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已到达</a:t>
            </a:r>
            <a:endParaRPr lang="zh-CN" sz="2500"/>
          </a:p>
        </p:txBody>
      </p:sp>
      <p:sp>
        <p:nvSpPr>
          <p:cNvPr id="318" name="TextBox 318"/>
          <p:cNvSpPr txBox="1"/>
          <p:nvPr/>
        </p:nvSpPr>
        <p:spPr>
          <a:xfrm>
            <a:off x="7239000" y="742950"/>
            <a:ext cx="1524000" cy="4191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发布时刻</a:t>
            </a:r>
            <a:endParaRPr lang="zh-CN" sz="2500"/>
          </a:p>
        </p:txBody>
      </p:sp>
      <p:sp>
        <p:nvSpPr>
          <p:cNvPr id="319" name="TextBox 319"/>
          <p:cNvSpPr txBox="1"/>
          <p:nvPr/>
        </p:nvSpPr>
        <p:spPr>
          <a:xfrm>
            <a:off x="9810750" y="742950"/>
            <a:ext cx="1619250" cy="4191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未到达</a:t>
            </a:r>
            <a:endParaRPr lang="zh-CN" sz="2500"/>
          </a:p>
        </p:txBody>
      </p:sp>
      <p:sp>
        <p:nvSpPr>
          <p:cNvPr id="320" name="TextBox 320"/>
          <p:cNvSpPr txBox="1"/>
          <p:nvPr/>
        </p:nvSpPr>
        <p:spPr>
          <a:xfrm>
            <a:off x="12668250" y="742950"/>
            <a:ext cx="1238250" cy="4191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等待</a:t>
            </a:r>
            <a:endParaRPr lang="zh-CN" sz="2500"/>
          </a:p>
        </p:txBody>
      </p:sp>
      <p:sp>
        <p:nvSpPr>
          <p:cNvPr id="321" name="TextBox 321"/>
          <p:cNvSpPr txBox="1"/>
          <p:nvPr/>
        </p:nvSpPr>
        <p:spPr>
          <a:xfrm>
            <a:off x="247650" y="166687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0F3C60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lang="zh-CN" sz="2700"/>
          </a:p>
        </p:txBody>
      </p:sp>
      <p:sp>
        <p:nvSpPr>
          <p:cNvPr id="322" name="TextBox 322"/>
          <p:cNvSpPr txBox="1"/>
          <p:nvPr/>
        </p:nvSpPr>
        <p:spPr>
          <a:xfrm>
            <a:off x="209550" y="2162175"/>
            <a:ext cx="1390650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分位数</a:t>
            </a:r>
            <a:endParaRPr lang="zh-CN" sz="2500"/>
          </a:p>
        </p:txBody>
      </p:sp>
      <p:sp>
        <p:nvSpPr>
          <p:cNvPr id="323" name="TextBox 323"/>
          <p:cNvSpPr txBox="1"/>
          <p:nvPr/>
        </p:nvSpPr>
        <p:spPr>
          <a:xfrm>
            <a:off x="209550" y="2552700"/>
            <a:ext cx="1390650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预测与</a:t>
            </a:r>
            <a:endParaRPr lang="zh-CN" sz="2500"/>
          </a:p>
        </p:txBody>
      </p:sp>
      <p:sp>
        <p:nvSpPr>
          <p:cNvPr id="324" name="TextBox 324"/>
          <p:cNvSpPr txBox="1"/>
          <p:nvPr/>
        </p:nvSpPr>
        <p:spPr>
          <a:xfrm>
            <a:off x="209550" y="2943225"/>
            <a:ext cx="1390650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原始输出</a:t>
            </a:r>
            <a:endParaRPr lang="zh-CN" sz="2500"/>
          </a:p>
        </p:txBody>
      </p:sp>
      <p:sp>
        <p:nvSpPr>
          <p:cNvPr id="325" name="TextBox 325"/>
          <p:cNvSpPr txBox="1"/>
          <p:nvPr/>
        </p:nvSpPr>
        <p:spPr>
          <a:xfrm>
            <a:off x="247650" y="421005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0F3C60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lang="zh-CN" sz="2700"/>
          </a:p>
        </p:txBody>
      </p:sp>
      <p:sp>
        <p:nvSpPr>
          <p:cNvPr id="326" name="TextBox 326"/>
          <p:cNvSpPr txBox="1"/>
          <p:nvPr/>
        </p:nvSpPr>
        <p:spPr>
          <a:xfrm>
            <a:off x="209550" y="4705350"/>
            <a:ext cx="1390650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区间校准</a:t>
            </a:r>
            <a:endParaRPr lang="zh-CN" sz="2500"/>
          </a:p>
        </p:txBody>
      </p:sp>
      <p:sp>
        <p:nvSpPr>
          <p:cNvPr id="327" name="TextBox 327"/>
          <p:cNvSpPr txBox="1"/>
          <p:nvPr/>
        </p:nvSpPr>
        <p:spPr>
          <a:xfrm>
            <a:off x="209550" y="5095875"/>
            <a:ext cx="1390650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与可靠性</a:t>
            </a:r>
            <a:endParaRPr lang="zh-CN" sz="2500"/>
          </a:p>
        </p:txBody>
      </p:sp>
      <p:sp>
        <p:nvSpPr>
          <p:cNvPr id="328" name="TextBox 328"/>
          <p:cNvSpPr txBox="1"/>
          <p:nvPr/>
        </p:nvSpPr>
        <p:spPr>
          <a:xfrm>
            <a:off x="209550" y="5486400"/>
            <a:ext cx="1390650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诊断</a:t>
            </a:r>
            <a:endParaRPr lang="zh-CN" sz="2500"/>
          </a:p>
        </p:txBody>
      </p:sp>
      <p:sp>
        <p:nvSpPr>
          <p:cNvPr id="329" name="TextBox 329"/>
          <p:cNvSpPr txBox="1"/>
          <p:nvPr/>
        </p:nvSpPr>
        <p:spPr>
          <a:xfrm>
            <a:off x="247650" y="711517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0F3C60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lang="zh-CN" sz="2700"/>
          </a:p>
        </p:txBody>
      </p:sp>
      <p:sp>
        <p:nvSpPr>
          <p:cNvPr id="330" name="TextBox 330"/>
          <p:cNvSpPr txBox="1"/>
          <p:nvPr/>
        </p:nvSpPr>
        <p:spPr>
          <a:xfrm>
            <a:off x="209550" y="7610475"/>
            <a:ext cx="1390650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完整历史</a:t>
            </a:r>
            <a:endParaRPr lang="zh-CN" sz="2500"/>
          </a:p>
        </p:txBody>
      </p:sp>
      <p:sp>
        <p:nvSpPr>
          <p:cNvPr id="331" name="TextBox 331"/>
          <p:cNvSpPr txBox="1"/>
          <p:nvPr/>
        </p:nvSpPr>
        <p:spPr>
          <a:xfrm>
            <a:off x="209550" y="8001000"/>
            <a:ext cx="1390650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误差构建</a:t>
            </a:r>
            <a:endParaRPr lang="zh-CN" sz="2500"/>
          </a:p>
        </p:txBody>
      </p:sp>
      <p:sp>
        <p:nvSpPr>
          <p:cNvPr id="332" name="TextBox 332"/>
          <p:cNvSpPr txBox="1"/>
          <p:nvPr/>
        </p:nvSpPr>
        <p:spPr>
          <a:xfrm>
            <a:off x="209550" y="8391525"/>
            <a:ext cx="1390650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与入库</a:t>
            </a:r>
            <a:endParaRPr lang="zh-CN" sz="2500"/>
          </a:p>
        </p:txBody>
      </p:sp>
      <p:sp>
        <p:nvSpPr>
          <p:cNvPr id="333" name="TextBox 333"/>
          <p:cNvSpPr txBox="1"/>
          <p:nvPr/>
        </p:nvSpPr>
        <p:spPr>
          <a:xfrm>
            <a:off x="1762125" y="1600200"/>
            <a:ext cx="2076450" cy="485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固定输入</a:t>
            </a:r>
            <a:endParaRPr lang="zh-CN" sz="2700"/>
          </a:p>
        </p:txBody>
      </p:sp>
      <p:sp>
        <p:nvSpPr>
          <p:cNvPr id="334" name="TextBox 334"/>
          <p:cNvSpPr txBox="1"/>
          <p:nvPr/>
        </p:nvSpPr>
        <p:spPr>
          <a:xfrm>
            <a:off x="1762125" y="2676525"/>
            <a:ext cx="2076450" cy="485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时间划分</a:t>
            </a:r>
            <a:endParaRPr lang="zh-CN" sz="2700"/>
          </a:p>
        </p:txBody>
      </p:sp>
      <p:sp>
        <p:nvSpPr>
          <p:cNvPr id="335" name="TextBox 335"/>
          <p:cNvSpPr txBox="1"/>
          <p:nvPr/>
        </p:nvSpPr>
        <p:spPr>
          <a:xfrm>
            <a:off x="4552950" y="2076450"/>
            <a:ext cx="1838325" cy="4000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0F3C60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lang="zh-CN" sz="2700"/>
          </a:p>
        </p:txBody>
      </p:sp>
      <p:sp>
        <p:nvSpPr>
          <p:cNvPr id="336" name="TextBox 336"/>
          <p:cNvSpPr txBox="1"/>
          <p:nvPr/>
        </p:nvSpPr>
        <p:spPr>
          <a:xfrm>
            <a:off x="4505325" y="2466975"/>
            <a:ext cx="1933575" cy="4667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分位数模型</a:t>
            </a:r>
            <a:endParaRPr lang="zh-CN" sz="2900"/>
          </a:p>
        </p:txBody>
      </p:sp>
      <p:sp>
        <p:nvSpPr>
          <p:cNvPr id="337" name="TextBox 337"/>
          <p:cNvSpPr txBox="1"/>
          <p:nvPr/>
        </p:nvSpPr>
        <p:spPr>
          <a:xfrm>
            <a:off x="7429500" y="1790700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原始单调</a:t>
            </a:r>
            <a:endParaRPr lang="zh-CN" sz="2700"/>
          </a:p>
        </p:txBody>
      </p:sp>
      <p:sp>
        <p:nvSpPr>
          <p:cNvPr id="338" name="TextBox 338"/>
          <p:cNvSpPr txBox="1"/>
          <p:nvPr/>
        </p:nvSpPr>
        <p:spPr>
          <a:xfrm>
            <a:off x="7429500" y="2438400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分位数网格</a:t>
            </a:r>
            <a:endParaRPr lang="zh-CN" sz="2700"/>
          </a:p>
        </p:txBody>
      </p:sp>
      <p:sp>
        <p:nvSpPr>
          <p:cNvPr id="339" name="TextBox 339"/>
          <p:cNvSpPr txBox="1"/>
          <p:nvPr/>
        </p:nvSpPr>
        <p:spPr>
          <a:xfrm>
            <a:off x="12077700" y="1485900"/>
            <a:ext cx="2209800" cy="485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000" b="1">
                <a:solidFill>
                  <a:srgbClr val="0F3C60"/>
                </a:solidFill>
                <a:latin typeface="Noto Sans CJK SC"/>
                <a:ea typeface="Noto Sans CJK SC"/>
                <a:cs typeface="Noto Sans CJK SC"/>
              </a:rPr>
              <a:t>送入 C3</a:t>
            </a:r>
            <a:endParaRPr lang="zh-CN" sz="3000"/>
          </a:p>
        </p:txBody>
      </p:sp>
      <p:sp>
        <p:nvSpPr>
          <p:cNvPr id="340" name="TextBox 340"/>
          <p:cNvSpPr txBox="1"/>
          <p:nvPr/>
        </p:nvSpPr>
        <p:spPr>
          <a:xfrm>
            <a:off x="12163425" y="2038350"/>
            <a:ext cx="2038350" cy="4762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原始网格</a:t>
            </a:r>
            <a:endParaRPr lang="zh-CN" sz="2700"/>
          </a:p>
        </p:txBody>
      </p:sp>
      <p:sp>
        <p:nvSpPr>
          <p:cNvPr id="341" name="TextBox 341"/>
          <p:cNvSpPr txBox="1"/>
          <p:nvPr/>
        </p:nvSpPr>
        <p:spPr>
          <a:xfrm>
            <a:off x="12163425" y="2638425"/>
            <a:ext cx="2038350" cy="4667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完整误差</a:t>
            </a:r>
            <a:endParaRPr lang="zh-CN" sz="2700"/>
          </a:p>
        </p:txBody>
      </p:sp>
      <p:sp>
        <p:nvSpPr>
          <p:cNvPr id="342" name="TextBox 342"/>
          <p:cNvSpPr txBox="1"/>
          <p:nvPr/>
        </p:nvSpPr>
        <p:spPr>
          <a:xfrm>
            <a:off x="8591550" y="3305175"/>
            <a:ext cx="3048000" cy="4191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原始分位网格与区间</a:t>
            </a:r>
            <a:endParaRPr lang="zh-CN" sz="2500"/>
          </a:p>
        </p:txBody>
      </p:sp>
      <p:sp>
        <p:nvSpPr>
          <p:cNvPr id="343" name="TextBox 343"/>
          <p:cNvSpPr txBox="1"/>
          <p:nvPr/>
        </p:nvSpPr>
        <p:spPr>
          <a:xfrm>
            <a:off x="1762125" y="4105275"/>
            <a:ext cx="2076450" cy="485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逐时距标签</a:t>
            </a:r>
            <a:endParaRPr lang="zh-CN" sz="2700"/>
          </a:p>
        </p:txBody>
      </p:sp>
      <p:sp>
        <p:nvSpPr>
          <p:cNvPr id="344" name="TextBox 344"/>
          <p:cNvSpPr txBox="1"/>
          <p:nvPr/>
        </p:nvSpPr>
        <p:spPr>
          <a:xfrm>
            <a:off x="1752600" y="4895850"/>
            <a:ext cx="2095500" cy="485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已到达才更新</a:t>
            </a:r>
            <a:endParaRPr lang="zh-CN" sz="2700"/>
          </a:p>
        </p:txBody>
      </p:sp>
      <p:sp>
        <p:nvSpPr>
          <p:cNvPr id="345" name="TextBox 345"/>
          <p:cNvSpPr txBox="1"/>
          <p:nvPr/>
        </p:nvSpPr>
        <p:spPr>
          <a:xfrm>
            <a:off x="1752600" y="6010275"/>
            <a:ext cx="2095500" cy="485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历史留出预测</a:t>
            </a:r>
            <a:endParaRPr lang="zh-CN" sz="2700"/>
          </a:p>
        </p:txBody>
      </p:sp>
      <p:sp>
        <p:nvSpPr>
          <p:cNvPr id="346" name="TextBox 346"/>
          <p:cNvSpPr txBox="1"/>
          <p:nvPr/>
        </p:nvSpPr>
        <p:spPr>
          <a:xfrm>
            <a:off x="4514850" y="5048250"/>
            <a:ext cx="1914525" cy="485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校准分数</a:t>
            </a:r>
            <a:endParaRPr lang="zh-CN" sz="2700"/>
          </a:p>
        </p:txBody>
      </p:sp>
      <p:sp>
        <p:nvSpPr>
          <p:cNvPr id="347" name="TextBox 347"/>
          <p:cNvSpPr txBox="1"/>
          <p:nvPr/>
        </p:nvSpPr>
        <p:spPr>
          <a:xfrm>
            <a:off x="7286625" y="4105275"/>
            <a:ext cx="2266950" cy="4000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0F3C60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lang="zh-CN" sz="2700"/>
          </a:p>
        </p:txBody>
      </p:sp>
      <p:sp>
        <p:nvSpPr>
          <p:cNvPr id="348" name="TextBox 348"/>
          <p:cNvSpPr txBox="1"/>
          <p:nvPr/>
        </p:nvSpPr>
        <p:spPr>
          <a:xfrm>
            <a:off x="7286625" y="4514850"/>
            <a:ext cx="226695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000" b="1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区间校准</a:t>
            </a:r>
            <a:endParaRPr lang="zh-CN" sz="3000"/>
          </a:p>
        </p:txBody>
      </p:sp>
      <p:sp>
        <p:nvSpPr>
          <p:cNvPr id="349" name="TextBox 349"/>
          <p:cNvSpPr txBox="1"/>
          <p:nvPr/>
        </p:nvSpPr>
        <p:spPr>
          <a:xfrm>
            <a:off x="7343775" y="5076825"/>
            <a:ext cx="215265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静态／滚动</a:t>
            </a:r>
            <a:endParaRPr lang="zh-CN" sz="2700"/>
          </a:p>
        </p:txBody>
      </p:sp>
      <p:sp>
        <p:nvSpPr>
          <p:cNvPr id="350" name="TextBox 350"/>
          <p:cNvSpPr txBox="1"/>
          <p:nvPr/>
        </p:nvSpPr>
        <p:spPr>
          <a:xfrm>
            <a:off x="7353300" y="5657850"/>
            <a:ext cx="2133600" cy="8096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80%／90%</a:t>
            </a:r>
            <a:endParaRPr lang="zh-CN" sz="2500"/>
          </a:p>
          <a:p>
            <a:pPr algn="ctr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(暂定)</a:t>
            </a:r>
            <a:endParaRPr lang="zh-CN" sz="2500"/>
          </a:p>
        </p:txBody>
      </p:sp>
      <p:sp>
        <p:nvSpPr>
          <p:cNvPr id="351" name="TextBox 351"/>
          <p:cNvSpPr txBox="1"/>
          <p:nvPr/>
        </p:nvSpPr>
        <p:spPr>
          <a:xfrm>
            <a:off x="10277475" y="4333875"/>
            <a:ext cx="2457450" cy="4667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000" b="1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单独诊断</a:t>
            </a:r>
            <a:endParaRPr lang="zh-CN" sz="3000"/>
          </a:p>
        </p:txBody>
      </p:sp>
      <p:sp>
        <p:nvSpPr>
          <p:cNvPr id="352" name="TextBox 352"/>
          <p:cNvSpPr txBox="1"/>
          <p:nvPr/>
        </p:nvSpPr>
        <p:spPr>
          <a:xfrm>
            <a:off x="10344150" y="4886325"/>
            <a:ext cx="2324100" cy="4762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覆盖偏差</a:t>
            </a:r>
            <a:endParaRPr lang="zh-CN" sz="2700"/>
          </a:p>
        </p:txBody>
      </p:sp>
      <p:sp>
        <p:nvSpPr>
          <p:cNvPr id="353" name="TextBox 353"/>
          <p:cNvSpPr txBox="1"/>
          <p:nvPr/>
        </p:nvSpPr>
        <p:spPr>
          <a:xfrm>
            <a:off x="10344150" y="5505450"/>
            <a:ext cx="2324100" cy="485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宽度／评分</a:t>
            </a:r>
            <a:endParaRPr lang="zh-CN" sz="2700"/>
          </a:p>
        </p:txBody>
      </p:sp>
      <p:sp>
        <p:nvSpPr>
          <p:cNvPr id="354" name="TextBox 354"/>
          <p:cNvSpPr txBox="1"/>
          <p:nvPr/>
        </p:nvSpPr>
        <p:spPr>
          <a:xfrm>
            <a:off x="10163175" y="6219825"/>
            <a:ext cx="2686050" cy="4191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校准区间仅作诊断</a:t>
            </a:r>
            <a:endParaRPr lang="zh-CN" sz="2500"/>
          </a:p>
        </p:txBody>
      </p:sp>
      <p:sp>
        <p:nvSpPr>
          <p:cNvPr id="355" name="TextBox 355"/>
          <p:cNvSpPr txBox="1"/>
          <p:nvPr/>
        </p:nvSpPr>
        <p:spPr>
          <a:xfrm>
            <a:off x="1752600" y="7591425"/>
            <a:ext cx="2095500" cy="485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历史留出预测</a:t>
            </a:r>
            <a:endParaRPr lang="zh-CN" sz="2700"/>
          </a:p>
        </p:txBody>
      </p:sp>
      <p:sp>
        <p:nvSpPr>
          <p:cNvPr id="356" name="TextBox 356"/>
          <p:cNvSpPr txBox="1"/>
          <p:nvPr/>
        </p:nvSpPr>
        <p:spPr>
          <a:xfrm>
            <a:off x="4543425" y="7191375"/>
            <a:ext cx="1857375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0F3C60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lang="zh-CN" sz="2700"/>
          </a:p>
        </p:txBody>
      </p:sp>
      <p:sp>
        <p:nvSpPr>
          <p:cNvPr id="357" name="TextBox 357"/>
          <p:cNvSpPr txBox="1"/>
          <p:nvPr/>
        </p:nvSpPr>
        <p:spPr>
          <a:xfrm>
            <a:off x="4505325" y="7639050"/>
            <a:ext cx="1933575" cy="4762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全轨迹标签</a:t>
            </a:r>
            <a:endParaRPr lang="zh-CN" sz="2900"/>
          </a:p>
        </p:txBody>
      </p:sp>
      <p:sp>
        <p:nvSpPr>
          <p:cNvPr id="358" name="TextBox 358"/>
          <p:cNvSpPr txBox="1"/>
          <p:nvPr/>
        </p:nvSpPr>
        <p:spPr>
          <a:xfrm>
            <a:off x="7286625" y="7591425"/>
            <a:ext cx="2266950" cy="485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到齐才入库</a:t>
            </a:r>
            <a:endParaRPr lang="zh-CN" sz="2700"/>
          </a:p>
        </p:txBody>
      </p:sp>
      <p:sp>
        <p:nvSpPr>
          <p:cNvPr id="359" name="TextBox 359"/>
          <p:cNvSpPr txBox="1"/>
          <p:nvPr/>
        </p:nvSpPr>
        <p:spPr>
          <a:xfrm>
            <a:off x="10782300" y="7239000"/>
            <a:ext cx="2152650" cy="4476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完整误差</a:t>
            </a:r>
            <a:endParaRPr lang="zh-CN" sz="2700"/>
          </a:p>
        </p:txBody>
      </p:sp>
      <p:sp>
        <p:nvSpPr>
          <p:cNvPr id="360" name="TextBox 360"/>
          <p:cNvSpPr txBox="1"/>
          <p:nvPr/>
        </p:nvSpPr>
        <p:spPr>
          <a:xfrm>
            <a:off x="10782300" y="7772400"/>
            <a:ext cx="2152650" cy="4476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向量</a:t>
            </a:r>
            <a:endParaRPr lang="zh-CN" sz="2700"/>
          </a:p>
        </p:txBody>
      </p:sp>
      <p:sp>
        <p:nvSpPr>
          <p:cNvPr id="361" name="TextBox 361"/>
          <p:cNvSpPr txBox="1"/>
          <p:nvPr/>
        </p:nvSpPr>
        <p:spPr>
          <a:xfrm>
            <a:off x="13030200" y="4953000"/>
            <a:ext cx="1390650" cy="4191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作为 C3</a:t>
            </a:r>
            <a:endParaRPr lang="zh-CN" sz="2500"/>
          </a:p>
        </p:txBody>
      </p:sp>
      <p:sp>
        <p:nvSpPr>
          <p:cNvPr id="362" name="TextBox 362"/>
          <p:cNvSpPr txBox="1"/>
          <p:nvPr/>
        </p:nvSpPr>
        <p:spPr>
          <a:xfrm>
            <a:off x="13030200" y="5353050"/>
            <a:ext cx="1390650" cy="790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第二路</a:t>
            </a:r>
            <a:endParaRPr lang="zh-CN" sz="2500"/>
          </a:p>
          <a:p>
            <a:pPr algn="ctr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输入</a:t>
            </a:r>
            <a:endParaRPr lang="zh-CN" sz="2500"/>
          </a:p>
        </p:txBody>
      </p:sp>
      <p:sp>
        <p:nvSpPr>
          <p:cNvPr id="363" name="TextBox 363"/>
          <p:cNvSpPr txBox="1"/>
          <p:nvPr/>
        </p:nvSpPr>
        <p:spPr>
          <a:xfrm>
            <a:off x="8591550" y="8448675"/>
            <a:ext cx="3286125" cy="4191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未到达或迟报标签等待</a:t>
            </a:r>
            <a:endParaRPr lang="zh-CN" sz="2500"/>
          </a:p>
        </p:txBody>
      </p:sp>
      <p:sp>
        <p:nvSpPr>
          <p:cNvPr id="364" name="TextBox 364"/>
          <p:cNvSpPr txBox="1"/>
          <p:nvPr/>
        </p:nvSpPr>
        <p:spPr>
          <a:xfrm>
            <a:off x="8591550" y="8829675"/>
            <a:ext cx="2000250" cy="4191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不打开此门</a:t>
            </a:r>
            <a:endParaRPr lang="zh-CN" sz="2500"/>
          </a:p>
        </p:txBody>
      </p:sp>
      <p:sp>
        <p:nvSpPr>
          <p:cNvPr id="365" name="TextBox 365"/>
          <p:cNvSpPr txBox="1"/>
          <p:nvPr/>
        </p:nvSpPr>
        <p:spPr>
          <a:xfrm>
            <a:off x="733425" y="92773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方法模块</a:t>
            </a:r>
            <a:endParaRPr lang="zh-CN" sz="2500"/>
          </a:p>
        </p:txBody>
      </p:sp>
      <p:sp>
        <p:nvSpPr>
          <p:cNvPr id="366" name="TextBox 366"/>
          <p:cNvSpPr txBox="1"/>
          <p:nvPr/>
        </p:nvSpPr>
        <p:spPr>
          <a:xfrm>
            <a:off x="3343275" y="92773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数据/输出</a:t>
            </a:r>
            <a:endParaRPr lang="zh-CN" sz="2500"/>
          </a:p>
        </p:txBody>
      </p:sp>
      <p:sp>
        <p:nvSpPr>
          <p:cNvPr id="367" name="TextBox 367"/>
          <p:cNvSpPr txBox="1"/>
          <p:nvPr/>
        </p:nvSpPr>
        <p:spPr>
          <a:xfrm>
            <a:off x="5953125" y="92773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诊断模块</a:t>
            </a:r>
            <a:endParaRPr lang="zh-CN" sz="2500"/>
          </a:p>
        </p:txBody>
      </p:sp>
      <p:sp>
        <p:nvSpPr>
          <p:cNvPr id="368" name="TextBox 368"/>
          <p:cNvSpPr txBox="1"/>
          <p:nvPr/>
        </p:nvSpPr>
        <p:spPr>
          <a:xfrm>
            <a:off x="8763000" y="9277350"/>
            <a:ext cx="1524000" cy="4191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前向流程</a:t>
            </a:r>
            <a:endParaRPr lang="zh-CN" sz="2500"/>
          </a:p>
        </p:txBody>
      </p:sp>
      <p:sp>
        <p:nvSpPr>
          <p:cNvPr id="369" name="TextBox 369"/>
          <p:cNvSpPr txBox="1"/>
          <p:nvPr/>
        </p:nvSpPr>
        <p:spPr>
          <a:xfrm>
            <a:off x="11525250" y="9277350"/>
            <a:ext cx="1524000" cy="4191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121212"/>
                </a:solidFill>
                <a:latin typeface="Noto Sans CJK SC"/>
                <a:ea typeface="Noto Sans CJK SC"/>
                <a:cs typeface="Noto Sans CJK SC"/>
              </a:rPr>
              <a:t>反馈连接</a:t>
            </a:r>
            <a:endParaRPr lang="zh-CN"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3286125" y="5895975"/>
            <a:ext cx="0" cy="200025"/>
          </a:xfrm>
          <a:prstGeom prst="line">
            <a:avLst/>
          </a:prstGeom>
          <a:noFill/>
          <a:ln w="27940">
            <a:solidFill>
              <a:srgbClr val="494949"/>
            </a:solidFill>
          </a:ln>
        </p:spPr>
        <p:txBody>
          <a:bodyPr/>
          <a:lstStyle/>
          <a:p/>
        </p:txBody>
      </p:sp>
      <p:sp>
        <p:nvSpPr>
          <p:cNvPr id="3" name="Line 3"/>
          <p:cNvSpPr/>
          <p:nvPr/>
        </p:nvSpPr>
        <p:spPr>
          <a:xfrm>
            <a:off x="11353800" y="5895975"/>
            <a:ext cx="0" cy="200025"/>
          </a:xfrm>
          <a:prstGeom prst="line">
            <a:avLst/>
          </a:prstGeom>
          <a:noFill/>
          <a:ln w="27940">
            <a:solidFill>
              <a:srgbClr val="494949"/>
            </a:solidFill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3286125" y="6096000"/>
            <a:ext cx="8067675" cy="0"/>
          </a:xfrm>
          <a:prstGeom prst="line">
            <a:avLst/>
          </a:prstGeom>
          <a:noFill/>
          <a:ln w="27940">
            <a:solidFill>
              <a:srgbClr val="494949"/>
            </a:solidFill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7315200" y="5895975"/>
            <a:ext cx="0" cy="276225"/>
          </a:xfrm>
          <a:prstGeom prst="line">
            <a:avLst/>
          </a:prstGeom>
          <a:noFill/>
          <a:ln w="27940">
            <a:solidFill>
              <a:srgbClr val="494949"/>
            </a:solidFill>
          </a:ln>
        </p:spPr>
        <p:txBody>
          <a:bodyPr/>
          <a:lstStyle/>
          <a:p/>
        </p:txBody>
      </p:sp>
      <p:sp>
        <p:nvSpPr>
          <p:cNvPr id="6" name="Triangle 6"/>
          <p:cNvSpPr/>
          <p:nvPr/>
        </p:nvSpPr>
        <p:spPr>
          <a:xfrm>
            <a:off x="7229475" y="61722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0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7315200" y="6981825"/>
            <a:ext cx="0" cy="180975"/>
          </a:xfrm>
          <a:prstGeom prst="line">
            <a:avLst/>
          </a:prstGeom>
          <a:noFill/>
          <a:ln w="27940">
            <a:solidFill>
              <a:srgbClr val="494949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4857750" y="7162800"/>
            <a:ext cx="5200650" cy="0"/>
          </a:xfrm>
          <a:prstGeom prst="line">
            <a:avLst/>
          </a:prstGeom>
          <a:noFill/>
          <a:ln w="27940">
            <a:solidFill>
              <a:srgbClr val="494949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4857750" y="7162800"/>
            <a:ext cx="0" cy="76200"/>
          </a:xfrm>
          <a:prstGeom prst="line">
            <a:avLst/>
          </a:prstGeom>
          <a:noFill/>
          <a:ln w="27940">
            <a:solidFill>
              <a:srgbClr val="494949"/>
            </a:solidFill>
          </a:ln>
        </p:spPr>
        <p:txBody>
          <a:bodyPr/>
          <a:lstStyle/>
          <a:p/>
        </p:txBody>
      </p:sp>
      <p:sp>
        <p:nvSpPr>
          <p:cNvPr id="10" name="Triangle 10"/>
          <p:cNvSpPr/>
          <p:nvPr/>
        </p:nvSpPr>
        <p:spPr>
          <a:xfrm>
            <a:off x="4772025" y="72390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0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10058400" y="7162800"/>
            <a:ext cx="0" cy="76200"/>
          </a:xfrm>
          <a:prstGeom prst="line">
            <a:avLst/>
          </a:prstGeom>
          <a:noFill/>
          <a:ln w="27940">
            <a:solidFill>
              <a:srgbClr val="494949"/>
            </a:solidFill>
          </a:ln>
        </p:spPr>
        <p:txBody>
          <a:bodyPr/>
          <a:lstStyle/>
          <a:p/>
        </p:txBody>
      </p:sp>
      <p:sp>
        <p:nvSpPr>
          <p:cNvPr id="12" name="Triangle 12"/>
          <p:cNvSpPr/>
          <p:nvPr/>
        </p:nvSpPr>
        <p:spPr>
          <a:xfrm>
            <a:off x="9972675" y="72390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0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1466850" y="95250"/>
            <a:ext cx="4572000" cy="1943100"/>
          </a:xfrm>
          <a:prstGeom prst="rect">
            <a:avLst/>
          </a:prstGeom>
          <a:solidFill>
            <a:srgbClr val="FFFFFF"/>
          </a:solidFill>
          <a:ln w="3429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8439150" y="95250"/>
            <a:ext cx="5457825" cy="1809750"/>
          </a:xfrm>
          <a:prstGeom prst="rect">
            <a:avLst/>
          </a:prstGeom>
          <a:solidFill>
            <a:srgbClr val="FFFFFF"/>
          </a:solidFill>
          <a:ln w="3429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1419225" y="3038475"/>
            <a:ext cx="3724275" cy="2847975"/>
          </a:xfrm>
          <a:prstGeom prst="rect">
            <a:avLst/>
          </a:prstGeom>
          <a:solidFill>
            <a:srgbClr val="FFFFFF"/>
          </a:solidFill>
          <a:ln w="3429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5467350" y="3038475"/>
            <a:ext cx="3705225" cy="2847975"/>
          </a:xfrm>
          <a:prstGeom prst="rect">
            <a:avLst/>
          </a:prstGeom>
          <a:solidFill>
            <a:srgbClr val="FFFFFF"/>
          </a:solidFill>
          <a:ln w="3429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9477375" y="3038475"/>
            <a:ext cx="3733800" cy="2847975"/>
          </a:xfrm>
          <a:prstGeom prst="rect">
            <a:avLst/>
          </a:prstGeom>
          <a:solidFill>
            <a:srgbClr val="FFFFFF"/>
          </a:solidFill>
          <a:ln w="3429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5038725" y="6324600"/>
            <a:ext cx="4552950" cy="647700"/>
          </a:xfrm>
          <a:prstGeom prst="rect">
            <a:avLst/>
          </a:prstGeom>
          <a:solidFill>
            <a:srgbClr val="FFFFFF"/>
          </a:solidFill>
          <a:ln w="3429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2105025" y="7391400"/>
            <a:ext cx="5476875" cy="1866900"/>
          </a:xfrm>
          <a:prstGeom prst="rect">
            <a:avLst/>
          </a:prstGeom>
          <a:solidFill>
            <a:srgbClr val="FFFFFF"/>
          </a:solidFill>
          <a:ln w="3429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7943850" y="7391400"/>
            <a:ext cx="4581525" cy="1866900"/>
          </a:xfrm>
          <a:prstGeom prst="rect">
            <a:avLst/>
          </a:prstGeom>
          <a:solidFill>
            <a:srgbClr val="FFFFFF"/>
          </a:solidFill>
          <a:ln w="3429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4362450" y="9277350"/>
            <a:ext cx="5905500" cy="428625"/>
          </a:xfrm>
          <a:prstGeom prst="rect">
            <a:avLst/>
          </a:prstGeom>
          <a:solidFill>
            <a:srgbClr val="FFFFFF"/>
          </a:solidFill>
          <a:ln w="27940">
            <a:solidFill>
              <a:srgbClr val="494949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1581150" y="647700"/>
            <a:ext cx="4352925" cy="0"/>
          </a:xfrm>
          <a:prstGeom prst="line">
            <a:avLst/>
          </a:prstGeom>
          <a:noFill/>
          <a:ln w="1524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1581150" y="1219200"/>
            <a:ext cx="4352925" cy="0"/>
          </a:xfrm>
          <a:prstGeom prst="line">
            <a:avLst/>
          </a:prstGeom>
          <a:noFill/>
          <a:ln w="1524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8543925" y="647700"/>
            <a:ext cx="5267325" cy="0"/>
          </a:xfrm>
          <a:prstGeom prst="line">
            <a:avLst/>
          </a:prstGeom>
          <a:noFill/>
          <a:ln w="1524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8543925" y="1228725"/>
            <a:ext cx="2533650" cy="0"/>
          </a:xfrm>
          <a:prstGeom prst="line">
            <a:avLst/>
          </a:prstGeom>
          <a:noFill/>
          <a:ln w="1524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11268075" y="1228725"/>
            <a:ext cx="2543175" cy="0"/>
          </a:xfrm>
          <a:prstGeom prst="line">
            <a:avLst/>
          </a:prstGeom>
          <a:noFill/>
          <a:ln w="1524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11163300" y="647700"/>
            <a:ext cx="0" cy="1162050"/>
          </a:xfrm>
          <a:prstGeom prst="line">
            <a:avLst/>
          </a:prstGeom>
          <a:noFill/>
          <a:ln w="1524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1533525" y="3752850"/>
            <a:ext cx="3495675" cy="0"/>
          </a:xfrm>
          <a:prstGeom prst="line">
            <a:avLst/>
          </a:prstGeom>
          <a:noFill/>
          <a:ln w="1524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1533525" y="4286250"/>
            <a:ext cx="3495675" cy="0"/>
          </a:xfrm>
          <a:prstGeom prst="line">
            <a:avLst/>
          </a:prstGeom>
          <a:noFill/>
          <a:ln w="1524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1533525" y="5791200"/>
            <a:ext cx="3495675" cy="0"/>
          </a:xfrm>
          <a:prstGeom prst="line">
            <a:avLst/>
          </a:prstGeom>
          <a:noFill/>
          <a:ln w="1524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3305175" y="3752850"/>
            <a:ext cx="0" cy="2038350"/>
          </a:xfrm>
          <a:prstGeom prst="line">
            <a:avLst/>
          </a:prstGeom>
          <a:noFill/>
          <a:ln w="1270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5581650" y="3752850"/>
            <a:ext cx="3476625" cy="0"/>
          </a:xfrm>
          <a:prstGeom prst="line">
            <a:avLst/>
          </a:prstGeom>
          <a:noFill/>
          <a:ln w="1524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5581650" y="4286250"/>
            <a:ext cx="3476625" cy="0"/>
          </a:xfrm>
          <a:prstGeom prst="line">
            <a:avLst/>
          </a:prstGeom>
          <a:noFill/>
          <a:ln w="1524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5581650" y="5791200"/>
            <a:ext cx="3476625" cy="0"/>
          </a:xfrm>
          <a:prstGeom prst="line">
            <a:avLst/>
          </a:prstGeom>
          <a:noFill/>
          <a:ln w="1524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7305675" y="3752850"/>
            <a:ext cx="0" cy="2038350"/>
          </a:xfrm>
          <a:prstGeom prst="line">
            <a:avLst/>
          </a:prstGeom>
          <a:noFill/>
          <a:ln w="1270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9591675" y="3752850"/>
            <a:ext cx="3505200" cy="0"/>
          </a:xfrm>
          <a:prstGeom prst="line">
            <a:avLst/>
          </a:prstGeom>
          <a:noFill/>
          <a:ln w="1524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9591675" y="4286250"/>
            <a:ext cx="3505200" cy="0"/>
          </a:xfrm>
          <a:prstGeom prst="line">
            <a:avLst/>
          </a:prstGeom>
          <a:noFill/>
          <a:ln w="1524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9591675" y="5791200"/>
            <a:ext cx="3505200" cy="0"/>
          </a:xfrm>
          <a:prstGeom prst="line">
            <a:avLst/>
          </a:prstGeom>
          <a:noFill/>
          <a:ln w="1524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11344275" y="3752850"/>
            <a:ext cx="0" cy="2038350"/>
          </a:xfrm>
          <a:prstGeom prst="line">
            <a:avLst/>
          </a:prstGeom>
          <a:noFill/>
          <a:ln w="1270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5153025" y="6896100"/>
            <a:ext cx="4324350" cy="0"/>
          </a:xfrm>
          <a:prstGeom prst="line">
            <a:avLst/>
          </a:prstGeom>
          <a:noFill/>
          <a:ln w="1524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2219325" y="7934325"/>
            <a:ext cx="5248275" cy="0"/>
          </a:xfrm>
          <a:prstGeom prst="line">
            <a:avLst/>
          </a:prstGeom>
          <a:noFill/>
          <a:ln w="1524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2219325" y="9201150"/>
            <a:ext cx="5248275" cy="0"/>
          </a:xfrm>
          <a:prstGeom prst="line">
            <a:avLst/>
          </a:prstGeom>
          <a:noFill/>
          <a:ln w="1524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8058150" y="7934325"/>
            <a:ext cx="4352925" cy="0"/>
          </a:xfrm>
          <a:prstGeom prst="line">
            <a:avLst/>
          </a:prstGeom>
          <a:noFill/>
          <a:ln w="1524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8058150" y="9201150"/>
            <a:ext cx="4352925" cy="0"/>
          </a:xfrm>
          <a:prstGeom prst="line">
            <a:avLst/>
          </a:prstGeom>
          <a:noFill/>
          <a:ln w="15240">
            <a:solidFill>
              <a:srgbClr val="0868B5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2181225" y="4638675"/>
            <a:ext cx="2219325" cy="0"/>
          </a:xfrm>
          <a:prstGeom prst="line">
            <a:avLst/>
          </a:prstGeom>
          <a:noFill/>
          <a:ln w="18415">
            <a:solidFill>
              <a:srgbClr val="494949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2181225" y="5095875"/>
            <a:ext cx="2219325" cy="0"/>
          </a:xfrm>
          <a:prstGeom prst="line">
            <a:avLst/>
          </a:prstGeom>
          <a:noFill/>
          <a:ln w="18415">
            <a:solidFill>
              <a:srgbClr val="494949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2181225" y="5553075"/>
            <a:ext cx="2219325" cy="0"/>
          </a:xfrm>
          <a:prstGeom prst="line">
            <a:avLst/>
          </a:prstGeom>
          <a:noFill/>
          <a:ln w="18415">
            <a:solidFill>
              <a:srgbClr val="494949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6200775" y="4638675"/>
            <a:ext cx="2209800" cy="914400"/>
          </a:xfrm>
          <a:prstGeom prst="line">
            <a:avLst/>
          </a:prstGeom>
          <a:noFill/>
          <a:ln w="18415">
            <a:solidFill>
              <a:srgbClr val="494949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6200775" y="5095875"/>
            <a:ext cx="2209800" cy="0"/>
          </a:xfrm>
          <a:prstGeom prst="line">
            <a:avLst/>
          </a:prstGeom>
          <a:noFill/>
          <a:ln w="18415">
            <a:solidFill>
              <a:srgbClr val="494949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 flipV="1">
            <a:off x="6200775" y="4638675"/>
            <a:ext cx="2209800" cy="914400"/>
          </a:xfrm>
          <a:prstGeom prst="line">
            <a:avLst/>
          </a:prstGeom>
          <a:noFill/>
          <a:ln w="18415">
            <a:solidFill>
              <a:srgbClr val="494949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10229850" y="4638675"/>
            <a:ext cx="2209800" cy="457200"/>
          </a:xfrm>
          <a:prstGeom prst="line">
            <a:avLst/>
          </a:prstGeom>
          <a:noFill/>
          <a:ln w="18415">
            <a:solidFill>
              <a:srgbClr val="494949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 flipV="1">
            <a:off x="10229850" y="4638675"/>
            <a:ext cx="2209800" cy="457200"/>
          </a:xfrm>
          <a:prstGeom prst="line">
            <a:avLst/>
          </a:prstGeom>
          <a:noFill/>
          <a:ln w="18415">
            <a:solidFill>
              <a:srgbClr val="494949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10229850" y="5553075"/>
            <a:ext cx="2209800" cy="0"/>
          </a:xfrm>
          <a:prstGeom prst="line">
            <a:avLst/>
          </a:prstGeom>
          <a:noFill/>
          <a:ln w="18415">
            <a:solidFill>
              <a:srgbClr val="494949"/>
            </a:solidFill>
          </a:ln>
        </p:spPr>
        <p:txBody>
          <a:bodyPr/>
          <a:lstStyle/>
          <a:p/>
        </p:txBody>
      </p:sp>
      <p:sp>
        <p:nvSpPr>
          <p:cNvPr id="54" name="Ellipse 54"/>
          <p:cNvSpPr/>
          <p:nvPr/>
        </p:nvSpPr>
        <p:spPr>
          <a:xfrm>
            <a:off x="2057400" y="4514850"/>
            <a:ext cx="247650" cy="247650"/>
          </a:xfrm>
          <a:prstGeom prst="ellipse">
            <a:avLst/>
          </a:prstGeom>
          <a:solidFill>
            <a:srgbClr val="FFFFFF"/>
          </a:solidFill>
          <a:ln w="23495">
            <a:solidFill>
              <a:srgbClr val="101010"/>
            </a:solidFill>
          </a:ln>
        </p:spPr>
        <p:txBody>
          <a:bodyPr/>
          <a:lstStyle/>
          <a:p/>
        </p:txBody>
      </p:sp>
      <p:sp>
        <p:nvSpPr>
          <p:cNvPr id="55" name="Ellipse 55"/>
          <p:cNvSpPr/>
          <p:nvPr/>
        </p:nvSpPr>
        <p:spPr>
          <a:xfrm>
            <a:off x="2057400" y="4972050"/>
            <a:ext cx="247650" cy="247650"/>
          </a:xfrm>
          <a:prstGeom prst="ellipse">
            <a:avLst/>
          </a:prstGeom>
          <a:solidFill>
            <a:srgbClr val="FFFFFF"/>
          </a:solidFill>
          <a:ln w="23495">
            <a:solidFill>
              <a:srgbClr val="101010"/>
            </a:solidFill>
          </a:ln>
        </p:spPr>
        <p:txBody>
          <a:bodyPr/>
          <a:lstStyle/>
          <a:p/>
        </p:txBody>
      </p:sp>
      <p:sp>
        <p:nvSpPr>
          <p:cNvPr id="56" name="Ellipse 56"/>
          <p:cNvSpPr/>
          <p:nvPr/>
        </p:nvSpPr>
        <p:spPr>
          <a:xfrm>
            <a:off x="2057400" y="5429250"/>
            <a:ext cx="247650" cy="247650"/>
          </a:xfrm>
          <a:prstGeom prst="ellipse">
            <a:avLst/>
          </a:prstGeom>
          <a:solidFill>
            <a:srgbClr val="FFFFFF"/>
          </a:solidFill>
          <a:ln w="23495">
            <a:solidFill>
              <a:srgbClr val="101010"/>
            </a:solidFill>
          </a:ln>
        </p:spPr>
        <p:txBody>
          <a:bodyPr/>
          <a:lstStyle/>
          <a:p/>
        </p:txBody>
      </p:sp>
      <p:sp>
        <p:nvSpPr>
          <p:cNvPr id="57" name="Ellipse 57"/>
          <p:cNvSpPr/>
          <p:nvPr/>
        </p:nvSpPr>
        <p:spPr>
          <a:xfrm>
            <a:off x="4276725" y="4514850"/>
            <a:ext cx="247650" cy="247650"/>
          </a:xfrm>
          <a:prstGeom prst="ellipse">
            <a:avLst/>
          </a:prstGeom>
          <a:solidFill>
            <a:srgbClr val="FFFFFF"/>
          </a:solidFill>
          <a:ln w="23495">
            <a:solidFill>
              <a:srgbClr val="101010"/>
            </a:solidFill>
          </a:ln>
        </p:spPr>
        <p:txBody>
          <a:bodyPr/>
          <a:lstStyle/>
          <a:p/>
        </p:txBody>
      </p:sp>
      <p:sp>
        <p:nvSpPr>
          <p:cNvPr id="58" name="Ellipse 58"/>
          <p:cNvSpPr/>
          <p:nvPr/>
        </p:nvSpPr>
        <p:spPr>
          <a:xfrm>
            <a:off x="4276725" y="4972050"/>
            <a:ext cx="247650" cy="247650"/>
          </a:xfrm>
          <a:prstGeom prst="ellipse">
            <a:avLst/>
          </a:prstGeom>
          <a:solidFill>
            <a:srgbClr val="FFFFFF"/>
          </a:solidFill>
          <a:ln w="23495">
            <a:solidFill>
              <a:srgbClr val="101010"/>
            </a:solidFill>
          </a:ln>
        </p:spPr>
        <p:txBody>
          <a:bodyPr/>
          <a:lstStyle/>
          <a:p/>
        </p:txBody>
      </p:sp>
      <p:sp>
        <p:nvSpPr>
          <p:cNvPr id="59" name="Ellipse 59"/>
          <p:cNvSpPr/>
          <p:nvPr/>
        </p:nvSpPr>
        <p:spPr>
          <a:xfrm>
            <a:off x="4276725" y="5429250"/>
            <a:ext cx="247650" cy="247650"/>
          </a:xfrm>
          <a:prstGeom prst="ellipse">
            <a:avLst/>
          </a:prstGeom>
          <a:solidFill>
            <a:srgbClr val="FFFFFF"/>
          </a:solidFill>
          <a:ln w="23495">
            <a:solidFill>
              <a:srgbClr val="101010"/>
            </a:solidFill>
          </a:ln>
        </p:spPr>
        <p:txBody>
          <a:bodyPr/>
          <a:lstStyle/>
          <a:p/>
        </p:txBody>
      </p:sp>
      <p:sp>
        <p:nvSpPr>
          <p:cNvPr id="60" name="Ellipse 60"/>
          <p:cNvSpPr/>
          <p:nvPr/>
        </p:nvSpPr>
        <p:spPr>
          <a:xfrm>
            <a:off x="6076950" y="4514850"/>
            <a:ext cx="247650" cy="247650"/>
          </a:xfrm>
          <a:prstGeom prst="ellipse">
            <a:avLst/>
          </a:prstGeom>
          <a:solidFill>
            <a:srgbClr val="FFFFFF"/>
          </a:solidFill>
          <a:ln w="23495">
            <a:solidFill>
              <a:srgbClr val="101010"/>
            </a:solidFill>
          </a:ln>
        </p:spPr>
        <p:txBody>
          <a:bodyPr/>
          <a:lstStyle/>
          <a:p/>
        </p:txBody>
      </p:sp>
      <p:sp>
        <p:nvSpPr>
          <p:cNvPr id="61" name="Ellipse 61"/>
          <p:cNvSpPr/>
          <p:nvPr/>
        </p:nvSpPr>
        <p:spPr>
          <a:xfrm>
            <a:off x="6076950" y="4972050"/>
            <a:ext cx="247650" cy="247650"/>
          </a:xfrm>
          <a:prstGeom prst="ellipse">
            <a:avLst/>
          </a:prstGeom>
          <a:solidFill>
            <a:srgbClr val="FFFFFF"/>
          </a:solidFill>
          <a:ln w="23495">
            <a:solidFill>
              <a:srgbClr val="101010"/>
            </a:solidFill>
          </a:ln>
        </p:spPr>
        <p:txBody>
          <a:bodyPr/>
          <a:lstStyle/>
          <a:p/>
        </p:txBody>
      </p:sp>
      <p:sp>
        <p:nvSpPr>
          <p:cNvPr id="62" name="Ellipse 62"/>
          <p:cNvSpPr/>
          <p:nvPr/>
        </p:nvSpPr>
        <p:spPr>
          <a:xfrm>
            <a:off x="6076950" y="5429250"/>
            <a:ext cx="247650" cy="247650"/>
          </a:xfrm>
          <a:prstGeom prst="ellipse">
            <a:avLst/>
          </a:prstGeom>
          <a:solidFill>
            <a:srgbClr val="FFFFFF"/>
          </a:solidFill>
          <a:ln w="23495">
            <a:solidFill>
              <a:srgbClr val="101010"/>
            </a:solidFill>
          </a:ln>
        </p:spPr>
        <p:txBody>
          <a:bodyPr/>
          <a:lstStyle/>
          <a:p/>
        </p:txBody>
      </p:sp>
      <p:sp>
        <p:nvSpPr>
          <p:cNvPr id="63" name="Ellipse 63"/>
          <p:cNvSpPr/>
          <p:nvPr/>
        </p:nvSpPr>
        <p:spPr>
          <a:xfrm>
            <a:off x="8286750" y="4514850"/>
            <a:ext cx="247650" cy="247650"/>
          </a:xfrm>
          <a:prstGeom prst="ellipse">
            <a:avLst/>
          </a:prstGeom>
          <a:solidFill>
            <a:srgbClr val="FFFFFF"/>
          </a:solidFill>
          <a:ln w="23495">
            <a:solidFill>
              <a:srgbClr val="101010"/>
            </a:solidFill>
          </a:ln>
        </p:spPr>
        <p:txBody>
          <a:bodyPr/>
          <a:lstStyle/>
          <a:p/>
        </p:txBody>
      </p:sp>
      <p:sp>
        <p:nvSpPr>
          <p:cNvPr id="64" name="Ellipse 64"/>
          <p:cNvSpPr/>
          <p:nvPr/>
        </p:nvSpPr>
        <p:spPr>
          <a:xfrm>
            <a:off x="8286750" y="4972050"/>
            <a:ext cx="247650" cy="247650"/>
          </a:xfrm>
          <a:prstGeom prst="ellipse">
            <a:avLst/>
          </a:prstGeom>
          <a:solidFill>
            <a:srgbClr val="FFFFFF"/>
          </a:solidFill>
          <a:ln w="23495">
            <a:solidFill>
              <a:srgbClr val="101010"/>
            </a:solidFill>
          </a:ln>
        </p:spPr>
        <p:txBody>
          <a:bodyPr/>
          <a:lstStyle/>
          <a:p/>
        </p:txBody>
      </p:sp>
      <p:sp>
        <p:nvSpPr>
          <p:cNvPr id="65" name="Ellipse 65"/>
          <p:cNvSpPr/>
          <p:nvPr/>
        </p:nvSpPr>
        <p:spPr>
          <a:xfrm>
            <a:off x="8286750" y="5429250"/>
            <a:ext cx="247650" cy="247650"/>
          </a:xfrm>
          <a:prstGeom prst="ellipse">
            <a:avLst/>
          </a:prstGeom>
          <a:solidFill>
            <a:srgbClr val="FFFFFF"/>
          </a:solidFill>
          <a:ln w="23495">
            <a:solidFill>
              <a:srgbClr val="101010"/>
            </a:solidFill>
          </a:ln>
        </p:spPr>
        <p:txBody>
          <a:bodyPr/>
          <a:lstStyle/>
          <a:p/>
        </p:txBody>
      </p:sp>
      <p:sp>
        <p:nvSpPr>
          <p:cNvPr id="66" name="Ellipse 66"/>
          <p:cNvSpPr/>
          <p:nvPr/>
        </p:nvSpPr>
        <p:spPr>
          <a:xfrm>
            <a:off x="10106025" y="4514850"/>
            <a:ext cx="247650" cy="247650"/>
          </a:xfrm>
          <a:prstGeom prst="ellipse">
            <a:avLst/>
          </a:prstGeom>
          <a:solidFill>
            <a:srgbClr val="FFFFFF"/>
          </a:solidFill>
          <a:ln w="23495">
            <a:solidFill>
              <a:srgbClr val="101010"/>
            </a:solidFill>
          </a:ln>
        </p:spPr>
        <p:txBody>
          <a:bodyPr/>
          <a:lstStyle/>
          <a:p/>
        </p:txBody>
      </p:sp>
      <p:sp>
        <p:nvSpPr>
          <p:cNvPr id="67" name="Ellipse 67"/>
          <p:cNvSpPr/>
          <p:nvPr/>
        </p:nvSpPr>
        <p:spPr>
          <a:xfrm>
            <a:off x="10106025" y="4972050"/>
            <a:ext cx="247650" cy="247650"/>
          </a:xfrm>
          <a:prstGeom prst="ellipse">
            <a:avLst/>
          </a:prstGeom>
          <a:solidFill>
            <a:srgbClr val="FFFFFF"/>
          </a:solidFill>
          <a:ln w="23495">
            <a:solidFill>
              <a:srgbClr val="101010"/>
            </a:solidFill>
          </a:ln>
        </p:spPr>
        <p:txBody>
          <a:bodyPr/>
          <a:lstStyle/>
          <a:p/>
        </p:txBody>
      </p:sp>
      <p:sp>
        <p:nvSpPr>
          <p:cNvPr id="68" name="Ellipse 68"/>
          <p:cNvSpPr/>
          <p:nvPr/>
        </p:nvSpPr>
        <p:spPr>
          <a:xfrm>
            <a:off x="10106025" y="5429250"/>
            <a:ext cx="247650" cy="247650"/>
          </a:xfrm>
          <a:prstGeom prst="ellipse">
            <a:avLst/>
          </a:prstGeom>
          <a:solidFill>
            <a:srgbClr val="FFFFFF"/>
          </a:solidFill>
          <a:ln w="23495">
            <a:solidFill>
              <a:srgbClr val="101010"/>
            </a:solidFill>
          </a:ln>
        </p:spPr>
        <p:txBody>
          <a:bodyPr/>
          <a:lstStyle/>
          <a:p/>
        </p:txBody>
      </p:sp>
      <p:sp>
        <p:nvSpPr>
          <p:cNvPr id="69" name="Ellipse 69"/>
          <p:cNvSpPr/>
          <p:nvPr/>
        </p:nvSpPr>
        <p:spPr>
          <a:xfrm>
            <a:off x="12315825" y="4514850"/>
            <a:ext cx="247650" cy="247650"/>
          </a:xfrm>
          <a:prstGeom prst="ellipse">
            <a:avLst/>
          </a:prstGeom>
          <a:solidFill>
            <a:srgbClr val="FFFFFF"/>
          </a:solidFill>
          <a:ln w="23495">
            <a:solidFill>
              <a:srgbClr val="101010"/>
            </a:solidFill>
          </a:ln>
        </p:spPr>
        <p:txBody>
          <a:bodyPr/>
          <a:lstStyle/>
          <a:p/>
        </p:txBody>
      </p:sp>
      <p:sp>
        <p:nvSpPr>
          <p:cNvPr id="70" name="Ellipse 70"/>
          <p:cNvSpPr/>
          <p:nvPr/>
        </p:nvSpPr>
        <p:spPr>
          <a:xfrm>
            <a:off x="12315825" y="4972050"/>
            <a:ext cx="247650" cy="247650"/>
          </a:xfrm>
          <a:prstGeom prst="ellipse">
            <a:avLst/>
          </a:prstGeom>
          <a:solidFill>
            <a:srgbClr val="FFFFFF"/>
          </a:solidFill>
          <a:ln w="23495">
            <a:solidFill>
              <a:srgbClr val="101010"/>
            </a:solidFill>
          </a:ln>
        </p:spPr>
        <p:txBody>
          <a:bodyPr/>
          <a:lstStyle/>
          <a:p/>
        </p:txBody>
      </p:sp>
      <p:sp>
        <p:nvSpPr>
          <p:cNvPr id="71" name="Ellipse 71"/>
          <p:cNvSpPr/>
          <p:nvPr/>
        </p:nvSpPr>
        <p:spPr>
          <a:xfrm>
            <a:off x="12315825" y="5429250"/>
            <a:ext cx="247650" cy="247650"/>
          </a:xfrm>
          <a:prstGeom prst="ellipse">
            <a:avLst/>
          </a:prstGeom>
          <a:solidFill>
            <a:srgbClr val="FFFFFF"/>
          </a:solidFill>
          <a:ln w="23495">
            <a:solidFill>
              <a:srgbClr val="101010"/>
            </a:solidFill>
          </a:ln>
        </p:spPr>
        <p:txBody>
          <a:bodyPr/>
          <a:lstStyle/>
          <a:p/>
        </p:txBody>
      </p:sp>
      <p:pic>
        <p:nvPicPr>
          <p:cNvPr id="72" name="LaTeX rendered formula horizon_1"/>
          <p:cNvPicPr/>
          <p:nvPr/>
        </p:nvPicPr>
        <p:blipFill>
          <a:blip r:embed="rId2"/>
          <a:stretch>
            <a:fillRect/>
          </a:stretch>
        </p:blipFill>
        <p:spPr>
          <a:xfrm>
            <a:off x="2094820" y="3857625"/>
            <a:ext cx="591911" cy="333375"/>
          </a:xfrm>
          <a:prstGeom prst="rect">
            <a:avLst/>
          </a:prstGeom>
        </p:spPr>
      </p:pic>
      <p:pic>
        <p:nvPicPr>
          <p:cNvPr id="73" name="LaTeX rendered formula horizon_1"/>
          <p:cNvPicPr/>
          <p:nvPr/>
        </p:nvPicPr>
        <p:blipFill>
          <a:blip r:embed="rId3"/>
          <a:stretch>
            <a:fillRect/>
          </a:stretch>
        </p:blipFill>
        <p:spPr>
          <a:xfrm>
            <a:off x="6114370" y="3857625"/>
            <a:ext cx="591911" cy="333375"/>
          </a:xfrm>
          <a:prstGeom prst="rect">
            <a:avLst/>
          </a:prstGeom>
        </p:spPr>
      </p:pic>
      <p:pic>
        <p:nvPicPr>
          <p:cNvPr id="74" name="LaTeX rendered formula horizon_1"/>
          <p:cNvPicPr/>
          <p:nvPr/>
        </p:nvPicPr>
        <p:blipFill>
          <a:blip r:embed="rId4"/>
          <a:stretch>
            <a:fillRect/>
          </a:stretch>
        </p:blipFill>
        <p:spPr>
          <a:xfrm>
            <a:off x="10143445" y="3857625"/>
            <a:ext cx="591911" cy="333375"/>
          </a:xfrm>
          <a:prstGeom prst="rect">
            <a:avLst/>
          </a:prstGeom>
        </p:spPr>
      </p:pic>
      <p:pic>
        <p:nvPicPr>
          <p:cNvPr id="75" name="LaTeX rendered formula horizon_delta_1"/>
          <p:cNvPicPr/>
          <p:nvPr/>
        </p:nvPicPr>
        <p:blipFill>
          <a:blip r:embed="rId5"/>
          <a:stretch>
            <a:fillRect/>
          </a:stretch>
        </p:blipFill>
        <p:spPr>
          <a:xfrm>
            <a:off x="3658076" y="3857625"/>
            <a:ext cx="1046798" cy="333375"/>
          </a:xfrm>
          <a:prstGeom prst="rect">
            <a:avLst/>
          </a:prstGeom>
        </p:spPr>
      </p:pic>
      <p:pic>
        <p:nvPicPr>
          <p:cNvPr id="76" name="LaTeX rendered formula horizon_delta_1"/>
          <p:cNvPicPr/>
          <p:nvPr/>
        </p:nvPicPr>
        <p:blipFill>
          <a:blip r:embed="rId6"/>
          <a:stretch>
            <a:fillRect/>
          </a:stretch>
        </p:blipFill>
        <p:spPr>
          <a:xfrm>
            <a:off x="7687151" y="3857625"/>
            <a:ext cx="1046798" cy="333375"/>
          </a:xfrm>
          <a:prstGeom prst="rect">
            <a:avLst/>
          </a:prstGeom>
        </p:spPr>
      </p:pic>
      <p:pic>
        <p:nvPicPr>
          <p:cNvPr id="77" name="LaTeX rendered formula horizon_delta_1"/>
          <p:cNvPicPr/>
          <p:nvPr/>
        </p:nvPicPr>
        <p:blipFill>
          <a:blip r:embed="rId7"/>
          <a:stretch>
            <a:fillRect/>
          </a:stretch>
        </p:blipFill>
        <p:spPr>
          <a:xfrm>
            <a:off x="11706701" y="3857625"/>
            <a:ext cx="1046798" cy="333375"/>
          </a:xfrm>
          <a:prstGeom prst="rect">
            <a:avLst/>
          </a:prstGeom>
        </p:spPr>
      </p:pic>
      <p:sp>
        <p:nvSpPr>
          <p:cNvPr id="78" name="TextBox 78"/>
          <p:cNvSpPr txBox="1"/>
          <p:nvPr/>
        </p:nvSpPr>
        <p:spPr>
          <a:xfrm>
            <a:off x="2381250" y="95250"/>
            <a:ext cx="2762250" cy="552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原始分位网格</a:t>
            </a:r>
            <a:endParaRPr lang="zh-CN" sz="3200"/>
          </a:p>
        </p:txBody>
      </p:sp>
      <p:sp>
        <p:nvSpPr>
          <p:cNvPr id="79" name="TextBox 79"/>
          <p:cNvSpPr txBox="1"/>
          <p:nvPr/>
        </p:nvSpPr>
        <p:spPr>
          <a:xfrm>
            <a:off x="2409825" y="676275"/>
            <a:ext cx="2686050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共同逐时距样本</a:t>
            </a:r>
            <a:endParaRPr lang="zh-CN" sz="2700"/>
          </a:p>
        </p:txBody>
      </p:sp>
      <p:sp>
        <p:nvSpPr>
          <p:cNvPr id="80" name="TextBox 80"/>
          <p:cNvSpPr txBox="1"/>
          <p:nvPr/>
        </p:nvSpPr>
        <p:spPr>
          <a:xfrm>
            <a:off x="2181225" y="1228725"/>
            <a:ext cx="3143250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各时距样本值相同</a:t>
            </a:r>
            <a:endParaRPr lang="zh-CN" sz="2700"/>
          </a:p>
        </p:txBody>
      </p:sp>
      <p:sp>
        <p:nvSpPr>
          <p:cNvPr id="81" name="TextBox 81"/>
          <p:cNvSpPr txBox="1"/>
          <p:nvPr/>
        </p:nvSpPr>
        <p:spPr>
          <a:xfrm>
            <a:off x="2181225" y="1562100"/>
            <a:ext cx="3143250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仅改变跨时距配对</a:t>
            </a:r>
            <a:endParaRPr lang="zh-CN" sz="2700"/>
          </a:p>
        </p:txBody>
      </p:sp>
      <p:sp>
        <p:nvSpPr>
          <p:cNvPr id="82" name="TextBox 82"/>
          <p:cNvSpPr txBox="1"/>
          <p:nvPr/>
        </p:nvSpPr>
        <p:spPr>
          <a:xfrm>
            <a:off x="9772650" y="95250"/>
            <a:ext cx="2857500" cy="552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可用历史信息</a:t>
            </a:r>
            <a:endParaRPr lang="zh-CN" sz="3200"/>
          </a:p>
        </p:txBody>
      </p:sp>
      <p:sp>
        <p:nvSpPr>
          <p:cNvPr id="83" name="TextBox 83"/>
          <p:cNvSpPr txBox="1"/>
          <p:nvPr/>
        </p:nvSpPr>
        <p:spPr>
          <a:xfrm>
            <a:off x="8667750" y="695325"/>
            <a:ext cx="2324100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历史外推误差</a:t>
            </a:r>
            <a:endParaRPr lang="zh-CN" sz="2700"/>
          </a:p>
        </p:txBody>
      </p:sp>
      <p:sp>
        <p:nvSpPr>
          <p:cNvPr id="84" name="TextBox 84"/>
          <p:cNvSpPr txBox="1"/>
          <p:nvPr/>
        </p:nvSpPr>
        <p:spPr>
          <a:xfrm>
            <a:off x="11296650" y="695325"/>
            <a:ext cx="2533650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发布时已知天气</a:t>
            </a:r>
            <a:endParaRPr lang="zh-CN" sz="2700"/>
          </a:p>
        </p:txBody>
      </p:sp>
      <p:sp>
        <p:nvSpPr>
          <p:cNvPr id="85" name="TextBox 85"/>
          <p:cNvSpPr txBox="1"/>
          <p:nvPr/>
        </p:nvSpPr>
        <p:spPr>
          <a:xfrm>
            <a:off x="8582025" y="1247775"/>
            <a:ext cx="2514600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全轨迹标签到齐</a:t>
            </a:r>
            <a:endParaRPr lang="zh-CN" sz="2700"/>
          </a:p>
        </p:txBody>
      </p:sp>
      <p:sp>
        <p:nvSpPr>
          <p:cNvPr id="86" name="TextBox 86"/>
          <p:cNvSpPr txBox="1"/>
          <p:nvPr/>
        </p:nvSpPr>
        <p:spPr>
          <a:xfrm>
            <a:off x="11306175" y="1247775"/>
            <a:ext cx="2533650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当前与历史匹配</a:t>
            </a:r>
            <a:endParaRPr lang="zh-CN" sz="2700"/>
          </a:p>
        </p:txBody>
      </p:sp>
      <p:sp>
        <p:nvSpPr>
          <p:cNvPr id="87" name="TextBox 87"/>
          <p:cNvSpPr txBox="1"/>
          <p:nvPr/>
        </p:nvSpPr>
        <p:spPr>
          <a:xfrm>
            <a:off x="2876550" y="2105025"/>
            <a:ext cx="876300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输入</a:t>
            </a:r>
            <a:endParaRPr lang="zh-CN" sz="2700"/>
          </a:p>
        </p:txBody>
      </p:sp>
      <p:sp>
        <p:nvSpPr>
          <p:cNvPr id="88" name="TextBox 88"/>
          <p:cNvSpPr txBox="1"/>
          <p:nvPr/>
        </p:nvSpPr>
        <p:spPr>
          <a:xfrm>
            <a:off x="6867525" y="2105025"/>
            <a:ext cx="876300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输入</a:t>
            </a:r>
            <a:endParaRPr lang="zh-CN" sz="2700"/>
          </a:p>
        </p:txBody>
      </p:sp>
      <p:sp>
        <p:nvSpPr>
          <p:cNvPr id="89" name="TextBox 89"/>
          <p:cNvSpPr txBox="1"/>
          <p:nvPr/>
        </p:nvSpPr>
        <p:spPr>
          <a:xfrm>
            <a:off x="10963275" y="2105025"/>
            <a:ext cx="895350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输入</a:t>
            </a:r>
            <a:endParaRPr lang="zh-CN" sz="2700"/>
          </a:p>
        </p:txBody>
      </p:sp>
      <p:sp>
        <p:nvSpPr>
          <p:cNvPr id="90" name="TextBox 90"/>
          <p:cNvSpPr txBox="1"/>
          <p:nvPr/>
        </p:nvSpPr>
        <p:spPr>
          <a:xfrm>
            <a:off x="2514600" y="2476500"/>
            <a:ext cx="1628775" cy="5048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共同样本</a:t>
            </a:r>
            <a:endParaRPr lang="zh-CN" sz="2700"/>
          </a:p>
        </p:txBody>
      </p:sp>
      <p:sp>
        <p:nvSpPr>
          <p:cNvPr id="91" name="TextBox 91"/>
          <p:cNvSpPr txBox="1"/>
          <p:nvPr/>
        </p:nvSpPr>
        <p:spPr>
          <a:xfrm>
            <a:off x="5657850" y="2476500"/>
            <a:ext cx="3314700" cy="5048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共同样本＋历史误差</a:t>
            </a:r>
            <a:endParaRPr lang="zh-CN" sz="2700"/>
          </a:p>
        </p:txBody>
      </p:sp>
      <p:sp>
        <p:nvSpPr>
          <p:cNvPr id="92" name="TextBox 92"/>
          <p:cNvSpPr txBox="1"/>
          <p:nvPr/>
        </p:nvSpPr>
        <p:spPr>
          <a:xfrm>
            <a:off x="9229725" y="2476500"/>
            <a:ext cx="4457700" cy="5048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共同样本＋历史误差＋天气</a:t>
            </a:r>
            <a:endParaRPr lang="zh-CN" sz="2700"/>
          </a:p>
        </p:txBody>
      </p:sp>
      <p:sp>
        <p:nvSpPr>
          <p:cNvPr id="93" name="TextBox 93"/>
          <p:cNvSpPr txBox="1"/>
          <p:nvPr/>
        </p:nvSpPr>
        <p:spPr>
          <a:xfrm>
            <a:off x="2324100" y="3095625"/>
            <a:ext cx="1924050" cy="552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独立排序</a:t>
            </a:r>
            <a:endParaRPr lang="zh-CN" sz="3200"/>
          </a:p>
        </p:txBody>
      </p:sp>
      <p:sp>
        <p:nvSpPr>
          <p:cNvPr id="94" name="TextBox 94"/>
          <p:cNvSpPr txBox="1"/>
          <p:nvPr/>
        </p:nvSpPr>
        <p:spPr>
          <a:xfrm>
            <a:off x="6200775" y="3095625"/>
            <a:ext cx="2228850" cy="552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总体历史秩</a:t>
            </a:r>
            <a:endParaRPr lang="zh-CN" sz="3200"/>
          </a:p>
        </p:txBody>
      </p:sp>
      <p:sp>
        <p:nvSpPr>
          <p:cNvPr id="95" name="TextBox 95"/>
          <p:cNvSpPr txBox="1"/>
          <p:nvPr/>
        </p:nvSpPr>
        <p:spPr>
          <a:xfrm>
            <a:off x="9820275" y="3095625"/>
            <a:ext cx="3048000" cy="552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天气条件历史秩</a:t>
            </a:r>
            <a:endParaRPr lang="zh-CN" sz="3200"/>
          </a:p>
        </p:txBody>
      </p:sp>
      <p:sp>
        <p:nvSpPr>
          <p:cNvPr id="96" name="TextBox 96"/>
          <p:cNvSpPr txBox="1"/>
          <p:nvPr/>
        </p:nvSpPr>
        <p:spPr>
          <a:xfrm>
            <a:off x="5619750" y="6372225"/>
            <a:ext cx="3390900" cy="552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各组净变化概率</a:t>
            </a:r>
            <a:endParaRPr lang="zh-CN" sz="3200"/>
          </a:p>
        </p:txBody>
      </p:sp>
      <p:sp>
        <p:nvSpPr>
          <p:cNvPr id="97" name="TextBox 97"/>
          <p:cNvSpPr txBox="1"/>
          <p:nvPr/>
        </p:nvSpPr>
        <p:spPr>
          <a:xfrm>
            <a:off x="3190875" y="7400925"/>
            <a:ext cx="3333750" cy="542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Brier差值比较</a:t>
            </a:r>
            <a:endParaRPr lang="zh-CN" sz="3200"/>
          </a:p>
        </p:txBody>
      </p:sp>
      <p:sp>
        <p:nvSpPr>
          <p:cNvPr id="98" name="TextBox 98"/>
          <p:cNvSpPr txBox="1"/>
          <p:nvPr/>
        </p:nvSpPr>
        <p:spPr>
          <a:xfrm>
            <a:off x="2295525" y="7972425"/>
            <a:ext cx="5153025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主 D0: 总体历史秩 - 独立排序</a:t>
            </a:r>
            <a:endParaRPr lang="zh-CN" sz="2500"/>
          </a:p>
        </p:txBody>
      </p:sp>
      <p:sp>
        <p:nvSpPr>
          <p:cNvPr id="99" name="TextBox 99"/>
          <p:cNvSpPr txBox="1"/>
          <p:nvPr/>
        </p:nvSpPr>
        <p:spPr>
          <a:xfrm>
            <a:off x="2295525" y="8391525"/>
            <a:ext cx="485775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次 D1: 天气条件历史秩</a:t>
            </a:r>
            <a:endParaRPr lang="zh-CN" sz="2500"/>
          </a:p>
        </p:txBody>
      </p:sp>
      <p:sp>
        <p:nvSpPr>
          <p:cNvPr id="100" name="TextBox 100"/>
          <p:cNvSpPr txBox="1"/>
          <p:nvPr/>
        </p:nvSpPr>
        <p:spPr>
          <a:xfrm>
            <a:off x="3190875" y="8801100"/>
            <a:ext cx="4019550" cy="4286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- 总体历史秩</a:t>
            </a:r>
            <a:endParaRPr lang="zh-CN" sz="2500"/>
          </a:p>
        </p:txBody>
      </p:sp>
      <p:sp>
        <p:nvSpPr>
          <p:cNvPr id="101" name="TextBox 101"/>
          <p:cNvSpPr txBox="1"/>
          <p:nvPr/>
        </p:nvSpPr>
        <p:spPr>
          <a:xfrm>
            <a:off x="9229725" y="7400925"/>
            <a:ext cx="2009775" cy="542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离线告警</a:t>
            </a:r>
            <a:endParaRPr lang="zh-CN" sz="3200"/>
          </a:p>
        </p:txBody>
      </p:sp>
      <p:sp>
        <p:nvSpPr>
          <p:cNvPr id="102" name="TextBox 102"/>
          <p:cNvSpPr txBox="1"/>
          <p:nvPr/>
        </p:nvSpPr>
        <p:spPr>
          <a:xfrm>
            <a:off x="8896350" y="7991475"/>
            <a:ext cx="2686050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验证集固定阈值</a:t>
            </a:r>
            <a:endParaRPr lang="zh-CN" sz="2700"/>
          </a:p>
        </p:txBody>
      </p:sp>
      <p:sp>
        <p:nvSpPr>
          <p:cNvPr id="103" name="TextBox 103"/>
          <p:cNvSpPr txBox="1"/>
          <p:nvPr/>
        </p:nvSpPr>
        <p:spPr>
          <a:xfrm>
            <a:off x="9058275" y="8591550"/>
            <a:ext cx="2362200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测试实际告警</a:t>
            </a:r>
            <a:endParaRPr lang="zh-CN" sz="2700"/>
          </a:p>
        </p:txBody>
      </p:sp>
      <p:sp>
        <p:nvSpPr>
          <p:cNvPr id="104" name="TextBox 104"/>
          <p:cNvSpPr txBox="1"/>
          <p:nvPr/>
        </p:nvSpPr>
        <p:spPr>
          <a:xfrm>
            <a:off x="4505325" y="9267825"/>
            <a:ext cx="5619750" cy="4667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00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拟开展研究 | 结构示意，非实测</a:t>
            </a:r>
            <a:endParaRPr lang="zh-CN"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5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
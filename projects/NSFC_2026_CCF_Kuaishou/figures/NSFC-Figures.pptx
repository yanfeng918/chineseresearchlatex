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556974" y="517447"/>
            <a:ext cx="3177564" cy="1377430"/>
          </a:xfrm>
          <a:prstGeom prst="rect">
            <a:avLst/>
          </a:prstGeom>
          <a:solidFill>
            <a:srgbClr val="1553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681977" y="517447"/>
            <a:ext cx="3002652" cy="1377430"/>
          </a:xfrm>
          <a:prstGeom prst="rect">
            <a:avLst/>
          </a:prstGeom>
          <a:solidFill>
            <a:srgbClr val="15538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8595629" y="517447"/>
            <a:ext cx="3031804" cy="1377430"/>
          </a:xfrm>
          <a:prstGeom prst="rect">
            <a:avLst/>
          </a:prstGeom>
          <a:solidFill>
            <a:srgbClr val="15538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556974" y="2594525"/>
            <a:ext cx="3177564" cy="1406582"/>
          </a:xfrm>
          <a:prstGeom prst="rect">
            <a:avLst/>
          </a:prstGeom>
          <a:solidFill>
            <a:srgbClr val="629BC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4681977" y="2594525"/>
            <a:ext cx="3002652" cy="1406582"/>
          </a:xfrm>
          <a:prstGeom prst="rect">
            <a:avLst/>
          </a:prstGeom>
          <a:solidFill>
            <a:srgbClr val="629BC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8595629" y="2594525"/>
            <a:ext cx="3031804" cy="1406582"/>
          </a:xfrm>
          <a:prstGeom prst="rect">
            <a:avLst/>
          </a:prstGeom>
          <a:solidFill>
            <a:srgbClr val="629BC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551508" y="4651561"/>
            <a:ext cx="3203072" cy="1570562"/>
          </a:xfrm>
          <a:prstGeom prst="rect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4640071" y="4651561"/>
            <a:ext cx="3079176" cy="1570562"/>
          </a:xfrm>
          <a:prstGeom prst="rect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8568299" y="4651561"/>
            <a:ext cx="3064600" cy="1570562"/>
          </a:xfrm>
          <a:prstGeom prst="rect">
            <a:avLst/>
          </a:prstGeom>
          <a:solidFill>
            <a:srgbClr val="073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586126" y="546599"/>
            <a:ext cx="3119260" cy="13191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711129" y="546599"/>
            <a:ext cx="2944349" cy="13191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8624781" y="546599"/>
            <a:ext cx="2973501" cy="13191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586126" y="2623677"/>
            <a:ext cx="3119260" cy="13482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711129" y="2623677"/>
            <a:ext cx="2944349" cy="13482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8624781" y="2623677"/>
            <a:ext cx="2973501" cy="13482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591592" y="4691645"/>
            <a:ext cx="3122904" cy="1490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4680155" y="4691645"/>
            <a:ext cx="2999009" cy="1490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8608383" y="4691645"/>
            <a:ext cx="2984433" cy="14903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Freeform 20"/>
          <p:cNvSpPr/>
          <p:nvPr/>
        </p:nvSpPr>
        <p:spPr>
          <a:xfrm>
            <a:off x="3800130" y="1085911"/>
            <a:ext cx="801679" cy="204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486"/>
                </a:moveTo>
                <a:lnTo>
                  <a:pt x="16887" y="8486"/>
                </a:lnTo>
                <a:lnTo>
                  <a:pt x="16887" y="0"/>
                </a:lnTo>
                <a:lnTo>
                  <a:pt x="21600" y="10800"/>
                </a:lnTo>
                <a:lnTo>
                  <a:pt x="16887" y="21600"/>
                </a:lnTo>
                <a:lnTo>
                  <a:pt x="16887" y="13114"/>
                </a:lnTo>
                <a:lnTo>
                  <a:pt x="0" y="13114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reeform 21"/>
          <p:cNvSpPr/>
          <p:nvPr/>
        </p:nvSpPr>
        <p:spPr>
          <a:xfrm>
            <a:off x="7742934" y="1085911"/>
            <a:ext cx="794391" cy="204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486"/>
                </a:moveTo>
                <a:lnTo>
                  <a:pt x="16844" y="8486"/>
                </a:lnTo>
                <a:lnTo>
                  <a:pt x="16844" y="0"/>
                </a:lnTo>
                <a:lnTo>
                  <a:pt x="21600" y="10800"/>
                </a:lnTo>
                <a:lnTo>
                  <a:pt x="16844" y="21600"/>
                </a:lnTo>
                <a:lnTo>
                  <a:pt x="16844" y="13114"/>
                </a:lnTo>
                <a:lnTo>
                  <a:pt x="0" y="13114"/>
                </a:lnTo>
                <a:close/>
              </a:path>
            </a:pathLst>
          </a:custGeom>
          <a:solidFill>
            <a:srgbClr val="3737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reeform 22"/>
          <p:cNvSpPr/>
          <p:nvPr/>
        </p:nvSpPr>
        <p:spPr>
          <a:xfrm>
            <a:off x="911170" y="2375885"/>
            <a:ext cx="20406" cy="9474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reeform 23"/>
          <p:cNvSpPr/>
          <p:nvPr/>
        </p:nvSpPr>
        <p:spPr>
          <a:xfrm>
            <a:off x="911309" y="2330480"/>
            <a:ext cx="27417" cy="4708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5858" y="21600"/>
                </a:moveTo>
                <a:lnTo>
                  <a:pt x="21600" y="1539"/>
                </a:lnTo>
                <a:lnTo>
                  <a:pt x="5742" y="0"/>
                </a:lnTo>
                <a:lnTo>
                  <a:pt x="0" y="20061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Freeform 24"/>
          <p:cNvSpPr/>
          <p:nvPr/>
        </p:nvSpPr>
        <p:spPr>
          <a:xfrm>
            <a:off x="919912" y="2290468"/>
            <a:ext cx="39362" cy="469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9602" y="21600"/>
                </a:moveTo>
                <a:lnTo>
                  <a:pt x="21600" y="4831"/>
                </a:lnTo>
                <a:lnTo>
                  <a:pt x="11998" y="0"/>
                </a:lnTo>
                <a:lnTo>
                  <a:pt x="0" y="16769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reeform 25"/>
          <p:cNvSpPr/>
          <p:nvPr/>
        </p:nvSpPr>
        <p:spPr>
          <a:xfrm>
            <a:off x="945276" y="2265104"/>
            <a:ext cx="46939" cy="3936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831" y="21600"/>
                </a:moveTo>
                <a:lnTo>
                  <a:pt x="21600" y="9602"/>
                </a:lnTo>
                <a:lnTo>
                  <a:pt x="16769" y="0"/>
                </a:lnTo>
                <a:lnTo>
                  <a:pt x="0" y="11998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Freeform 26"/>
          <p:cNvSpPr/>
          <p:nvPr/>
        </p:nvSpPr>
        <p:spPr>
          <a:xfrm>
            <a:off x="985523" y="2256465"/>
            <a:ext cx="53902" cy="2748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156" y="21600"/>
                </a:moveTo>
                <a:lnTo>
                  <a:pt x="21600" y="15873"/>
                </a:lnTo>
                <a:lnTo>
                  <a:pt x="20444" y="0"/>
                </a:lnTo>
                <a:lnTo>
                  <a:pt x="0" y="5727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Freeform 27"/>
          <p:cNvSpPr/>
          <p:nvPr/>
        </p:nvSpPr>
        <p:spPr>
          <a:xfrm>
            <a:off x="1037982" y="2256362"/>
            <a:ext cx="4904818" cy="204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Freeform 28"/>
          <p:cNvSpPr/>
          <p:nvPr/>
        </p:nvSpPr>
        <p:spPr>
          <a:xfrm>
            <a:off x="5941357" y="2249177"/>
            <a:ext cx="53902" cy="2748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156" y="21600"/>
                </a:moveTo>
                <a:lnTo>
                  <a:pt x="21600" y="15873"/>
                </a:lnTo>
                <a:lnTo>
                  <a:pt x="20444" y="0"/>
                </a:lnTo>
                <a:lnTo>
                  <a:pt x="0" y="5727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Freeform 29"/>
          <p:cNvSpPr/>
          <p:nvPr/>
        </p:nvSpPr>
        <p:spPr>
          <a:xfrm>
            <a:off x="5988156" y="2221636"/>
            <a:ext cx="55047" cy="4613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442" y="21600"/>
                </a:moveTo>
                <a:lnTo>
                  <a:pt x="21600" y="7950"/>
                </a:lnTo>
                <a:lnTo>
                  <a:pt x="17158" y="0"/>
                </a:lnTo>
                <a:lnTo>
                  <a:pt x="0" y="1365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Freeform 30"/>
          <p:cNvSpPr/>
          <p:nvPr/>
        </p:nvSpPr>
        <p:spPr>
          <a:xfrm>
            <a:off x="6029576" y="2187312"/>
            <a:ext cx="45087" cy="491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634" y="21600"/>
                </a:moveTo>
                <a:lnTo>
                  <a:pt x="21600" y="5598"/>
                </a:lnTo>
                <a:lnTo>
                  <a:pt x="13966" y="0"/>
                </a:lnTo>
                <a:lnTo>
                  <a:pt x="0" y="16002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Freeform 31"/>
          <p:cNvSpPr/>
          <p:nvPr/>
        </p:nvSpPr>
        <p:spPr>
          <a:xfrm>
            <a:off x="6057317" y="2138650"/>
            <a:ext cx="40620" cy="590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9974" y="21600"/>
                </a:moveTo>
                <a:lnTo>
                  <a:pt x="21600" y="2940"/>
                </a:lnTo>
                <a:lnTo>
                  <a:pt x="11626" y="0"/>
                </a:lnTo>
                <a:lnTo>
                  <a:pt x="0" y="1866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Freeform 32"/>
          <p:cNvSpPr/>
          <p:nvPr/>
        </p:nvSpPr>
        <p:spPr>
          <a:xfrm>
            <a:off x="6078880" y="2095715"/>
            <a:ext cx="33935" cy="501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2322" y="21600"/>
                </a:moveTo>
                <a:lnTo>
                  <a:pt x="21600" y="2778"/>
                </a:lnTo>
                <a:lnTo>
                  <a:pt x="9278" y="0"/>
                </a:lnTo>
                <a:lnTo>
                  <a:pt x="0" y="18822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Freeform 33"/>
          <p:cNvSpPr/>
          <p:nvPr/>
        </p:nvSpPr>
        <p:spPr>
          <a:xfrm>
            <a:off x="6093175" y="2096728"/>
            <a:ext cx="34496" cy="700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366"/>
                </a:moveTo>
                <a:lnTo>
                  <a:pt x="9127" y="21600"/>
                </a:lnTo>
                <a:lnTo>
                  <a:pt x="21600" y="20234"/>
                </a:lnTo>
                <a:lnTo>
                  <a:pt x="12473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Freeform 34"/>
          <p:cNvSpPr/>
          <p:nvPr/>
        </p:nvSpPr>
        <p:spPr>
          <a:xfrm>
            <a:off x="6108333" y="2160514"/>
            <a:ext cx="40620" cy="590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940"/>
                </a:moveTo>
                <a:lnTo>
                  <a:pt x="11626" y="21600"/>
                </a:lnTo>
                <a:lnTo>
                  <a:pt x="21600" y="18660"/>
                </a:lnTo>
                <a:lnTo>
                  <a:pt x="9974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Freeform 35"/>
          <p:cNvSpPr/>
          <p:nvPr/>
        </p:nvSpPr>
        <p:spPr>
          <a:xfrm>
            <a:off x="6132361" y="2208335"/>
            <a:ext cx="50869" cy="5086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6127"/>
                </a:moveTo>
                <a:lnTo>
                  <a:pt x="15473" y="21600"/>
                </a:lnTo>
                <a:lnTo>
                  <a:pt x="21600" y="15473"/>
                </a:lnTo>
                <a:lnTo>
                  <a:pt x="6127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Freeform 36"/>
          <p:cNvSpPr/>
          <p:nvPr/>
        </p:nvSpPr>
        <p:spPr>
          <a:xfrm>
            <a:off x="6173212" y="2242179"/>
            <a:ext cx="56622" cy="341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393"/>
                </a:moveTo>
                <a:lnTo>
                  <a:pt x="19461" y="21600"/>
                </a:lnTo>
                <a:lnTo>
                  <a:pt x="21600" y="9207"/>
                </a:lnTo>
                <a:lnTo>
                  <a:pt x="2139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Freeform 37"/>
          <p:cNvSpPr/>
          <p:nvPr/>
        </p:nvSpPr>
        <p:spPr>
          <a:xfrm>
            <a:off x="6227031" y="2256362"/>
            <a:ext cx="4919394" cy="204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Freeform 38"/>
          <p:cNvSpPr/>
          <p:nvPr/>
        </p:nvSpPr>
        <p:spPr>
          <a:xfrm>
            <a:off x="11143623" y="2256755"/>
            <a:ext cx="56622" cy="341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2393"/>
                </a:moveTo>
                <a:lnTo>
                  <a:pt x="19461" y="21600"/>
                </a:lnTo>
                <a:lnTo>
                  <a:pt x="21600" y="9207"/>
                </a:lnTo>
                <a:lnTo>
                  <a:pt x="2139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reeform 39"/>
          <p:cNvSpPr/>
          <p:nvPr/>
        </p:nvSpPr>
        <p:spPr>
          <a:xfrm>
            <a:off x="11191068" y="2273174"/>
            <a:ext cx="49188" cy="4508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7634"/>
                </a:moveTo>
                <a:lnTo>
                  <a:pt x="16002" y="21600"/>
                </a:lnTo>
                <a:lnTo>
                  <a:pt x="21600" y="13966"/>
                </a:lnTo>
                <a:lnTo>
                  <a:pt x="5598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Freeform 40"/>
          <p:cNvSpPr/>
          <p:nvPr/>
        </p:nvSpPr>
        <p:spPr>
          <a:xfrm>
            <a:off x="11224756" y="2305730"/>
            <a:ext cx="40116" cy="528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3730"/>
                </a:moveTo>
                <a:lnTo>
                  <a:pt x="11772" y="21600"/>
                </a:lnTo>
                <a:lnTo>
                  <a:pt x="21600" y="17870"/>
                </a:lnTo>
                <a:lnTo>
                  <a:pt x="9828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reeform 41"/>
          <p:cNvSpPr/>
          <p:nvPr/>
        </p:nvSpPr>
        <p:spPr>
          <a:xfrm>
            <a:off x="11245562" y="2353385"/>
            <a:ext cx="27655" cy="1178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33"/>
                </a:moveTo>
                <a:lnTo>
                  <a:pt x="5692" y="21600"/>
                </a:lnTo>
                <a:lnTo>
                  <a:pt x="21600" y="21367"/>
                </a:lnTo>
                <a:lnTo>
                  <a:pt x="15908" y="0"/>
                </a:lnTo>
                <a:close/>
              </a:path>
            </a:pathLst>
          </a:custGeom>
          <a:solidFill>
            <a:srgbClr val="073F7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Freeform 42"/>
          <p:cNvSpPr/>
          <p:nvPr/>
        </p:nvSpPr>
        <p:spPr>
          <a:xfrm>
            <a:off x="2127172" y="4059411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reeform 43"/>
          <p:cNvSpPr/>
          <p:nvPr/>
        </p:nvSpPr>
        <p:spPr>
          <a:xfrm>
            <a:off x="2127172" y="4154155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Freeform 44"/>
          <p:cNvSpPr/>
          <p:nvPr/>
        </p:nvSpPr>
        <p:spPr>
          <a:xfrm>
            <a:off x="2127172" y="4248899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Freeform 45"/>
          <p:cNvSpPr/>
          <p:nvPr/>
        </p:nvSpPr>
        <p:spPr>
          <a:xfrm>
            <a:off x="2127172" y="4343643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Freeform 46"/>
          <p:cNvSpPr/>
          <p:nvPr/>
        </p:nvSpPr>
        <p:spPr>
          <a:xfrm>
            <a:off x="2127172" y="4438387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Freeform 47"/>
          <p:cNvSpPr/>
          <p:nvPr/>
        </p:nvSpPr>
        <p:spPr>
          <a:xfrm>
            <a:off x="2065588" y="4496691"/>
            <a:ext cx="145760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D3D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Freeform 48"/>
          <p:cNvSpPr/>
          <p:nvPr/>
        </p:nvSpPr>
        <p:spPr>
          <a:xfrm>
            <a:off x="6172007" y="4059411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Freeform 49"/>
          <p:cNvSpPr/>
          <p:nvPr/>
        </p:nvSpPr>
        <p:spPr>
          <a:xfrm>
            <a:off x="6172007" y="4154155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Freeform 50"/>
          <p:cNvSpPr/>
          <p:nvPr/>
        </p:nvSpPr>
        <p:spPr>
          <a:xfrm>
            <a:off x="6172007" y="4248899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Freeform 51"/>
          <p:cNvSpPr/>
          <p:nvPr/>
        </p:nvSpPr>
        <p:spPr>
          <a:xfrm>
            <a:off x="6172007" y="4343643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Freeform 52"/>
          <p:cNvSpPr/>
          <p:nvPr/>
        </p:nvSpPr>
        <p:spPr>
          <a:xfrm>
            <a:off x="6172007" y="4438387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Freeform 53"/>
          <p:cNvSpPr/>
          <p:nvPr/>
        </p:nvSpPr>
        <p:spPr>
          <a:xfrm>
            <a:off x="6110424" y="4496691"/>
            <a:ext cx="145760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D3D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Freeform 54"/>
          <p:cNvSpPr/>
          <p:nvPr/>
        </p:nvSpPr>
        <p:spPr>
          <a:xfrm>
            <a:off x="10085659" y="4059411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Freeform 55"/>
          <p:cNvSpPr/>
          <p:nvPr/>
        </p:nvSpPr>
        <p:spPr>
          <a:xfrm>
            <a:off x="10085659" y="4154155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Freeform 56"/>
          <p:cNvSpPr/>
          <p:nvPr/>
        </p:nvSpPr>
        <p:spPr>
          <a:xfrm>
            <a:off x="10085659" y="4248899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Freeform 57"/>
          <p:cNvSpPr/>
          <p:nvPr/>
        </p:nvSpPr>
        <p:spPr>
          <a:xfrm>
            <a:off x="10085659" y="4343643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Freeform 58"/>
          <p:cNvSpPr/>
          <p:nvPr/>
        </p:nvSpPr>
        <p:spPr>
          <a:xfrm>
            <a:off x="10085659" y="4438387"/>
            <a:ext cx="22593" cy="510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Freeform 59"/>
          <p:cNvSpPr/>
          <p:nvPr/>
        </p:nvSpPr>
        <p:spPr>
          <a:xfrm>
            <a:off x="10024075" y="4496691"/>
            <a:ext cx="145760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D3D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Box 60"/>
          <p:cNvSpPr txBox="1"/>
          <p:nvPr/>
        </p:nvSpPr>
        <p:spPr>
          <a:xfrm>
            <a:off x="1460685" y="794391"/>
            <a:ext cx="1377430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任务指令</a:t>
            </a:r>
            <a:endParaRPr lang="zh-CN" sz="2280"/>
          </a:p>
        </p:txBody>
      </p:sp>
      <p:sp>
        <p:nvSpPr>
          <p:cNvPr id="61" name="TextBox 61"/>
          <p:cNvSpPr txBox="1"/>
          <p:nvPr/>
        </p:nvSpPr>
        <p:spPr>
          <a:xfrm>
            <a:off x="1511701" y="1275399"/>
            <a:ext cx="1304550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目标与约束</a:t>
            </a:r>
            <a:endParaRPr lang="zh-CN" sz="1800"/>
          </a:p>
        </p:txBody>
      </p:sp>
      <p:sp>
        <p:nvSpPr>
          <p:cNvPr id="62" name="TextBox 62"/>
          <p:cNvSpPr txBox="1"/>
          <p:nvPr/>
        </p:nvSpPr>
        <p:spPr>
          <a:xfrm>
            <a:off x="5250441" y="794391"/>
            <a:ext cx="1865726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多步工具交互</a:t>
            </a:r>
            <a:endParaRPr lang="zh-CN" sz="2280"/>
          </a:p>
        </p:txBody>
      </p:sp>
      <p:sp>
        <p:nvSpPr>
          <p:cNvPr id="63" name="TextBox 63"/>
          <p:cNvSpPr txBox="1"/>
          <p:nvPr/>
        </p:nvSpPr>
        <p:spPr>
          <a:xfrm>
            <a:off x="5527384" y="1275399"/>
            <a:ext cx="1311838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长结果累积</a:t>
            </a:r>
            <a:endParaRPr lang="zh-CN" sz="1800"/>
          </a:p>
        </p:txBody>
      </p:sp>
      <p:sp>
        <p:nvSpPr>
          <p:cNvPr id="64" name="TextBox 64"/>
          <p:cNvSpPr txBox="1"/>
          <p:nvPr/>
        </p:nvSpPr>
        <p:spPr>
          <a:xfrm>
            <a:off x="9156804" y="794391"/>
            <a:ext cx="1894878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环境状态变化</a:t>
            </a:r>
            <a:endParaRPr lang="zh-CN" sz="2280"/>
          </a:p>
        </p:txBody>
      </p:sp>
      <p:sp>
        <p:nvSpPr>
          <p:cNvPr id="65" name="TextBox 65"/>
          <p:cNvSpPr txBox="1"/>
          <p:nvPr/>
        </p:nvSpPr>
        <p:spPr>
          <a:xfrm>
            <a:off x="9462900" y="1275399"/>
            <a:ext cx="1297262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旧证据失效</a:t>
            </a:r>
            <a:endParaRPr lang="zh-CN" sz="1800"/>
          </a:p>
        </p:txBody>
      </p:sp>
      <p:sp>
        <p:nvSpPr>
          <p:cNvPr id="66" name="TextBox 66"/>
          <p:cNvSpPr txBox="1"/>
          <p:nvPr/>
        </p:nvSpPr>
        <p:spPr>
          <a:xfrm>
            <a:off x="1453397" y="2886045"/>
            <a:ext cx="1384718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状态遗漏</a:t>
            </a:r>
            <a:endParaRPr lang="zh-CN" sz="2280"/>
          </a:p>
        </p:txBody>
      </p:sp>
      <p:sp>
        <p:nvSpPr>
          <p:cNvPr id="67" name="TextBox 67"/>
          <p:cNvSpPr txBox="1"/>
          <p:nvPr/>
        </p:nvSpPr>
        <p:spPr>
          <a:xfrm>
            <a:off x="1278485" y="3381628"/>
            <a:ext cx="1756406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未完成依赖丢失</a:t>
            </a:r>
            <a:endParaRPr lang="zh-CN" sz="1800"/>
          </a:p>
        </p:txBody>
      </p:sp>
      <p:sp>
        <p:nvSpPr>
          <p:cNvPr id="68" name="TextBox 68"/>
          <p:cNvSpPr txBox="1"/>
          <p:nvPr/>
        </p:nvSpPr>
        <p:spPr>
          <a:xfrm>
            <a:off x="5352472" y="2886045"/>
            <a:ext cx="1654374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恢复不确定</a:t>
            </a:r>
            <a:endParaRPr lang="zh-CN" sz="2280"/>
          </a:p>
        </p:txBody>
      </p:sp>
      <p:sp>
        <p:nvSpPr>
          <p:cNvPr id="69" name="TextBox 69"/>
          <p:cNvSpPr txBox="1"/>
          <p:nvPr/>
        </p:nvSpPr>
        <p:spPr>
          <a:xfrm>
            <a:off x="5403488" y="3374340"/>
            <a:ext cx="1559630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回读未必有效</a:t>
            </a:r>
            <a:endParaRPr lang="zh-CN" sz="1800"/>
          </a:p>
        </p:txBody>
      </p:sp>
      <p:sp>
        <p:nvSpPr>
          <p:cNvPr id="70" name="TextBox 70"/>
          <p:cNvSpPr txBox="1"/>
          <p:nvPr/>
        </p:nvSpPr>
        <p:spPr>
          <a:xfrm>
            <a:off x="9419172" y="2886045"/>
            <a:ext cx="1348278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额外开销</a:t>
            </a:r>
            <a:endParaRPr lang="zh-CN" sz="2280"/>
          </a:p>
        </p:txBody>
      </p:sp>
      <p:sp>
        <p:nvSpPr>
          <p:cNvPr id="71" name="TextBox 71"/>
          <p:cNvSpPr txBox="1"/>
          <p:nvPr/>
        </p:nvSpPr>
        <p:spPr>
          <a:xfrm>
            <a:off x="9207820" y="3374340"/>
            <a:ext cx="1770982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重查与重试增加</a:t>
            </a:r>
            <a:endParaRPr lang="zh-CN" sz="1800"/>
          </a:p>
        </p:txBody>
      </p:sp>
      <p:sp>
        <p:nvSpPr>
          <p:cNvPr id="72" name="TextBox 72"/>
          <p:cNvSpPr txBox="1"/>
          <p:nvPr/>
        </p:nvSpPr>
        <p:spPr>
          <a:xfrm>
            <a:off x="1169165" y="4941258"/>
            <a:ext cx="1975046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R1 保真压缩</a:t>
            </a:r>
            <a:endParaRPr lang="zh-CN" sz="2580"/>
          </a:p>
        </p:txBody>
      </p:sp>
      <p:sp>
        <p:nvSpPr>
          <p:cNvPr id="73" name="TextBox 73"/>
          <p:cNvSpPr txBox="1"/>
          <p:nvPr/>
        </p:nvSpPr>
        <p:spPr>
          <a:xfrm>
            <a:off x="1293061" y="5524298"/>
            <a:ext cx="1712678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保留动作依赖</a:t>
            </a:r>
            <a:endParaRPr lang="zh-CN" sz="2000"/>
          </a:p>
        </p:txBody>
      </p:sp>
      <p:sp>
        <p:nvSpPr>
          <p:cNvPr id="74" name="TextBox 74"/>
          <p:cNvSpPr txBox="1"/>
          <p:nvPr/>
        </p:nvSpPr>
        <p:spPr>
          <a:xfrm>
            <a:off x="5199425" y="4933970"/>
            <a:ext cx="1967758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R2 有效恢复</a:t>
            </a:r>
            <a:endParaRPr lang="zh-CN" sz="2580"/>
          </a:p>
        </p:txBody>
      </p:sp>
      <p:sp>
        <p:nvSpPr>
          <p:cNvPr id="75" name="TextBox 75"/>
          <p:cNvSpPr txBox="1"/>
          <p:nvPr/>
        </p:nvSpPr>
        <p:spPr>
          <a:xfrm>
            <a:off x="5265017" y="5531586"/>
            <a:ext cx="1865726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核对当前适用性</a:t>
            </a:r>
            <a:endParaRPr lang="zh-CN" sz="2000"/>
          </a:p>
        </p:txBody>
      </p:sp>
      <p:sp>
        <p:nvSpPr>
          <p:cNvPr id="76" name="TextBox 76"/>
          <p:cNvSpPr txBox="1"/>
          <p:nvPr/>
        </p:nvSpPr>
        <p:spPr>
          <a:xfrm>
            <a:off x="9120364" y="4941258"/>
            <a:ext cx="1967758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8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R3 预算调度</a:t>
            </a:r>
            <a:endParaRPr lang="zh-CN" sz="2580"/>
          </a:p>
        </p:txBody>
      </p:sp>
      <p:sp>
        <p:nvSpPr>
          <p:cNvPr id="77" name="TextBox 77"/>
          <p:cNvSpPr txBox="1"/>
          <p:nvPr/>
        </p:nvSpPr>
        <p:spPr>
          <a:xfrm>
            <a:off x="9251548" y="5531586"/>
            <a:ext cx="1683526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核算全部调用</a:t>
            </a:r>
            <a:endParaRPr lang="zh-CN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610001" y="1231671"/>
            <a:ext cx="26237" cy="524735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09602" y="610005"/>
            <a:ext cx="776171" cy="26237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96484" y="623123"/>
            <a:ext cx="26237" cy="3480016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509602" y="4090021"/>
            <a:ext cx="644987" cy="26237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3953178" y="2391919"/>
            <a:ext cx="845407" cy="26237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3953178" y="4104597"/>
            <a:ext cx="2310293" cy="26237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250353" y="3060956"/>
            <a:ext cx="26237" cy="1056759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7604462" y="2391919"/>
            <a:ext cx="808967" cy="26237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9857909" y="2944349"/>
            <a:ext cx="26237" cy="495583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9857909" y="4627875"/>
            <a:ext cx="26237" cy="1023963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8697661" y="5638719"/>
            <a:ext cx="1173367" cy="26237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11226594" y="4055038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11343201" y="4055038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11459809" y="4055038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11576417" y="4055038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11644924" y="4001107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1644924" y="3884499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1644924" y="3767892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11644924" y="3651284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1644924" y="3534676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1644924" y="3418068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1644924" y="3301460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1644924" y="3184852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1644924" y="3068244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1644924" y="2951637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1644924" y="2835029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1644924" y="2718421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11644924" y="2601813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11644924" y="2485205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1644924" y="2368597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1644924" y="2251989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1644924" y="2135382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1644924" y="2018774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1644924" y="1902166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11644924" y="1785558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11644924" y="1668950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11644924" y="1552342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11644924" y="1435734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11644924" y="1319126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11644924" y="1202519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11644924" y="1085911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11644924" y="969303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1644924" y="852695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11644924" y="736087"/>
            <a:ext cx="23322" cy="6559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11590993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11474385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11357777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11241170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11124562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11007954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10891346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10774738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10658130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10541522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10424915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10308307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10191699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10075091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9958483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9841875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9725267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9608660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9492052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9375444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9258836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9142228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9025620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8909012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8792404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8675797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8559189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8442581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8325973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8209365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8092757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7976149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7859542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7742934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7626326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7509718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7393110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7276502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7159894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7043286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6926679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6810071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6693463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6576855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6460247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6343639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6227031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6110424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5993816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5877208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5760600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5643992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5527384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5410776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5294169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5177561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5060953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4944345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4827737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4711129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4594521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4477913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4361306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4244698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4128090" y="684342"/>
            <a:ext cx="65592" cy="23322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Polygon 111"/>
          <p:cNvSpPr/>
          <p:nvPr/>
        </p:nvSpPr>
        <p:spPr>
          <a:xfrm>
            <a:off x="2553884" y="1712678"/>
            <a:ext cx="138472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Polygon 112"/>
          <p:cNvSpPr/>
          <p:nvPr/>
        </p:nvSpPr>
        <p:spPr>
          <a:xfrm>
            <a:off x="1132725" y="4033903"/>
            <a:ext cx="138472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Polygon 113"/>
          <p:cNvSpPr/>
          <p:nvPr/>
        </p:nvSpPr>
        <p:spPr>
          <a:xfrm>
            <a:off x="4776721" y="2335801"/>
            <a:ext cx="138472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Polygon 114"/>
          <p:cNvSpPr/>
          <p:nvPr/>
        </p:nvSpPr>
        <p:spPr>
          <a:xfrm>
            <a:off x="6194235" y="2958925"/>
            <a:ext cx="138472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Polygon 115"/>
          <p:cNvSpPr/>
          <p:nvPr/>
        </p:nvSpPr>
        <p:spPr>
          <a:xfrm>
            <a:off x="8391565" y="2335801"/>
            <a:ext cx="138472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Polygon 116"/>
          <p:cNvSpPr/>
          <p:nvPr/>
        </p:nvSpPr>
        <p:spPr>
          <a:xfrm>
            <a:off x="9801791" y="3410780"/>
            <a:ext cx="138472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Polygon 117"/>
          <p:cNvSpPr/>
          <p:nvPr/>
        </p:nvSpPr>
        <p:spPr>
          <a:xfrm>
            <a:off x="8588341" y="5582601"/>
            <a:ext cx="138472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Polygon 118"/>
          <p:cNvSpPr/>
          <p:nvPr/>
        </p:nvSpPr>
        <p:spPr>
          <a:xfrm>
            <a:off x="3996906" y="626767"/>
            <a:ext cx="138472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8080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1285773" y="196776"/>
            <a:ext cx="2681981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1285773" y="1206163"/>
            <a:ext cx="2681981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1285773" y="196776"/>
            <a:ext cx="25508" cy="1034895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3942246" y="196776"/>
            <a:ext cx="25508" cy="1034895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1285773" y="1873014"/>
            <a:ext cx="2667405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1285773" y="2926129"/>
            <a:ext cx="2667405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1285773" y="1873014"/>
            <a:ext cx="25508" cy="1078623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3927670" y="1873014"/>
            <a:ext cx="25508" cy="1078623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4937057" y="1873014"/>
            <a:ext cx="2667405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4937057" y="2918841"/>
            <a:ext cx="2667405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4937057" y="1873014"/>
            <a:ext cx="25508" cy="1071335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ect 130"/>
          <p:cNvSpPr/>
          <p:nvPr/>
        </p:nvSpPr>
        <p:spPr>
          <a:xfrm>
            <a:off x="7578954" y="1873014"/>
            <a:ext cx="25508" cy="1071335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8544613" y="1873014"/>
            <a:ext cx="2681981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8544613" y="2918841"/>
            <a:ext cx="2681981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8544613" y="1873014"/>
            <a:ext cx="25508" cy="1071335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11201086" y="1873014"/>
            <a:ext cx="25508" cy="1071335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1285773" y="3571116"/>
            <a:ext cx="2667405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1285773" y="4609655"/>
            <a:ext cx="2667405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1285773" y="3571116"/>
            <a:ext cx="25508" cy="1064047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3927670" y="3571116"/>
            <a:ext cx="25508" cy="1064047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8544613" y="3571116"/>
            <a:ext cx="2681981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8544613" y="4602367"/>
            <a:ext cx="2681981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8544613" y="3571116"/>
            <a:ext cx="25508" cy="1056759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11201086" y="3571116"/>
            <a:ext cx="25508" cy="1056759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3967754" y="5196338"/>
            <a:ext cx="4598723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3967754" y="6132845"/>
            <a:ext cx="4598723" cy="25508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3967754" y="5196338"/>
            <a:ext cx="25508" cy="962015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8540969" y="5196338"/>
            <a:ext cx="25508" cy="962015"/>
          </a:xfrm>
          <a:prstGeom prst="rect">
            <a:avLst/>
          </a:prstGeom>
          <a:solidFill>
            <a:srgbClr val="113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TextBox 147"/>
          <p:cNvSpPr txBox="1"/>
          <p:nvPr/>
        </p:nvSpPr>
        <p:spPr>
          <a:xfrm>
            <a:off x="1985420" y="357112"/>
            <a:ext cx="128268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可见历史</a:t>
            </a:r>
            <a:endParaRPr lang="zh-CN" sz="2050"/>
          </a:p>
        </p:txBody>
      </p:sp>
      <p:sp>
        <p:nvSpPr>
          <p:cNvPr id="148" name="TextBox 148"/>
          <p:cNvSpPr txBox="1"/>
          <p:nvPr/>
        </p:nvSpPr>
        <p:spPr>
          <a:xfrm>
            <a:off x="1611401" y="772527"/>
            <a:ext cx="2030726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指令 · 动作 · 观察</a:t>
            </a:r>
            <a:endParaRPr lang="zh-CN" sz="1730"/>
          </a:p>
        </p:txBody>
      </p:sp>
      <p:sp>
        <p:nvSpPr>
          <p:cNvPr id="149" name="TextBox 149"/>
          <p:cNvSpPr txBox="1"/>
          <p:nvPr/>
        </p:nvSpPr>
        <p:spPr>
          <a:xfrm>
            <a:off x="1810509" y="2077078"/>
            <a:ext cx="510159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4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R1 </a:t>
            </a:r>
            <a:endParaRPr lang="zh-CN" sz="2540"/>
          </a:p>
        </p:txBody>
      </p:sp>
      <p:sp>
        <p:nvSpPr>
          <p:cNvPr id="150" name="TextBox 150"/>
          <p:cNvSpPr txBox="1"/>
          <p:nvPr/>
        </p:nvSpPr>
        <p:spPr>
          <a:xfrm>
            <a:off x="2284228" y="2077078"/>
            <a:ext cx="1122351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保真压缩</a:t>
            </a:r>
            <a:endParaRPr lang="zh-CN" sz="2050"/>
          </a:p>
        </p:txBody>
      </p:sp>
      <p:sp>
        <p:nvSpPr>
          <p:cNvPr id="151" name="TextBox 151"/>
          <p:cNvSpPr txBox="1"/>
          <p:nvPr/>
        </p:nvSpPr>
        <p:spPr>
          <a:xfrm>
            <a:off x="1718243" y="2470629"/>
            <a:ext cx="1802466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紧凑状态与依赖</a:t>
            </a:r>
            <a:endParaRPr lang="zh-CN" sz="1730"/>
          </a:p>
        </p:txBody>
      </p:sp>
      <p:sp>
        <p:nvSpPr>
          <p:cNvPr id="152" name="TextBox 152"/>
          <p:cNvSpPr txBox="1"/>
          <p:nvPr/>
        </p:nvSpPr>
        <p:spPr>
          <a:xfrm>
            <a:off x="5454504" y="2077078"/>
            <a:ext cx="510159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4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R2 </a:t>
            </a:r>
            <a:endParaRPr lang="zh-CN" sz="2540"/>
          </a:p>
        </p:txBody>
      </p:sp>
      <p:sp>
        <p:nvSpPr>
          <p:cNvPr id="153" name="TextBox 153"/>
          <p:cNvSpPr txBox="1"/>
          <p:nvPr/>
        </p:nvSpPr>
        <p:spPr>
          <a:xfrm>
            <a:off x="5928224" y="2077078"/>
            <a:ext cx="1122351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有效恢复</a:t>
            </a:r>
            <a:endParaRPr lang="zh-CN" sz="2050"/>
          </a:p>
        </p:txBody>
      </p:sp>
      <p:sp>
        <p:nvSpPr>
          <p:cNvPr id="154" name="TextBox 154"/>
          <p:cNvSpPr txBox="1"/>
          <p:nvPr/>
        </p:nvSpPr>
        <p:spPr>
          <a:xfrm>
            <a:off x="5362238" y="2470629"/>
            <a:ext cx="1802466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证据与缺失前提</a:t>
            </a:r>
            <a:endParaRPr lang="zh-CN" sz="1730"/>
          </a:p>
        </p:txBody>
      </p:sp>
      <p:sp>
        <p:nvSpPr>
          <p:cNvPr id="155" name="TextBox 155"/>
          <p:cNvSpPr txBox="1"/>
          <p:nvPr/>
        </p:nvSpPr>
        <p:spPr>
          <a:xfrm>
            <a:off x="9069348" y="2069790"/>
            <a:ext cx="510159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4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R3 </a:t>
            </a:r>
            <a:endParaRPr lang="zh-CN" sz="2540"/>
          </a:p>
        </p:txBody>
      </p:sp>
      <p:sp>
        <p:nvSpPr>
          <p:cNvPr id="156" name="TextBox 156"/>
          <p:cNvSpPr txBox="1"/>
          <p:nvPr/>
        </p:nvSpPr>
        <p:spPr>
          <a:xfrm>
            <a:off x="9543068" y="2069790"/>
            <a:ext cx="1122351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预算调度</a:t>
            </a:r>
            <a:endParaRPr lang="zh-CN" sz="2050"/>
          </a:p>
        </p:txBody>
      </p:sp>
      <p:sp>
        <p:nvSpPr>
          <p:cNvPr id="157" name="TextBox 157"/>
          <p:cNvSpPr txBox="1"/>
          <p:nvPr/>
        </p:nvSpPr>
        <p:spPr>
          <a:xfrm>
            <a:off x="8740951" y="2463341"/>
            <a:ext cx="2274728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操作选择与资源余量</a:t>
            </a:r>
            <a:endParaRPr lang="zh-CN" sz="1730"/>
          </a:p>
        </p:txBody>
      </p:sp>
      <p:sp>
        <p:nvSpPr>
          <p:cNvPr id="158" name="TextBox 158"/>
          <p:cNvSpPr txBox="1"/>
          <p:nvPr/>
        </p:nvSpPr>
        <p:spPr>
          <a:xfrm>
            <a:off x="1978132" y="3746028"/>
            <a:ext cx="128268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原文档案</a:t>
            </a:r>
            <a:endParaRPr lang="zh-CN" sz="2050"/>
          </a:p>
        </p:txBody>
      </p:sp>
      <p:sp>
        <p:nvSpPr>
          <p:cNvPr id="159" name="TextBox 159"/>
          <p:cNvSpPr txBox="1"/>
          <p:nvPr/>
        </p:nvSpPr>
        <p:spPr>
          <a:xfrm>
            <a:off x="1926825" y="4154155"/>
            <a:ext cx="1385301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压缩前存档</a:t>
            </a:r>
            <a:endParaRPr lang="zh-CN" sz="1730"/>
          </a:p>
        </p:txBody>
      </p:sp>
      <p:sp>
        <p:nvSpPr>
          <p:cNvPr id="160" name="TextBox 160"/>
          <p:cNvSpPr txBox="1"/>
          <p:nvPr/>
        </p:nvSpPr>
        <p:spPr>
          <a:xfrm>
            <a:off x="9236972" y="3738740"/>
            <a:ext cx="128268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执行模型</a:t>
            </a:r>
            <a:endParaRPr lang="zh-CN" sz="2050"/>
          </a:p>
        </p:txBody>
      </p:sp>
      <p:sp>
        <p:nvSpPr>
          <p:cNvPr id="161" name="TextBox 161"/>
          <p:cNvSpPr txBox="1"/>
          <p:nvPr/>
        </p:nvSpPr>
        <p:spPr>
          <a:xfrm>
            <a:off x="8977082" y="4146867"/>
            <a:ext cx="1802466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任务动作与终态</a:t>
            </a:r>
            <a:endParaRPr lang="zh-CN" sz="1730"/>
          </a:p>
        </p:txBody>
      </p:sp>
      <p:sp>
        <p:nvSpPr>
          <p:cNvPr id="162" name="TextBox 162"/>
          <p:cNvSpPr txBox="1"/>
          <p:nvPr/>
        </p:nvSpPr>
        <p:spPr>
          <a:xfrm>
            <a:off x="5622128" y="5320234"/>
            <a:ext cx="128268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共同评测</a:t>
            </a:r>
            <a:endParaRPr lang="zh-CN" sz="2050"/>
          </a:p>
        </p:txBody>
      </p:sp>
      <p:sp>
        <p:nvSpPr>
          <p:cNvPr id="163" name="TextBox 163"/>
          <p:cNvSpPr txBox="1"/>
          <p:nvPr/>
        </p:nvSpPr>
        <p:spPr>
          <a:xfrm>
            <a:off x="4964751" y="5713785"/>
            <a:ext cx="2597440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0">
                <a:solidFill>
                  <a:srgbClr val="080808"/>
                </a:solidFill>
                <a:latin typeface="Noto Sans CJK SC"/>
                <a:ea typeface="Noto Sans CJK SC"/>
                <a:cs typeface="Noto Sans CJK SC"/>
              </a:rPr>
              <a:t>成功率 · 违例 · 全开销</a:t>
            </a:r>
            <a:endParaRPr lang="zh-CN" sz="173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10053227" y="1639798"/>
            <a:ext cx="0" cy="670495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1985420" y="2310293"/>
            <a:ext cx="8126111" cy="0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1985420" y="2310293"/>
            <a:ext cx="0" cy="276944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6088560" y="2310293"/>
            <a:ext cx="0" cy="276944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10111531" y="2310293"/>
            <a:ext cx="0" cy="276944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992708" y="4154155"/>
            <a:ext cx="0" cy="459143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0111531" y="4154155"/>
            <a:ext cx="0" cy="459143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992708" y="4613299"/>
            <a:ext cx="8118823" cy="0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6103136" y="4154155"/>
            <a:ext cx="0" cy="706935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3661658" y="808967"/>
            <a:ext cx="801679" cy="1967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9600"/>
                </a:moveTo>
                <a:lnTo>
                  <a:pt x="17084" y="9600"/>
                </a:lnTo>
                <a:lnTo>
                  <a:pt x="17084" y="0"/>
                </a:lnTo>
                <a:lnTo>
                  <a:pt x="21600" y="11200"/>
                </a:lnTo>
                <a:lnTo>
                  <a:pt x="17084" y="21600"/>
                </a:lnTo>
                <a:lnTo>
                  <a:pt x="17084" y="12800"/>
                </a:lnTo>
                <a:lnTo>
                  <a:pt x="0" y="12800"/>
                </a:lnTo>
                <a:close/>
              </a:path>
            </a:pathLst>
          </a:custGeom>
          <a:solidFill>
            <a:srgbClr val="4D4D4D"/>
          </a:solidFill>
          <a:ln w="762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3" name="Polygon 13"/>
          <p:cNvSpPr/>
          <p:nvPr/>
        </p:nvSpPr>
        <p:spPr>
          <a:xfrm>
            <a:off x="7662766" y="808967"/>
            <a:ext cx="779815" cy="1967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9600"/>
                </a:moveTo>
                <a:lnTo>
                  <a:pt x="16957" y="9600"/>
                </a:lnTo>
                <a:lnTo>
                  <a:pt x="16957" y="0"/>
                </a:lnTo>
                <a:lnTo>
                  <a:pt x="21600" y="11200"/>
                </a:lnTo>
                <a:lnTo>
                  <a:pt x="16957" y="21600"/>
                </a:lnTo>
                <a:lnTo>
                  <a:pt x="16957" y="12800"/>
                </a:lnTo>
                <a:lnTo>
                  <a:pt x="0" y="12800"/>
                </a:lnTo>
                <a:close/>
              </a:path>
            </a:pathLst>
          </a:custGeom>
          <a:solidFill>
            <a:srgbClr val="4D4D4D"/>
          </a:solidFill>
          <a:ln w="762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4" name="Polygon 14"/>
          <p:cNvSpPr/>
          <p:nvPr/>
        </p:nvSpPr>
        <p:spPr>
          <a:xfrm>
            <a:off x="1897964" y="2572661"/>
            <a:ext cx="174912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D4D4D"/>
          </a:solidFill>
          <a:ln w="762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5" name="Polygon 15"/>
          <p:cNvSpPr/>
          <p:nvPr/>
        </p:nvSpPr>
        <p:spPr>
          <a:xfrm>
            <a:off x="6001104" y="2572661"/>
            <a:ext cx="174912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D4D4D"/>
          </a:solidFill>
          <a:ln w="762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6" name="Polygon 16"/>
          <p:cNvSpPr/>
          <p:nvPr/>
        </p:nvSpPr>
        <p:spPr>
          <a:xfrm>
            <a:off x="10024075" y="2572661"/>
            <a:ext cx="174912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D4D4D"/>
          </a:solidFill>
          <a:ln w="762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7" name="Polygon 17"/>
          <p:cNvSpPr/>
          <p:nvPr/>
        </p:nvSpPr>
        <p:spPr>
          <a:xfrm>
            <a:off x="6015680" y="4839226"/>
            <a:ext cx="174912" cy="15304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4D4D4D"/>
          </a:solidFill>
          <a:ln w="762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8457157" y="5706497"/>
            <a:ext cx="87456" cy="0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602917" y="5706497"/>
            <a:ext cx="87456" cy="0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8748677" y="5706497"/>
            <a:ext cx="87456" cy="0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8894436" y="5706497"/>
            <a:ext cx="87456" cy="0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9040196" y="5706497"/>
            <a:ext cx="51016" cy="0"/>
          </a:xfrm>
          <a:prstGeom prst="line">
            <a:avLst/>
          </a:prstGeom>
          <a:noFill/>
          <a:ln w="27940">
            <a:solidFill>
              <a:srgbClr val="4D4D4D"/>
            </a:solidFill>
          </a:ln>
        </p:spPr>
        <p:txBody>
          <a:bodyPr/>
          <a:lstStyle/>
          <a:p/>
        </p:txBody>
      </p:sp>
      <p:sp>
        <p:nvSpPr>
          <p:cNvPr id="23" name="Polygon 23"/>
          <p:cNvSpPr/>
          <p:nvPr/>
        </p:nvSpPr>
        <p:spPr>
          <a:xfrm>
            <a:off x="8311397" y="5619041"/>
            <a:ext cx="15304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4D4D4D"/>
          </a:solidFill>
          <a:ln w="7620">
            <a:solidFill>
              <a:srgbClr val="303030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294606" y="255080"/>
            <a:ext cx="3367052" cy="138471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667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4507065" y="247792"/>
            <a:ext cx="3155700" cy="1392006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2667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8508173" y="247792"/>
            <a:ext cx="3228580" cy="1392006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2667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294606" y="2754861"/>
            <a:ext cx="3367052" cy="1399294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2667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4507065" y="2762149"/>
            <a:ext cx="3155700" cy="1392006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2667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8508173" y="2762149"/>
            <a:ext cx="3228580" cy="1392006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2667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3683522" y="5036002"/>
            <a:ext cx="4584147" cy="137743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2667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9091212" y="5065154"/>
            <a:ext cx="2645541" cy="1348278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9156804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9287988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9419172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9550356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9681539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9812723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9943907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0075091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10206275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0337459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10468642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0599826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10731010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10862194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10993378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1124562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1255746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1386929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11518113" y="5065154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1649297" y="5065154"/>
            <a:ext cx="21864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11736753" y="5130746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1736753" y="5261930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11736753" y="5393114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11736753" y="5524298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11736753" y="5655481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11736753" y="5786665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11736753" y="5917849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11736753" y="6049033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11736753" y="6180217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11736753" y="6311401"/>
            <a:ext cx="0" cy="3644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9156804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9287988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9419172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9550356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9681539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9812723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9943907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10075091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10206275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10337459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0468642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10599826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10731010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10862194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10993378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11124562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1255746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11386929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11518113" y="6413433"/>
            <a:ext cx="80168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11649297" y="6413433"/>
            <a:ext cx="21864" cy="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9091212" y="5130746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9091212" y="5261930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9091212" y="5393114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9091212" y="5524298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9091212" y="5655481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9091212" y="5786665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9091212" y="5917849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9091212" y="6049033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9091212" y="6180217"/>
            <a:ext cx="0" cy="80168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9091212" y="6311401"/>
            <a:ext cx="0" cy="3644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V="1">
            <a:off x="9091212" y="5110477"/>
            <a:ext cx="3210" cy="20269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 flipV="1">
            <a:off x="9094422" y="5092192"/>
            <a:ext cx="9317" cy="18285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V="1">
            <a:off x="9103739" y="5077681"/>
            <a:ext cx="14511" cy="14511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 flipV="1">
            <a:off x="9118250" y="5068364"/>
            <a:ext cx="18285" cy="9317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 flipV="1">
            <a:off x="9136535" y="5065154"/>
            <a:ext cx="20269" cy="321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11671161" y="5065154"/>
            <a:ext cx="20269" cy="321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11691430" y="5068364"/>
            <a:ext cx="18285" cy="9317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11709715" y="5077681"/>
            <a:ext cx="14511" cy="14511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1724226" y="5092192"/>
            <a:ext cx="9317" cy="18285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11733543" y="5110477"/>
            <a:ext cx="3210" cy="20269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 flipH="1">
            <a:off x="11733543" y="6347841"/>
            <a:ext cx="3210" cy="20269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H="1">
            <a:off x="11724226" y="6368110"/>
            <a:ext cx="9317" cy="18285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H="1">
            <a:off x="11709715" y="6386395"/>
            <a:ext cx="14511" cy="14511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 flipH="1">
            <a:off x="11691430" y="6400906"/>
            <a:ext cx="18285" cy="9317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H="1">
            <a:off x="11671161" y="6410222"/>
            <a:ext cx="20269" cy="321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 flipH="1" flipV="1">
            <a:off x="9136535" y="6410222"/>
            <a:ext cx="20269" cy="3210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H="1" flipV="1">
            <a:off x="9118250" y="6400906"/>
            <a:ext cx="18285" cy="9317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 flipH="1" flipV="1">
            <a:off x="9103739" y="6386395"/>
            <a:ext cx="14511" cy="14511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 flipH="1" flipV="1">
            <a:off x="9094422" y="6368110"/>
            <a:ext cx="9317" cy="18285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 flipH="1" flipV="1">
            <a:off x="9091212" y="6347841"/>
            <a:ext cx="3210" cy="20269"/>
          </a:xfrm>
          <a:prstGeom prst="line">
            <a:avLst/>
          </a:prstGeom>
          <a:noFill/>
          <a:ln w="24130">
            <a:solidFill>
              <a:srgbClr val="0A3475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979678" y="969303"/>
            <a:ext cx="2026062" cy="0"/>
          </a:xfrm>
          <a:prstGeom prst="line">
            <a:avLst/>
          </a:prstGeom>
          <a:noFill/>
          <a:ln w="12700">
            <a:solidFill>
              <a:srgbClr val="13408C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5126545" y="969303"/>
            <a:ext cx="1938606" cy="0"/>
          </a:xfrm>
          <a:prstGeom prst="line">
            <a:avLst/>
          </a:prstGeom>
          <a:noFill/>
          <a:ln w="12700">
            <a:solidFill>
              <a:srgbClr val="13408C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9178668" y="962015"/>
            <a:ext cx="1975046" cy="0"/>
          </a:xfrm>
          <a:prstGeom prst="line">
            <a:avLst/>
          </a:prstGeom>
          <a:noFill/>
          <a:ln w="12700">
            <a:solidFill>
              <a:srgbClr val="13408C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>
            <a:off x="1118149" y="3469084"/>
            <a:ext cx="1639798" cy="0"/>
          </a:xfrm>
          <a:prstGeom prst="line">
            <a:avLst/>
          </a:prstGeom>
          <a:noFill/>
          <a:ln w="12700">
            <a:solidFill>
              <a:srgbClr val="13408C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5184849" y="3469084"/>
            <a:ext cx="1763694" cy="0"/>
          </a:xfrm>
          <a:prstGeom prst="line">
            <a:avLst/>
          </a:prstGeom>
          <a:noFill/>
          <a:ln w="12700">
            <a:solidFill>
              <a:srgbClr val="13408C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9222396" y="3469084"/>
            <a:ext cx="1756406" cy="0"/>
          </a:xfrm>
          <a:prstGeom prst="line">
            <a:avLst/>
          </a:prstGeom>
          <a:noFill/>
          <a:ln w="12700">
            <a:solidFill>
              <a:srgbClr val="13408C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4776721" y="5757513"/>
            <a:ext cx="2499781" cy="0"/>
          </a:xfrm>
          <a:prstGeom prst="line">
            <a:avLst/>
          </a:prstGeom>
          <a:noFill/>
          <a:ln w="12700">
            <a:solidFill>
              <a:srgbClr val="13408C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9455612" y="5757513"/>
            <a:ext cx="1924030" cy="0"/>
          </a:xfrm>
          <a:prstGeom prst="line">
            <a:avLst/>
          </a:prstGeom>
          <a:noFill/>
          <a:ln w="12700">
            <a:solidFill>
              <a:srgbClr val="13408C"/>
            </a:solidFill>
          </a:ln>
        </p:spPr>
        <p:txBody>
          <a:bodyPr/>
          <a:lstStyle/>
          <a:p/>
        </p:txBody>
      </p:sp>
      <p:sp>
        <p:nvSpPr>
          <p:cNvPr id="120" name="TextBox 120"/>
          <p:cNvSpPr txBox="1"/>
          <p:nvPr/>
        </p:nvSpPr>
        <p:spPr>
          <a:xfrm>
            <a:off x="1045269" y="437279"/>
            <a:ext cx="1851150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当前可见信息</a:t>
            </a:r>
            <a:endParaRPr lang="zh-CN" sz="2150"/>
          </a:p>
        </p:txBody>
      </p:sp>
      <p:sp>
        <p:nvSpPr>
          <p:cNvPr id="121" name="TextBox 121"/>
          <p:cNvSpPr txBox="1"/>
          <p:nvPr/>
        </p:nvSpPr>
        <p:spPr>
          <a:xfrm>
            <a:off x="695446" y="1078623"/>
            <a:ext cx="2587237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指令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· </a:t>
            </a:r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动作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· </a:t>
            </a:r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工具观察</a:t>
            </a:r>
            <a:endParaRPr lang="zh-CN" sz="1750"/>
          </a:p>
        </p:txBody>
      </p:sp>
      <p:sp>
        <p:nvSpPr>
          <p:cNvPr id="122" name="TextBox 122"/>
          <p:cNvSpPr txBox="1"/>
          <p:nvPr/>
        </p:nvSpPr>
        <p:spPr>
          <a:xfrm>
            <a:off x="5155697" y="437279"/>
            <a:ext cx="1887590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提取任务状态</a:t>
            </a:r>
            <a:endParaRPr lang="zh-CN" sz="2150"/>
          </a:p>
        </p:txBody>
      </p:sp>
      <p:sp>
        <p:nvSpPr>
          <p:cNvPr id="123" name="TextBox 123"/>
          <p:cNvSpPr txBox="1"/>
          <p:nvPr/>
        </p:nvSpPr>
        <p:spPr>
          <a:xfrm>
            <a:off x="4835025" y="1078623"/>
            <a:ext cx="2565373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目标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· </a:t>
            </a:r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约束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· </a:t>
            </a:r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动作前提</a:t>
            </a:r>
            <a:endParaRPr lang="zh-CN" sz="1750"/>
          </a:p>
        </p:txBody>
      </p:sp>
      <p:sp>
        <p:nvSpPr>
          <p:cNvPr id="124" name="TextBox 124"/>
          <p:cNvSpPr txBox="1"/>
          <p:nvPr/>
        </p:nvSpPr>
        <p:spPr>
          <a:xfrm>
            <a:off x="9236972" y="437279"/>
            <a:ext cx="184386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估计保留价值</a:t>
            </a:r>
            <a:endParaRPr lang="zh-CN" sz="2150"/>
          </a:p>
        </p:txBody>
      </p:sp>
      <p:sp>
        <p:nvSpPr>
          <p:cNvPr id="125" name="TextBox 125"/>
          <p:cNvSpPr txBox="1"/>
          <p:nvPr/>
        </p:nvSpPr>
        <p:spPr>
          <a:xfrm>
            <a:off x="8923588" y="1078623"/>
            <a:ext cx="2543509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未完成依赖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· </a:t>
            </a:r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回取成本</a:t>
            </a:r>
            <a:endParaRPr lang="zh-CN" sz="1750"/>
          </a:p>
        </p:txBody>
      </p:sp>
      <p:sp>
        <p:nvSpPr>
          <p:cNvPr id="126" name="TextBox 126"/>
          <p:cNvSpPr txBox="1"/>
          <p:nvPr/>
        </p:nvSpPr>
        <p:spPr>
          <a:xfrm>
            <a:off x="1307637" y="2929773"/>
            <a:ext cx="1282687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原文片段</a:t>
            </a:r>
            <a:endParaRPr lang="zh-CN" sz="2150"/>
          </a:p>
        </p:txBody>
      </p:sp>
      <p:sp>
        <p:nvSpPr>
          <p:cNvPr id="127" name="TextBox 127"/>
          <p:cNvSpPr txBox="1"/>
          <p:nvPr/>
        </p:nvSpPr>
        <p:spPr>
          <a:xfrm>
            <a:off x="914086" y="3578404"/>
            <a:ext cx="204063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关键约束原样保留</a:t>
            </a:r>
            <a:endParaRPr lang="zh-CN" sz="1750"/>
          </a:p>
        </p:txBody>
      </p:sp>
      <p:sp>
        <p:nvSpPr>
          <p:cNvPr id="128" name="TextBox 128"/>
          <p:cNvSpPr txBox="1"/>
          <p:nvPr/>
        </p:nvSpPr>
        <p:spPr>
          <a:xfrm>
            <a:off x="5279593" y="2929773"/>
            <a:ext cx="162522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结构化事实</a:t>
            </a:r>
            <a:endParaRPr lang="zh-CN" sz="2150"/>
          </a:p>
        </p:txBody>
      </p:sp>
      <p:sp>
        <p:nvSpPr>
          <p:cNvPr id="129" name="TextBox 129"/>
          <p:cNvSpPr txBox="1"/>
          <p:nvPr/>
        </p:nvSpPr>
        <p:spPr>
          <a:xfrm>
            <a:off x="5184849" y="3578404"/>
            <a:ext cx="182199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对象与条件关联</a:t>
            </a:r>
            <a:endParaRPr lang="zh-CN" sz="1750"/>
          </a:p>
        </p:txBody>
      </p:sp>
      <p:sp>
        <p:nvSpPr>
          <p:cNvPr id="130" name="TextBox 130"/>
          <p:cNvSpPr txBox="1"/>
          <p:nvPr/>
        </p:nvSpPr>
        <p:spPr>
          <a:xfrm>
            <a:off x="9324428" y="2929773"/>
            <a:ext cx="1559630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子任务概要</a:t>
            </a:r>
            <a:endParaRPr lang="zh-CN" sz="2150"/>
          </a:p>
        </p:txBody>
      </p:sp>
      <p:sp>
        <p:nvSpPr>
          <p:cNvPr id="131" name="TextBox 131"/>
          <p:cNvSpPr txBox="1"/>
          <p:nvPr/>
        </p:nvSpPr>
        <p:spPr>
          <a:xfrm>
            <a:off x="9331716" y="3578404"/>
            <a:ext cx="1545054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已知过程简述</a:t>
            </a:r>
            <a:endParaRPr lang="zh-CN" sz="1750"/>
          </a:p>
        </p:txBody>
      </p:sp>
      <p:sp>
        <p:nvSpPr>
          <p:cNvPr id="132" name="TextBox 132"/>
          <p:cNvSpPr txBox="1"/>
          <p:nvPr/>
        </p:nvSpPr>
        <p:spPr>
          <a:xfrm>
            <a:off x="4587233" y="5225490"/>
            <a:ext cx="282774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紧凑状态与来源索引</a:t>
            </a:r>
            <a:endParaRPr lang="zh-CN" sz="2150"/>
          </a:p>
        </p:txBody>
      </p:sp>
      <p:sp>
        <p:nvSpPr>
          <p:cNvPr id="133" name="TextBox 133"/>
          <p:cNvSpPr txBox="1"/>
          <p:nvPr/>
        </p:nvSpPr>
        <p:spPr>
          <a:xfrm>
            <a:off x="5111969" y="5874121"/>
            <a:ext cx="189487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输出至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R2 </a:t>
            </a:r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与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R3</a:t>
            </a:r>
            <a:endParaRPr lang="zh-CN" sz="1750"/>
          </a:p>
        </p:txBody>
      </p:sp>
      <p:sp>
        <p:nvSpPr>
          <p:cNvPr id="134" name="TextBox 134"/>
          <p:cNvSpPr txBox="1"/>
          <p:nvPr/>
        </p:nvSpPr>
        <p:spPr>
          <a:xfrm>
            <a:off x="9506628" y="5269218"/>
            <a:ext cx="1814710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开发阶段消融</a:t>
            </a:r>
            <a:endParaRPr lang="zh-CN" sz="2150"/>
          </a:p>
        </p:txBody>
      </p:sp>
      <p:sp>
        <p:nvSpPr>
          <p:cNvPr id="135" name="TextBox 135"/>
          <p:cNvSpPr txBox="1"/>
          <p:nvPr/>
        </p:nvSpPr>
        <p:spPr>
          <a:xfrm>
            <a:off x="9178668" y="5859545"/>
            <a:ext cx="2456053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删除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· </a:t>
            </a:r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打乱</a:t>
            </a:r>
            <a:r>
              <a:rPr lang="zh-CN" sz="1750">
                <a:solidFill>
                  <a:srgbClr val="191919"/>
                </a:solidFill>
                <a:latin typeface="Liberation Sans"/>
                <a:ea typeface="Liberation Sans"/>
                <a:cs typeface="Liberation Sans"/>
              </a:rPr>
              <a:t> · </a:t>
            </a:r>
            <a:r>
              <a:rPr lang="zh-CN" sz="1750">
                <a:solidFill>
                  <a:srgbClr val="191919"/>
                </a:solidFill>
                <a:latin typeface="Noto Sans CJK SC"/>
                <a:ea typeface="Noto Sans CJK SC"/>
                <a:cs typeface="Noto Sans CJK SC"/>
              </a:rPr>
              <a:t>随机保留</a:t>
            </a:r>
            <a:endParaRPr lang="zh-CN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reeform 3"/>
          <p:cNvSpPr/>
          <p:nvPr/>
        </p:nvSpPr>
        <p:spPr>
          <a:xfrm>
            <a:off x="3013027" y="928490"/>
            <a:ext cx="794391" cy="2332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reeform 4"/>
          <p:cNvSpPr/>
          <p:nvPr/>
        </p:nvSpPr>
        <p:spPr>
          <a:xfrm>
            <a:off x="3639794" y="859983"/>
            <a:ext cx="167624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reeform 5"/>
          <p:cNvSpPr/>
          <p:nvPr/>
        </p:nvSpPr>
        <p:spPr>
          <a:xfrm>
            <a:off x="6554991" y="921202"/>
            <a:ext cx="757951" cy="2332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reeform 6"/>
          <p:cNvSpPr/>
          <p:nvPr/>
        </p:nvSpPr>
        <p:spPr>
          <a:xfrm>
            <a:off x="7145318" y="852695"/>
            <a:ext cx="167624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reeform 7"/>
          <p:cNvSpPr/>
          <p:nvPr/>
        </p:nvSpPr>
        <p:spPr>
          <a:xfrm>
            <a:off x="5173188" y="1610646"/>
            <a:ext cx="23322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Freeform 8"/>
          <p:cNvSpPr/>
          <p:nvPr/>
        </p:nvSpPr>
        <p:spPr>
          <a:xfrm>
            <a:off x="5104681" y="1610646"/>
            <a:ext cx="160336" cy="16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Freeform 9"/>
          <p:cNvSpPr/>
          <p:nvPr/>
        </p:nvSpPr>
        <p:spPr>
          <a:xfrm>
            <a:off x="9052765" y="1603605"/>
            <a:ext cx="1498053" cy="196726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55"/>
                </a:moveTo>
                <a:lnTo>
                  <a:pt x="21332" y="21600"/>
                </a:lnTo>
                <a:lnTo>
                  <a:pt x="21600" y="21445"/>
                </a:lnTo>
                <a:lnTo>
                  <a:pt x="268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Freeform 10"/>
          <p:cNvSpPr/>
          <p:nvPr/>
        </p:nvSpPr>
        <p:spPr>
          <a:xfrm>
            <a:off x="10376406" y="3381804"/>
            <a:ext cx="165116" cy="1820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0" y="11488"/>
                </a:lnTo>
                <a:lnTo>
                  <a:pt x="1672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Freeform 11"/>
          <p:cNvSpPr/>
          <p:nvPr/>
        </p:nvSpPr>
        <p:spPr>
          <a:xfrm>
            <a:off x="7564826" y="1605541"/>
            <a:ext cx="1106879" cy="224033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191" y="0"/>
                </a:moveTo>
                <a:lnTo>
                  <a:pt x="0" y="21502"/>
                </a:lnTo>
                <a:lnTo>
                  <a:pt x="409" y="21600"/>
                </a:lnTo>
                <a:lnTo>
                  <a:pt x="21600" y="98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Freeform 12"/>
          <p:cNvSpPr/>
          <p:nvPr/>
        </p:nvSpPr>
        <p:spPr>
          <a:xfrm>
            <a:off x="7575310" y="3654968"/>
            <a:ext cx="145461" cy="18580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94" y="0"/>
                </a:lnTo>
                <a:lnTo>
                  <a:pt x="21600" y="816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Freeform 13"/>
          <p:cNvSpPr/>
          <p:nvPr/>
        </p:nvSpPr>
        <p:spPr>
          <a:xfrm>
            <a:off x="8294146" y="5139262"/>
            <a:ext cx="449917" cy="7190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364"/>
                </a:moveTo>
                <a:lnTo>
                  <a:pt x="20643" y="21600"/>
                </a:lnTo>
                <a:lnTo>
                  <a:pt x="21600" y="21236"/>
                </a:lnTo>
                <a:lnTo>
                  <a:pt x="957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Freeform 14"/>
          <p:cNvSpPr/>
          <p:nvPr/>
        </p:nvSpPr>
        <p:spPr>
          <a:xfrm>
            <a:off x="8734101" y="5840596"/>
            <a:ext cx="604903" cy="2332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Freeform 15"/>
          <p:cNvSpPr/>
          <p:nvPr/>
        </p:nvSpPr>
        <p:spPr>
          <a:xfrm>
            <a:off x="9171380" y="5772089"/>
            <a:ext cx="167624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Freeform 16"/>
          <p:cNvSpPr/>
          <p:nvPr/>
        </p:nvSpPr>
        <p:spPr>
          <a:xfrm>
            <a:off x="6888417" y="3782468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Freeform 17"/>
          <p:cNvSpPr/>
          <p:nvPr/>
        </p:nvSpPr>
        <p:spPr>
          <a:xfrm>
            <a:off x="6888417" y="3658572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reeform 18"/>
          <p:cNvSpPr/>
          <p:nvPr/>
        </p:nvSpPr>
        <p:spPr>
          <a:xfrm>
            <a:off x="6888417" y="3534676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Freeform 19"/>
          <p:cNvSpPr/>
          <p:nvPr/>
        </p:nvSpPr>
        <p:spPr>
          <a:xfrm>
            <a:off x="6888417" y="3410780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Freeform 20"/>
          <p:cNvSpPr/>
          <p:nvPr/>
        </p:nvSpPr>
        <p:spPr>
          <a:xfrm>
            <a:off x="6888417" y="3286884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reeform 21"/>
          <p:cNvSpPr/>
          <p:nvPr/>
        </p:nvSpPr>
        <p:spPr>
          <a:xfrm>
            <a:off x="6888417" y="3162988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reeform 22"/>
          <p:cNvSpPr/>
          <p:nvPr/>
        </p:nvSpPr>
        <p:spPr>
          <a:xfrm>
            <a:off x="6888417" y="3039092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reeform 23"/>
          <p:cNvSpPr/>
          <p:nvPr/>
        </p:nvSpPr>
        <p:spPr>
          <a:xfrm>
            <a:off x="6888417" y="2915197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Freeform 24"/>
          <p:cNvSpPr/>
          <p:nvPr/>
        </p:nvSpPr>
        <p:spPr>
          <a:xfrm>
            <a:off x="6888417" y="2791301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reeform 25"/>
          <p:cNvSpPr/>
          <p:nvPr/>
        </p:nvSpPr>
        <p:spPr>
          <a:xfrm>
            <a:off x="6888417" y="2667405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Freeform 26"/>
          <p:cNvSpPr/>
          <p:nvPr/>
        </p:nvSpPr>
        <p:spPr>
          <a:xfrm>
            <a:off x="6888417" y="2543509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Freeform 27"/>
          <p:cNvSpPr/>
          <p:nvPr/>
        </p:nvSpPr>
        <p:spPr>
          <a:xfrm>
            <a:off x="6888417" y="2419613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Freeform 28"/>
          <p:cNvSpPr/>
          <p:nvPr/>
        </p:nvSpPr>
        <p:spPr>
          <a:xfrm>
            <a:off x="6888417" y="2295717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Freeform 29"/>
          <p:cNvSpPr/>
          <p:nvPr/>
        </p:nvSpPr>
        <p:spPr>
          <a:xfrm>
            <a:off x="6888417" y="2171821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Freeform 30"/>
          <p:cNvSpPr/>
          <p:nvPr/>
        </p:nvSpPr>
        <p:spPr>
          <a:xfrm>
            <a:off x="6888417" y="2055214"/>
            <a:ext cx="18220" cy="5830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Freeform 31"/>
          <p:cNvSpPr/>
          <p:nvPr/>
        </p:nvSpPr>
        <p:spPr>
          <a:xfrm>
            <a:off x="6897527" y="2046104"/>
            <a:ext cx="65592" cy="182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Freeform 32"/>
          <p:cNvSpPr/>
          <p:nvPr/>
        </p:nvSpPr>
        <p:spPr>
          <a:xfrm>
            <a:off x="7021423" y="2046104"/>
            <a:ext cx="65592" cy="182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Freeform 33"/>
          <p:cNvSpPr/>
          <p:nvPr/>
        </p:nvSpPr>
        <p:spPr>
          <a:xfrm>
            <a:off x="7145318" y="2046104"/>
            <a:ext cx="65592" cy="182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Freeform 34"/>
          <p:cNvSpPr/>
          <p:nvPr/>
        </p:nvSpPr>
        <p:spPr>
          <a:xfrm>
            <a:off x="7269214" y="2046104"/>
            <a:ext cx="65592" cy="182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Freeform 35"/>
          <p:cNvSpPr/>
          <p:nvPr/>
        </p:nvSpPr>
        <p:spPr>
          <a:xfrm>
            <a:off x="7393110" y="2046104"/>
            <a:ext cx="65592" cy="182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Freeform 36"/>
          <p:cNvSpPr/>
          <p:nvPr/>
        </p:nvSpPr>
        <p:spPr>
          <a:xfrm>
            <a:off x="7517006" y="2046104"/>
            <a:ext cx="65592" cy="182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Freeform 37"/>
          <p:cNvSpPr/>
          <p:nvPr/>
        </p:nvSpPr>
        <p:spPr>
          <a:xfrm>
            <a:off x="7640902" y="2046104"/>
            <a:ext cx="65592" cy="182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Freeform 38"/>
          <p:cNvSpPr/>
          <p:nvPr/>
        </p:nvSpPr>
        <p:spPr>
          <a:xfrm>
            <a:off x="7764798" y="2046104"/>
            <a:ext cx="21864" cy="182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reeform 39"/>
          <p:cNvSpPr/>
          <p:nvPr/>
        </p:nvSpPr>
        <p:spPr>
          <a:xfrm>
            <a:off x="7777552" y="1989622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Freeform 40"/>
          <p:cNvSpPr/>
          <p:nvPr/>
        </p:nvSpPr>
        <p:spPr>
          <a:xfrm>
            <a:off x="7777552" y="1865726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reeform 41"/>
          <p:cNvSpPr/>
          <p:nvPr/>
        </p:nvSpPr>
        <p:spPr>
          <a:xfrm>
            <a:off x="7777552" y="1741830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Freeform 42"/>
          <p:cNvSpPr/>
          <p:nvPr/>
        </p:nvSpPr>
        <p:spPr>
          <a:xfrm>
            <a:off x="7777552" y="1617934"/>
            <a:ext cx="18220" cy="655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reeform 43"/>
          <p:cNvSpPr/>
          <p:nvPr/>
        </p:nvSpPr>
        <p:spPr>
          <a:xfrm>
            <a:off x="7710138" y="1617934"/>
            <a:ext cx="153048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434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99862" y="306096"/>
            <a:ext cx="2813165" cy="1304550"/>
          </a:xfrm>
          <a:prstGeom prst="rect">
            <a:avLst/>
          </a:prstGeom>
          <a:solidFill>
            <a:srgbClr val="173B62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3821994" y="284232"/>
            <a:ext cx="2732997" cy="1319126"/>
          </a:xfrm>
          <a:prstGeom prst="rect">
            <a:avLst/>
          </a:prstGeom>
          <a:solidFill>
            <a:srgbClr val="14619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7320230" y="284232"/>
            <a:ext cx="2900621" cy="1326414"/>
          </a:xfrm>
          <a:prstGeom prst="rect">
            <a:avLst/>
          </a:prstGeom>
          <a:solidFill>
            <a:srgbClr val="5796C5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3836570" y="2266565"/>
            <a:ext cx="2652829" cy="1151503"/>
          </a:xfrm>
          <a:prstGeom prst="rect">
            <a:avLst/>
          </a:prstGeom>
          <a:solidFill>
            <a:srgbClr val="839FBA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5869920" y="3848060"/>
            <a:ext cx="2878757" cy="1297262"/>
          </a:xfrm>
          <a:prstGeom prst="rect">
            <a:avLst/>
          </a:prstGeom>
          <a:solidFill>
            <a:srgbClr val="599ACE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9368156" y="3571116"/>
            <a:ext cx="2528933" cy="1187943"/>
          </a:xfrm>
          <a:prstGeom prst="rect">
            <a:avLst/>
          </a:prstGeom>
          <a:solidFill>
            <a:srgbClr val="599BD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9353580" y="5283794"/>
            <a:ext cx="2565373" cy="1231671"/>
          </a:xfrm>
          <a:prstGeom prst="rect">
            <a:avLst/>
          </a:prstGeom>
          <a:solidFill>
            <a:srgbClr val="8A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221726" y="327960"/>
            <a:ext cx="2769437" cy="12608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3843858" y="306096"/>
            <a:ext cx="2689269" cy="12753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7342094" y="306096"/>
            <a:ext cx="2856893" cy="12826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3858434" y="2288429"/>
            <a:ext cx="2609101" cy="1107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5891784" y="3869923"/>
            <a:ext cx="2835029" cy="1253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9390020" y="3592980"/>
            <a:ext cx="2485205" cy="11442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9375444" y="5305658"/>
            <a:ext cx="2521645" cy="11879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7611750" y="2477917"/>
            <a:ext cx="1020319" cy="313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extBox 59"/>
          <p:cNvSpPr txBox="1"/>
          <p:nvPr/>
        </p:nvSpPr>
        <p:spPr>
          <a:xfrm>
            <a:off x="731886" y="575751"/>
            <a:ext cx="174911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拟执行动作</a:t>
            </a:r>
            <a:endParaRPr lang="zh-CN" sz="1950"/>
          </a:p>
        </p:txBody>
      </p:sp>
      <p:sp>
        <p:nvSpPr>
          <p:cNvPr id="60" name="TextBox 60"/>
          <p:cNvSpPr txBox="1"/>
          <p:nvPr/>
        </p:nvSpPr>
        <p:spPr>
          <a:xfrm>
            <a:off x="731886" y="1005743"/>
            <a:ext cx="174911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识别缺失前提</a:t>
            </a:r>
            <a:endParaRPr lang="zh-CN" sz="1700"/>
          </a:p>
        </p:txBody>
      </p:sp>
      <p:sp>
        <p:nvSpPr>
          <p:cNvPr id="61" name="TextBox 61"/>
          <p:cNvSpPr txBox="1"/>
          <p:nvPr/>
        </p:nvSpPr>
        <p:spPr>
          <a:xfrm>
            <a:off x="4171818" y="575751"/>
            <a:ext cx="204063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定位原文片段</a:t>
            </a:r>
            <a:endParaRPr lang="zh-CN" sz="1950"/>
          </a:p>
        </p:txBody>
      </p:sp>
      <p:sp>
        <p:nvSpPr>
          <p:cNvPr id="62" name="TextBox 62"/>
          <p:cNvSpPr txBox="1"/>
          <p:nvPr/>
        </p:nvSpPr>
        <p:spPr>
          <a:xfrm>
            <a:off x="4117158" y="1005743"/>
            <a:ext cx="2149957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对象过滤 · 来源关联</a:t>
            </a:r>
            <a:endParaRPr lang="zh-CN" sz="1700"/>
          </a:p>
        </p:txBody>
      </p:sp>
      <p:sp>
        <p:nvSpPr>
          <p:cNvPr id="63" name="TextBox 63"/>
          <p:cNvSpPr txBox="1"/>
          <p:nvPr/>
        </p:nvSpPr>
        <p:spPr>
          <a:xfrm>
            <a:off x="7677342" y="575751"/>
            <a:ext cx="2186397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核对当前适用性</a:t>
            </a:r>
            <a:endParaRPr lang="zh-CN" sz="1950"/>
          </a:p>
        </p:txBody>
      </p:sp>
      <p:sp>
        <p:nvSpPr>
          <p:cNvPr id="64" name="TextBox 64"/>
          <p:cNvSpPr txBox="1"/>
          <p:nvPr/>
        </p:nvSpPr>
        <p:spPr>
          <a:xfrm>
            <a:off x="7684630" y="1005743"/>
            <a:ext cx="2171821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对象 · 版本 · 条件</a:t>
            </a:r>
            <a:endParaRPr lang="zh-CN" sz="1700"/>
          </a:p>
        </p:txBody>
      </p:sp>
      <p:sp>
        <p:nvSpPr>
          <p:cNvPr id="65" name="TextBox 65"/>
          <p:cNvSpPr txBox="1"/>
          <p:nvPr/>
        </p:nvSpPr>
        <p:spPr>
          <a:xfrm>
            <a:off x="4106226" y="2507069"/>
            <a:ext cx="2128094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不可变原文档案</a:t>
            </a:r>
            <a:endParaRPr lang="zh-CN" sz="1950"/>
          </a:p>
        </p:txBody>
      </p:sp>
      <p:sp>
        <p:nvSpPr>
          <p:cNvPr id="66" name="TextBox 66"/>
          <p:cNvSpPr txBox="1"/>
          <p:nvPr/>
        </p:nvSpPr>
        <p:spPr>
          <a:xfrm>
            <a:off x="4186394" y="2893333"/>
            <a:ext cx="196775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工具结果先存档</a:t>
            </a:r>
            <a:endParaRPr lang="zh-CN" sz="1700"/>
          </a:p>
        </p:txBody>
      </p:sp>
      <p:sp>
        <p:nvSpPr>
          <p:cNvPr id="67" name="TextBox 67"/>
          <p:cNvSpPr txBox="1"/>
          <p:nvPr/>
        </p:nvSpPr>
        <p:spPr>
          <a:xfrm>
            <a:off x="6044832" y="4139579"/>
            <a:ext cx="2521645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请求原文或环境重查</a:t>
            </a:r>
            <a:endParaRPr lang="zh-CN" sz="1950"/>
          </a:p>
        </p:txBody>
      </p:sp>
      <p:sp>
        <p:nvSpPr>
          <p:cNvPr id="68" name="TextBox 68"/>
          <p:cNvSpPr txBox="1"/>
          <p:nvPr/>
        </p:nvSpPr>
        <p:spPr>
          <a:xfrm>
            <a:off x="6278047" y="4533131"/>
            <a:ext cx="2055214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按预算补充信息</a:t>
            </a:r>
            <a:endParaRPr lang="zh-CN" sz="1700"/>
          </a:p>
        </p:txBody>
      </p:sp>
      <p:sp>
        <p:nvSpPr>
          <p:cNvPr id="69" name="TextBox 69"/>
          <p:cNvSpPr txBox="1"/>
          <p:nvPr/>
        </p:nvSpPr>
        <p:spPr>
          <a:xfrm>
            <a:off x="9608660" y="3826196"/>
            <a:ext cx="204063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经核对的证据</a:t>
            </a:r>
            <a:endParaRPr lang="zh-CN" sz="1950"/>
          </a:p>
        </p:txBody>
      </p:sp>
      <p:sp>
        <p:nvSpPr>
          <p:cNvPr id="70" name="TextBox 70"/>
          <p:cNvSpPr txBox="1"/>
          <p:nvPr/>
        </p:nvSpPr>
        <p:spPr>
          <a:xfrm>
            <a:off x="9696115" y="4205171"/>
            <a:ext cx="1865726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进入动作执行</a:t>
            </a:r>
            <a:endParaRPr lang="zh-CN" sz="1700"/>
          </a:p>
        </p:txBody>
      </p:sp>
      <p:sp>
        <p:nvSpPr>
          <p:cNvPr id="71" name="TextBox 71"/>
          <p:cNvSpPr txBox="1"/>
          <p:nvPr/>
        </p:nvSpPr>
        <p:spPr>
          <a:xfrm>
            <a:off x="9528492" y="5538874"/>
            <a:ext cx="2200973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资源不足则中止</a:t>
            </a:r>
            <a:endParaRPr lang="zh-CN" sz="1950"/>
          </a:p>
        </p:txBody>
      </p:sp>
      <p:sp>
        <p:nvSpPr>
          <p:cNvPr id="72" name="TextBox 72"/>
          <p:cNvSpPr txBox="1"/>
          <p:nvPr/>
        </p:nvSpPr>
        <p:spPr>
          <a:xfrm>
            <a:off x="9739843" y="5932425"/>
            <a:ext cx="1749118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计为任务失败</a:t>
            </a:r>
            <a:endParaRPr lang="zh-CN" sz="1700"/>
          </a:p>
        </p:txBody>
      </p:sp>
      <p:sp>
        <p:nvSpPr>
          <p:cNvPr id="73" name="TextBox 73"/>
          <p:cNvSpPr txBox="1"/>
          <p:nvPr/>
        </p:nvSpPr>
        <p:spPr>
          <a:xfrm>
            <a:off x="7560734" y="2463341"/>
            <a:ext cx="1093199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仍不确定</a:t>
            </a:r>
            <a:endParaRPr lang="zh-CN" sz="1700"/>
          </a:p>
        </p:txBody>
      </p:sp>
      <p:sp>
        <p:nvSpPr>
          <p:cNvPr id="74" name="TextBox 74"/>
          <p:cNvSpPr txBox="1"/>
          <p:nvPr/>
        </p:nvSpPr>
        <p:spPr>
          <a:xfrm>
            <a:off x="10045939" y="2463341"/>
            <a:ext cx="1166079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满足前提</a:t>
            </a:r>
            <a:endParaRPr lang="zh-CN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490478" y="1202519"/>
            <a:ext cx="24779" cy="43727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502868" y="1627409"/>
            <a:ext cx="1814710" cy="2477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4305188" y="1639798"/>
            <a:ext cx="24779" cy="24779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5893970" y="1202519"/>
            <a:ext cx="24779" cy="69235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9231870" y="1202519"/>
            <a:ext cx="24779" cy="43727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7517006" y="1627409"/>
            <a:ext cx="1727254" cy="2477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7504616" y="1639798"/>
            <a:ext cx="24779" cy="24779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5893970" y="3017228"/>
            <a:ext cx="24779" cy="327960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517444" y="3332799"/>
            <a:ext cx="3388916" cy="2477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505054" y="3345188"/>
            <a:ext cx="24779" cy="30609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5893970" y="3345188"/>
            <a:ext cx="24779" cy="30609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5906360" y="3332799"/>
            <a:ext cx="3337900" cy="2477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9231870" y="3345188"/>
            <a:ext cx="24779" cy="30609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2490478" y="4868378"/>
            <a:ext cx="24779" cy="386264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2502868" y="5242252"/>
            <a:ext cx="962015" cy="2477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3452493" y="5254642"/>
            <a:ext cx="24779" cy="19677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5893970" y="4868378"/>
            <a:ext cx="24779" cy="575751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9231870" y="4868378"/>
            <a:ext cx="24779" cy="386264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355125" y="5242252"/>
            <a:ext cx="889135" cy="24779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8342735" y="5254642"/>
            <a:ext cx="24779" cy="189488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9725267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9878315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0031363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0184411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0337459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0490506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10643554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10796602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0949650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1102698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1255746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1408793" y="6059236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1528316" y="5983441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11528316" y="5830393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11528316" y="5677345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11528316" y="5524298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11528316" y="5371250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11528316" y="5218202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11528316" y="5065154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11528316" y="4912106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11528316" y="4759058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1528316" y="4606011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11528316" y="4452963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11528316" y="4299915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11528316" y="4146867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11528316" y="3993819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11528316" y="3840772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11528316" y="3687724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11528316" y="3534676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11528316" y="3381628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11528316" y="3228580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11528316" y="3075532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11528316" y="2922485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11528316" y="2769437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11528316" y="2616389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11528316" y="2463341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11528316" y="2310293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11528316" y="2157245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11528316" y="2004198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11528316" y="1851150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11528316" y="1698102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11528316" y="1545054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11528316" y="1392006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11528316" y="1238959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11528316" y="1085911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1528316" y="932863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11528316" y="779815"/>
            <a:ext cx="23322" cy="87456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11528316" y="670495"/>
            <a:ext cx="23322" cy="43728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11452521" y="658834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11299474" y="658834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11146426" y="658834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0993378" y="658834"/>
            <a:ext cx="87456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0862194" y="658834"/>
            <a:ext cx="65592" cy="23322"/>
          </a:xfrm>
          <a:prstGeom prst="rect">
            <a:avLst/>
          </a:pr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Polygon 76"/>
          <p:cNvSpPr/>
          <p:nvPr/>
        </p:nvSpPr>
        <p:spPr>
          <a:xfrm>
            <a:off x="4244698" y="1843862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Polygon 77"/>
          <p:cNvSpPr/>
          <p:nvPr/>
        </p:nvSpPr>
        <p:spPr>
          <a:xfrm>
            <a:off x="5833480" y="1843862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Polygon 78"/>
          <p:cNvSpPr/>
          <p:nvPr/>
        </p:nvSpPr>
        <p:spPr>
          <a:xfrm>
            <a:off x="7444126" y="1843862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Polygon 79"/>
          <p:cNvSpPr/>
          <p:nvPr/>
        </p:nvSpPr>
        <p:spPr>
          <a:xfrm>
            <a:off x="2444564" y="3614844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Polygon 80"/>
          <p:cNvSpPr/>
          <p:nvPr/>
        </p:nvSpPr>
        <p:spPr>
          <a:xfrm>
            <a:off x="5833480" y="3614844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Polygon 81"/>
          <p:cNvSpPr/>
          <p:nvPr/>
        </p:nvSpPr>
        <p:spPr>
          <a:xfrm>
            <a:off x="9171380" y="3614844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Polygon 82"/>
          <p:cNvSpPr/>
          <p:nvPr/>
        </p:nvSpPr>
        <p:spPr>
          <a:xfrm>
            <a:off x="3392003" y="5400402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Polygon 83"/>
          <p:cNvSpPr/>
          <p:nvPr/>
        </p:nvSpPr>
        <p:spPr>
          <a:xfrm>
            <a:off x="5833480" y="5400402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Polygon 84"/>
          <p:cNvSpPr/>
          <p:nvPr/>
        </p:nvSpPr>
        <p:spPr>
          <a:xfrm>
            <a:off x="8282245" y="5400402"/>
            <a:ext cx="145760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Polygon 85"/>
          <p:cNvSpPr/>
          <p:nvPr/>
        </p:nvSpPr>
        <p:spPr>
          <a:xfrm>
            <a:off x="10687282" y="597615"/>
            <a:ext cx="174912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10800"/>
                </a:lnTo>
                <a:close/>
              </a:path>
            </a:pathLst>
          </a:custGeom>
          <a:solidFill>
            <a:srgbClr val="383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oundrect 86"/>
          <p:cNvSpPr/>
          <p:nvPr/>
        </p:nvSpPr>
        <p:spPr>
          <a:xfrm>
            <a:off x="1037982" y="138472"/>
            <a:ext cx="2937061" cy="1071335"/>
          </a:xfrm>
          <a:prstGeom prst="roundRect">
            <a:avLst>
              <a:gd name="adj" fmla="val 7483"/>
            </a:avLst>
          </a:prstGeom>
          <a:solidFill>
            <a:srgbClr val="17467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oundrect 87"/>
          <p:cNvSpPr/>
          <p:nvPr/>
        </p:nvSpPr>
        <p:spPr>
          <a:xfrm>
            <a:off x="4434186" y="138472"/>
            <a:ext cx="2937061" cy="1071335"/>
          </a:xfrm>
          <a:prstGeom prst="roundRect">
            <a:avLst>
              <a:gd name="adj" fmla="val 7483"/>
            </a:avLst>
          </a:prstGeom>
          <a:solidFill>
            <a:srgbClr val="17467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oundrect 88"/>
          <p:cNvSpPr/>
          <p:nvPr/>
        </p:nvSpPr>
        <p:spPr>
          <a:xfrm>
            <a:off x="7823102" y="138472"/>
            <a:ext cx="2864181" cy="1071335"/>
          </a:xfrm>
          <a:prstGeom prst="roundRect">
            <a:avLst>
              <a:gd name="adj" fmla="val 7483"/>
            </a:avLst>
          </a:prstGeom>
          <a:solidFill>
            <a:srgbClr val="17467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oundrect 89"/>
          <p:cNvSpPr/>
          <p:nvPr/>
        </p:nvSpPr>
        <p:spPr>
          <a:xfrm>
            <a:off x="3508611" y="2004198"/>
            <a:ext cx="4810074" cy="1020319"/>
          </a:xfrm>
          <a:prstGeom prst="roundRect">
            <a:avLst>
              <a:gd name="adj" fmla="val 7857"/>
            </a:avLst>
          </a:prstGeom>
          <a:solidFill>
            <a:srgbClr val="17467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oundrect 90"/>
          <p:cNvSpPr/>
          <p:nvPr/>
        </p:nvSpPr>
        <p:spPr>
          <a:xfrm>
            <a:off x="1037982" y="3775180"/>
            <a:ext cx="2937061" cy="1100487"/>
          </a:xfrm>
          <a:prstGeom prst="roundRect">
            <a:avLst>
              <a:gd name="adj" fmla="val 7285"/>
            </a:avLst>
          </a:prstGeom>
          <a:solidFill>
            <a:srgbClr val="17467F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oundrect 91"/>
          <p:cNvSpPr/>
          <p:nvPr/>
        </p:nvSpPr>
        <p:spPr>
          <a:xfrm>
            <a:off x="4434186" y="3775180"/>
            <a:ext cx="2937061" cy="1100487"/>
          </a:xfrm>
          <a:prstGeom prst="roundRect">
            <a:avLst>
              <a:gd name="adj" fmla="val 7285"/>
            </a:avLst>
          </a:prstGeom>
          <a:solidFill>
            <a:srgbClr val="17467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oundrect 92"/>
          <p:cNvSpPr/>
          <p:nvPr/>
        </p:nvSpPr>
        <p:spPr>
          <a:xfrm>
            <a:off x="7823102" y="3775180"/>
            <a:ext cx="2864181" cy="1100487"/>
          </a:xfrm>
          <a:prstGeom prst="roundRect">
            <a:avLst>
              <a:gd name="adj" fmla="val 7285"/>
            </a:avLst>
          </a:prstGeom>
          <a:solidFill>
            <a:srgbClr val="17467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oundrect 93"/>
          <p:cNvSpPr/>
          <p:nvPr/>
        </p:nvSpPr>
        <p:spPr>
          <a:xfrm>
            <a:off x="2109316" y="5560738"/>
            <a:ext cx="7615951" cy="1034895"/>
          </a:xfrm>
          <a:prstGeom prst="roundRect">
            <a:avLst>
              <a:gd name="adj" fmla="val 7746"/>
            </a:avLst>
          </a:prstGeom>
          <a:solidFill>
            <a:srgbClr val="17467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oundrect 94"/>
          <p:cNvSpPr/>
          <p:nvPr/>
        </p:nvSpPr>
        <p:spPr>
          <a:xfrm>
            <a:off x="1063489" y="163980"/>
            <a:ext cx="2886045" cy="1020319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oundrect 95"/>
          <p:cNvSpPr/>
          <p:nvPr/>
        </p:nvSpPr>
        <p:spPr>
          <a:xfrm>
            <a:off x="4459694" y="163980"/>
            <a:ext cx="2886045" cy="1020319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oundrect 96"/>
          <p:cNvSpPr/>
          <p:nvPr/>
        </p:nvSpPr>
        <p:spPr>
          <a:xfrm>
            <a:off x="7848610" y="163980"/>
            <a:ext cx="2813165" cy="1020319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oundrect 97"/>
          <p:cNvSpPr/>
          <p:nvPr/>
        </p:nvSpPr>
        <p:spPr>
          <a:xfrm>
            <a:off x="3534119" y="2029706"/>
            <a:ext cx="4759058" cy="969303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oundrect 98"/>
          <p:cNvSpPr/>
          <p:nvPr/>
        </p:nvSpPr>
        <p:spPr>
          <a:xfrm>
            <a:off x="1063489" y="3800688"/>
            <a:ext cx="2886045" cy="104947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oundrect 99"/>
          <p:cNvSpPr/>
          <p:nvPr/>
        </p:nvSpPr>
        <p:spPr>
          <a:xfrm>
            <a:off x="4459694" y="3800688"/>
            <a:ext cx="2886045" cy="104947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oundrect 100"/>
          <p:cNvSpPr/>
          <p:nvPr/>
        </p:nvSpPr>
        <p:spPr>
          <a:xfrm>
            <a:off x="7848610" y="3800688"/>
            <a:ext cx="2813165" cy="104947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oundrect 101"/>
          <p:cNvSpPr/>
          <p:nvPr/>
        </p:nvSpPr>
        <p:spPr>
          <a:xfrm>
            <a:off x="2134824" y="5586245"/>
            <a:ext cx="7564935" cy="98387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TextBox 102"/>
          <p:cNvSpPr txBox="1"/>
          <p:nvPr/>
        </p:nvSpPr>
        <p:spPr>
          <a:xfrm>
            <a:off x="1555429" y="284232"/>
            <a:ext cx="1894878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当前工作状态</a:t>
            </a:r>
            <a:endParaRPr lang="zh-CN" sz="2060"/>
          </a:p>
        </p:txBody>
      </p:sp>
      <p:sp>
        <p:nvSpPr>
          <p:cNvPr id="103" name="TextBox 103"/>
          <p:cNvSpPr txBox="1"/>
          <p:nvPr/>
        </p:nvSpPr>
        <p:spPr>
          <a:xfrm>
            <a:off x="1467973" y="670495"/>
            <a:ext cx="2084366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占用 / 依赖 / 风险</a:t>
            </a:r>
            <a:endParaRPr lang="zh-CN" sz="1739"/>
          </a:p>
        </p:txBody>
      </p:sp>
      <p:sp>
        <p:nvSpPr>
          <p:cNvPr id="104" name="TextBox 104"/>
          <p:cNvSpPr txBox="1"/>
          <p:nvPr/>
        </p:nvSpPr>
        <p:spPr>
          <a:xfrm>
            <a:off x="5214001" y="284232"/>
            <a:ext cx="1392006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恢复反馈</a:t>
            </a:r>
            <a:endParaRPr lang="zh-CN" sz="2060"/>
          </a:p>
        </p:txBody>
      </p:sp>
      <p:sp>
        <p:nvSpPr>
          <p:cNvPr id="105" name="TextBox 105"/>
          <p:cNvSpPr txBox="1"/>
          <p:nvPr/>
        </p:nvSpPr>
        <p:spPr>
          <a:xfrm>
            <a:off x="4791297" y="670495"/>
            <a:ext cx="2222837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有效证据 / 缺失前提</a:t>
            </a:r>
            <a:endParaRPr lang="zh-CN" sz="1739"/>
          </a:p>
        </p:txBody>
      </p:sp>
      <p:sp>
        <p:nvSpPr>
          <p:cNvPr id="106" name="TextBox 106"/>
          <p:cNvSpPr txBox="1"/>
          <p:nvPr/>
        </p:nvSpPr>
        <p:spPr>
          <a:xfrm>
            <a:off x="8551901" y="284232"/>
            <a:ext cx="1384718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剩余预算</a:t>
            </a:r>
            <a:endParaRPr lang="zh-CN" sz="2060"/>
          </a:p>
        </p:txBody>
      </p:sp>
      <p:sp>
        <p:nvSpPr>
          <p:cNvPr id="107" name="TextBox 107"/>
          <p:cNvSpPr txBox="1"/>
          <p:nvPr/>
        </p:nvSpPr>
        <p:spPr>
          <a:xfrm>
            <a:off x="8158349" y="670495"/>
            <a:ext cx="2171821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窗口 / Token / 接口</a:t>
            </a:r>
            <a:endParaRPr lang="zh-CN" sz="1739"/>
          </a:p>
        </p:txBody>
      </p:sp>
      <p:sp>
        <p:nvSpPr>
          <p:cNvPr id="108" name="TextBox 108"/>
          <p:cNvSpPr txBox="1"/>
          <p:nvPr/>
        </p:nvSpPr>
        <p:spPr>
          <a:xfrm>
            <a:off x="4609097" y="2149957"/>
            <a:ext cx="260910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规则或轻量控制器</a:t>
            </a:r>
            <a:endParaRPr lang="zh-CN" sz="2060"/>
          </a:p>
        </p:txBody>
      </p:sp>
      <p:sp>
        <p:nvSpPr>
          <p:cNvPr id="109" name="TextBox 109"/>
          <p:cNvSpPr txBox="1"/>
          <p:nvPr/>
        </p:nvSpPr>
        <p:spPr>
          <a:xfrm>
            <a:off x="5075529" y="2536221"/>
            <a:ext cx="1668950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固定执行模型</a:t>
            </a:r>
            <a:endParaRPr lang="zh-CN" sz="1739"/>
          </a:p>
        </p:txBody>
      </p:sp>
      <p:sp>
        <p:nvSpPr>
          <p:cNvPr id="110" name="TextBox 110"/>
          <p:cNvSpPr txBox="1"/>
          <p:nvPr/>
        </p:nvSpPr>
        <p:spPr>
          <a:xfrm>
            <a:off x="1635597" y="3957379"/>
            <a:ext cx="1712678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保留 / 压缩</a:t>
            </a:r>
            <a:endParaRPr lang="zh-CN" sz="2060"/>
          </a:p>
        </p:txBody>
      </p:sp>
      <p:sp>
        <p:nvSpPr>
          <p:cNvPr id="111" name="TextBox 111"/>
          <p:cNvSpPr txBox="1"/>
          <p:nvPr/>
        </p:nvSpPr>
        <p:spPr>
          <a:xfrm>
            <a:off x="1657461" y="4350931"/>
            <a:ext cx="1676238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更新工作窗口</a:t>
            </a:r>
            <a:endParaRPr lang="zh-CN" sz="1739"/>
          </a:p>
        </p:txBody>
      </p:sp>
      <p:sp>
        <p:nvSpPr>
          <p:cNvPr id="112" name="TextBox 112"/>
          <p:cNvSpPr txBox="1"/>
          <p:nvPr/>
        </p:nvSpPr>
        <p:spPr>
          <a:xfrm>
            <a:off x="5039089" y="3957379"/>
            <a:ext cx="1712678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卸载 / 恢复</a:t>
            </a:r>
            <a:endParaRPr lang="zh-CN" sz="2060"/>
          </a:p>
        </p:txBody>
      </p:sp>
      <p:sp>
        <p:nvSpPr>
          <p:cNvPr id="113" name="TextBox 113"/>
          <p:cNvSpPr txBox="1"/>
          <p:nvPr/>
        </p:nvSpPr>
        <p:spPr>
          <a:xfrm>
            <a:off x="4944345" y="4350931"/>
            <a:ext cx="1924030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维护与读取档案</a:t>
            </a:r>
            <a:endParaRPr lang="zh-CN" sz="1739"/>
          </a:p>
        </p:txBody>
      </p:sp>
      <p:sp>
        <p:nvSpPr>
          <p:cNvPr id="114" name="TextBox 114"/>
          <p:cNvSpPr txBox="1"/>
          <p:nvPr/>
        </p:nvSpPr>
        <p:spPr>
          <a:xfrm>
            <a:off x="8792404" y="3957379"/>
            <a:ext cx="859983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重查</a:t>
            </a:r>
            <a:endParaRPr lang="zh-CN" sz="2060"/>
          </a:p>
        </p:txBody>
      </p:sp>
      <p:sp>
        <p:nvSpPr>
          <p:cNvPr id="115" name="TextBox 115"/>
          <p:cNvSpPr txBox="1"/>
          <p:nvPr/>
        </p:nvSpPr>
        <p:spPr>
          <a:xfrm>
            <a:off x="8413429" y="4350931"/>
            <a:ext cx="1632510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调用当前环境</a:t>
            </a:r>
            <a:endParaRPr lang="zh-CN" sz="1739"/>
          </a:p>
        </p:txBody>
      </p:sp>
      <p:sp>
        <p:nvSpPr>
          <p:cNvPr id="116" name="TextBox 116"/>
          <p:cNvSpPr txBox="1"/>
          <p:nvPr/>
        </p:nvSpPr>
        <p:spPr>
          <a:xfrm>
            <a:off x="4922481" y="5699209"/>
            <a:ext cx="1996910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完整成本记录</a:t>
            </a:r>
            <a:endParaRPr lang="zh-CN" sz="2060"/>
          </a:p>
        </p:txBody>
      </p:sp>
      <p:sp>
        <p:nvSpPr>
          <p:cNvPr id="117" name="TextBox 117"/>
          <p:cNvSpPr txBox="1"/>
          <p:nvPr/>
        </p:nvSpPr>
        <p:spPr>
          <a:xfrm>
            <a:off x="3873010" y="6107337"/>
            <a:ext cx="4103139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9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执行 / 压缩 / 检索 / 校验 / 重查 / 重试</a:t>
            </a:r>
            <a:endParaRPr lang="zh-CN" sz="173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653540" y="133006"/>
            <a:ext cx="10877327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53540" y="1131461"/>
            <a:ext cx="10877327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53540" y="158514"/>
            <a:ext cx="25508" cy="972947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1505359" y="158514"/>
            <a:ext cx="25508" cy="972947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60828" y="1320948"/>
            <a:ext cx="10870039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60828" y="5008672"/>
            <a:ext cx="10870039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60828" y="1346456"/>
            <a:ext cx="25508" cy="3662216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1505359" y="1346456"/>
            <a:ext cx="25508" cy="3662216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668116" y="5292904"/>
            <a:ext cx="3268664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668116" y="6488134"/>
            <a:ext cx="3268664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668116" y="5318412"/>
            <a:ext cx="25508" cy="1169723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3911272" y="5318412"/>
            <a:ext cx="25508" cy="1169723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195504" y="5292904"/>
            <a:ext cx="3567472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4195504" y="6488134"/>
            <a:ext cx="3567472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4195504" y="5318412"/>
            <a:ext cx="25508" cy="1169723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7737468" y="5318412"/>
            <a:ext cx="25508" cy="1169723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8021699" y="5292904"/>
            <a:ext cx="3509168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8021699" y="6488134"/>
            <a:ext cx="3509168" cy="25508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021699" y="5318412"/>
            <a:ext cx="25508" cy="1169723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1505359" y="5318412"/>
            <a:ext cx="25508" cy="1169723"/>
          </a:xfrm>
          <a:prstGeom prst="rect">
            <a:avLst/>
          </a:prstGeom>
          <a:solidFill>
            <a:srgbClr val="0A35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3310013" y="1340990"/>
            <a:ext cx="18220" cy="367314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7223664" y="1340990"/>
            <a:ext cx="18220" cy="367314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680870" y="2097120"/>
            <a:ext cx="10829955" cy="1822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680870" y="3481838"/>
            <a:ext cx="10829955" cy="1822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5119257" y="225928"/>
            <a:ext cx="1894878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四组共同条件</a:t>
            </a:r>
            <a:endParaRPr lang="zh-CN" sz="2300"/>
          </a:p>
        </p:txBody>
      </p:sp>
      <p:sp>
        <p:nvSpPr>
          <p:cNvPr id="28" name="TextBox 28"/>
          <p:cNvSpPr txBox="1"/>
          <p:nvPr/>
        </p:nvSpPr>
        <p:spPr>
          <a:xfrm>
            <a:off x="4135378" y="655919"/>
            <a:ext cx="3935515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同一执行模型 · 原文档案 · 预算</a:t>
            </a:r>
            <a:endParaRPr lang="zh-CN" sz="2000"/>
          </a:p>
        </p:txBody>
      </p:sp>
      <p:sp>
        <p:nvSpPr>
          <p:cNvPr id="29" name="TextBox 29"/>
          <p:cNvSpPr txBox="1"/>
          <p:nvPr/>
        </p:nvSpPr>
        <p:spPr>
          <a:xfrm>
            <a:off x="4266562" y="1508614"/>
            <a:ext cx="2018774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不核验有效性</a:t>
            </a:r>
            <a:endParaRPr lang="zh-CN" sz="2300"/>
          </a:p>
        </p:txBody>
      </p:sp>
      <p:sp>
        <p:nvSpPr>
          <p:cNvPr id="30" name="TextBox 30"/>
          <p:cNvSpPr txBox="1"/>
          <p:nvPr/>
        </p:nvSpPr>
        <p:spPr>
          <a:xfrm>
            <a:off x="8530037" y="1515902"/>
            <a:ext cx="1661662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核验有效性</a:t>
            </a:r>
            <a:endParaRPr lang="zh-CN" sz="2300"/>
          </a:p>
        </p:txBody>
      </p:sp>
      <p:sp>
        <p:nvSpPr>
          <p:cNvPr id="31" name="TextBox 31"/>
          <p:cNvSpPr txBox="1"/>
          <p:nvPr/>
        </p:nvSpPr>
        <p:spPr>
          <a:xfrm>
            <a:off x="1154589" y="2550797"/>
            <a:ext cx="1705390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不保留依赖</a:t>
            </a:r>
            <a:endParaRPr lang="zh-CN" sz="2300"/>
          </a:p>
        </p:txBody>
      </p:sp>
      <p:sp>
        <p:nvSpPr>
          <p:cNvPr id="32" name="TextBox 32"/>
          <p:cNvSpPr txBox="1"/>
          <p:nvPr/>
        </p:nvSpPr>
        <p:spPr>
          <a:xfrm>
            <a:off x="1314925" y="3971955"/>
            <a:ext cx="1399294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保留依赖</a:t>
            </a:r>
            <a:endParaRPr lang="zh-CN" sz="2300"/>
          </a:p>
        </p:txBody>
      </p:sp>
      <p:sp>
        <p:nvSpPr>
          <p:cNvPr id="33" name="TextBox 33"/>
          <p:cNvSpPr txBox="1"/>
          <p:nvPr/>
        </p:nvSpPr>
        <p:spPr>
          <a:xfrm>
            <a:off x="4958921" y="2354021"/>
            <a:ext cx="612191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00</a:t>
            </a:r>
            <a:endParaRPr lang="zh-CN" sz="2450"/>
          </a:p>
        </p:txBody>
      </p:sp>
      <p:sp>
        <p:nvSpPr>
          <p:cNvPr id="34" name="TextBox 34"/>
          <p:cNvSpPr txBox="1"/>
          <p:nvPr/>
        </p:nvSpPr>
        <p:spPr>
          <a:xfrm>
            <a:off x="9018332" y="2354021"/>
            <a:ext cx="612191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2450"/>
          </a:p>
        </p:txBody>
      </p:sp>
      <p:sp>
        <p:nvSpPr>
          <p:cNvPr id="35" name="TextBox 35"/>
          <p:cNvSpPr txBox="1"/>
          <p:nvPr/>
        </p:nvSpPr>
        <p:spPr>
          <a:xfrm>
            <a:off x="4973497" y="3782468"/>
            <a:ext cx="612191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lang="zh-CN" sz="2450"/>
          </a:p>
        </p:txBody>
      </p:sp>
      <p:sp>
        <p:nvSpPr>
          <p:cNvPr id="36" name="TextBox 36"/>
          <p:cNvSpPr txBox="1"/>
          <p:nvPr/>
        </p:nvSpPr>
        <p:spPr>
          <a:xfrm>
            <a:off x="9025620" y="3782468"/>
            <a:ext cx="612191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lang="zh-CN" sz="2450"/>
          </a:p>
        </p:txBody>
      </p:sp>
      <p:sp>
        <p:nvSpPr>
          <p:cNvPr id="37" name="TextBox 37"/>
          <p:cNvSpPr txBox="1"/>
          <p:nvPr/>
        </p:nvSpPr>
        <p:spPr>
          <a:xfrm>
            <a:off x="4616385" y="2798589"/>
            <a:ext cx="1326414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基础恢复</a:t>
            </a:r>
            <a:endParaRPr lang="zh-CN" sz="2200"/>
          </a:p>
        </p:txBody>
      </p:sp>
      <p:sp>
        <p:nvSpPr>
          <p:cNvPr id="38" name="TextBox 38"/>
          <p:cNvSpPr txBox="1"/>
          <p:nvPr/>
        </p:nvSpPr>
        <p:spPr>
          <a:xfrm>
            <a:off x="8515461" y="2798589"/>
            <a:ext cx="1617934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有效性核验</a:t>
            </a:r>
            <a:endParaRPr lang="zh-CN" sz="2200"/>
          </a:p>
        </p:txBody>
      </p:sp>
      <p:sp>
        <p:nvSpPr>
          <p:cNvPr id="39" name="TextBox 39"/>
          <p:cNvSpPr txBox="1"/>
          <p:nvPr/>
        </p:nvSpPr>
        <p:spPr>
          <a:xfrm>
            <a:off x="4324866" y="4248899"/>
            <a:ext cx="1902166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依赖引导恢复</a:t>
            </a:r>
            <a:endParaRPr lang="zh-CN" sz="2200"/>
          </a:p>
        </p:txBody>
      </p:sp>
      <p:sp>
        <p:nvSpPr>
          <p:cNvPr id="40" name="TextBox 40"/>
          <p:cNvSpPr txBox="1"/>
          <p:nvPr/>
        </p:nvSpPr>
        <p:spPr>
          <a:xfrm>
            <a:off x="8202077" y="4234323"/>
            <a:ext cx="2222837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依赖与核验联合</a:t>
            </a:r>
            <a:endParaRPr lang="zh-CN" sz="2200"/>
          </a:p>
        </p:txBody>
      </p:sp>
      <p:sp>
        <p:nvSpPr>
          <p:cNvPr id="41" name="TextBox 41"/>
          <p:cNvSpPr txBox="1"/>
          <p:nvPr/>
        </p:nvSpPr>
        <p:spPr>
          <a:xfrm>
            <a:off x="1621021" y="5465994"/>
            <a:ext cx="1348278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主要终点</a:t>
            </a:r>
            <a:endParaRPr lang="zh-CN" sz="2300"/>
          </a:p>
        </p:txBody>
      </p:sp>
      <p:sp>
        <p:nvSpPr>
          <p:cNvPr id="42" name="TextBox 42"/>
          <p:cNvSpPr txBox="1"/>
          <p:nvPr/>
        </p:nvSpPr>
        <p:spPr>
          <a:xfrm>
            <a:off x="1518989" y="5917849"/>
            <a:ext cx="1537766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任务成功率</a:t>
            </a:r>
            <a:endParaRPr lang="zh-CN" sz="2000"/>
          </a:p>
        </p:txBody>
      </p:sp>
      <p:sp>
        <p:nvSpPr>
          <p:cNvPr id="43" name="TextBox 43"/>
          <p:cNvSpPr txBox="1"/>
          <p:nvPr/>
        </p:nvSpPr>
        <p:spPr>
          <a:xfrm>
            <a:off x="5294169" y="5465994"/>
            <a:ext cx="1348278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诊断指标</a:t>
            </a:r>
            <a:endParaRPr lang="zh-CN" sz="2300"/>
          </a:p>
        </p:txBody>
      </p:sp>
      <p:sp>
        <p:nvSpPr>
          <p:cNvPr id="44" name="TextBox 44"/>
          <p:cNvSpPr txBox="1"/>
          <p:nvPr/>
        </p:nvSpPr>
        <p:spPr>
          <a:xfrm>
            <a:off x="4587233" y="5917849"/>
            <a:ext cx="2762149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恢复有效性 · 失败类型</a:t>
            </a:r>
            <a:endParaRPr lang="zh-CN" sz="2000"/>
          </a:p>
        </p:txBody>
      </p:sp>
      <p:sp>
        <p:nvSpPr>
          <p:cNvPr id="45" name="TextBox 45"/>
          <p:cNvSpPr txBox="1"/>
          <p:nvPr/>
        </p:nvSpPr>
        <p:spPr>
          <a:xfrm>
            <a:off x="9025620" y="5465994"/>
            <a:ext cx="1362854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代价核算</a:t>
            </a:r>
            <a:endParaRPr lang="zh-CN" sz="2300"/>
          </a:p>
        </p:txBody>
      </p:sp>
      <p:sp>
        <p:nvSpPr>
          <p:cNvPr id="46" name="TextBox 46"/>
          <p:cNvSpPr txBox="1"/>
          <p:nvPr/>
        </p:nvSpPr>
        <p:spPr>
          <a:xfrm>
            <a:off x="8449869" y="5910561"/>
            <a:ext cx="2579949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Token · 接口 · 时延</a:t>
            </a:r>
            <a:endParaRPr lang="zh-CN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76806" y="830831"/>
            <a:ext cx="2018774" cy="3716876"/>
          </a:xfrm>
          <a:prstGeom prst="rect">
            <a:avLst/>
          </a:prstGeom>
          <a:solidFill>
            <a:srgbClr val="FFFFFF"/>
          </a:solidFill>
          <a:ln w="25400">
            <a:solidFill>
              <a:srgbClr val="073365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969299" y="830831"/>
            <a:ext cx="1843862" cy="3716876"/>
          </a:xfrm>
          <a:prstGeom prst="rect">
            <a:avLst/>
          </a:prstGeom>
          <a:solidFill>
            <a:srgbClr val="FFFFFF"/>
          </a:solidFill>
          <a:ln w="25400">
            <a:solidFill>
              <a:srgbClr val="073365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5265017" y="830831"/>
            <a:ext cx="1887590" cy="3716876"/>
          </a:xfrm>
          <a:prstGeom prst="rect">
            <a:avLst/>
          </a:prstGeom>
          <a:solidFill>
            <a:srgbClr val="FFFFFF"/>
          </a:solidFill>
          <a:ln w="25400">
            <a:solidFill>
              <a:srgbClr val="073365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7619038" y="830831"/>
            <a:ext cx="1887590" cy="3716876"/>
          </a:xfrm>
          <a:prstGeom prst="rect">
            <a:avLst/>
          </a:prstGeom>
          <a:solidFill>
            <a:srgbClr val="FFFFFF"/>
          </a:solidFill>
          <a:ln w="25400">
            <a:solidFill>
              <a:srgbClr val="073365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9987635" y="830831"/>
            <a:ext cx="1800134" cy="3716876"/>
          </a:xfrm>
          <a:prstGeom prst="rect">
            <a:avLst/>
          </a:prstGeom>
          <a:solidFill>
            <a:srgbClr val="FFFFFF"/>
          </a:solidFill>
          <a:ln w="25400">
            <a:solidFill>
              <a:srgbClr val="073365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476806" y="4853802"/>
            <a:ext cx="11310963" cy="1370142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B3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520534" y="1865726"/>
            <a:ext cx="1931318" cy="0"/>
          </a:xfrm>
          <a:prstGeom prst="line">
            <a:avLst/>
          </a:prstGeom>
          <a:noFill/>
          <a:ln w="25400">
            <a:solidFill>
              <a:srgbClr val="2E6DB3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3013027" y="1865726"/>
            <a:ext cx="1756406" cy="0"/>
          </a:xfrm>
          <a:prstGeom prst="line">
            <a:avLst/>
          </a:prstGeom>
          <a:noFill/>
          <a:ln w="25400">
            <a:solidFill>
              <a:srgbClr val="2E6DB3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5308745" y="1865726"/>
            <a:ext cx="1800134" cy="0"/>
          </a:xfrm>
          <a:prstGeom prst="line">
            <a:avLst/>
          </a:prstGeom>
          <a:noFill/>
          <a:ln w="25400">
            <a:solidFill>
              <a:srgbClr val="2E6DB3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7662766" y="1865726"/>
            <a:ext cx="1800134" cy="0"/>
          </a:xfrm>
          <a:prstGeom prst="line">
            <a:avLst/>
          </a:prstGeom>
          <a:noFill/>
          <a:ln w="25400">
            <a:solidFill>
              <a:srgbClr val="2E6DB3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0031363" y="1865726"/>
            <a:ext cx="1712678" cy="0"/>
          </a:xfrm>
          <a:prstGeom prst="line">
            <a:avLst/>
          </a:prstGeom>
          <a:noFill/>
          <a:ln w="25400">
            <a:solidFill>
              <a:srgbClr val="2E6DB3"/>
            </a:solidFill>
          </a:ln>
        </p:spPr>
        <p:txBody>
          <a:bodyPr/>
          <a:lstStyle/>
          <a:p/>
        </p:txBody>
      </p:sp>
      <p:sp>
        <p:nvSpPr>
          <p:cNvPr id="14" name="Freeform 14"/>
          <p:cNvSpPr/>
          <p:nvPr/>
        </p:nvSpPr>
        <p:spPr>
          <a:xfrm>
            <a:off x="2546596" y="2623677"/>
            <a:ext cx="386264" cy="2332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100"/>
                </a:moveTo>
                <a:lnTo>
                  <a:pt x="13857" y="8100"/>
                </a:lnTo>
                <a:lnTo>
                  <a:pt x="13857" y="0"/>
                </a:lnTo>
                <a:lnTo>
                  <a:pt x="21600" y="10800"/>
                </a:lnTo>
                <a:lnTo>
                  <a:pt x="13857" y="21600"/>
                </a:lnTo>
                <a:lnTo>
                  <a:pt x="13857" y="13500"/>
                </a:lnTo>
                <a:lnTo>
                  <a:pt x="0" y="13500"/>
                </a:ln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Freeform 15"/>
          <p:cNvSpPr/>
          <p:nvPr/>
        </p:nvSpPr>
        <p:spPr>
          <a:xfrm>
            <a:off x="4849601" y="2623677"/>
            <a:ext cx="386264" cy="2332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100"/>
                </a:moveTo>
                <a:lnTo>
                  <a:pt x="13857" y="8100"/>
                </a:lnTo>
                <a:lnTo>
                  <a:pt x="13857" y="0"/>
                </a:lnTo>
                <a:lnTo>
                  <a:pt x="21600" y="10800"/>
                </a:lnTo>
                <a:lnTo>
                  <a:pt x="13857" y="21600"/>
                </a:lnTo>
                <a:lnTo>
                  <a:pt x="13857" y="13500"/>
                </a:lnTo>
                <a:lnTo>
                  <a:pt x="0" y="13500"/>
                </a:ln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Freeform 16"/>
          <p:cNvSpPr/>
          <p:nvPr/>
        </p:nvSpPr>
        <p:spPr>
          <a:xfrm>
            <a:off x="7196334" y="2623677"/>
            <a:ext cx="386264" cy="2332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100"/>
                </a:moveTo>
                <a:lnTo>
                  <a:pt x="13857" y="8100"/>
                </a:lnTo>
                <a:lnTo>
                  <a:pt x="13857" y="0"/>
                </a:lnTo>
                <a:lnTo>
                  <a:pt x="21600" y="10800"/>
                </a:lnTo>
                <a:lnTo>
                  <a:pt x="13857" y="21600"/>
                </a:lnTo>
                <a:lnTo>
                  <a:pt x="13857" y="13500"/>
                </a:lnTo>
                <a:lnTo>
                  <a:pt x="0" y="13500"/>
                </a:ln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Freeform 17"/>
          <p:cNvSpPr/>
          <p:nvPr/>
        </p:nvSpPr>
        <p:spPr>
          <a:xfrm>
            <a:off x="9550356" y="2623677"/>
            <a:ext cx="386264" cy="23321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100"/>
                </a:moveTo>
                <a:lnTo>
                  <a:pt x="13857" y="8100"/>
                </a:lnTo>
                <a:lnTo>
                  <a:pt x="13857" y="0"/>
                </a:lnTo>
                <a:lnTo>
                  <a:pt x="21600" y="10800"/>
                </a:lnTo>
                <a:lnTo>
                  <a:pt x="13857" y="21600"/>
                </a:lnTo>
                <a:lnTo>
                  <a:pt x="13857" y="13500"/>
                </a:lnTo>
                <a:lnTo>
                  <a:pt x="0" y="13500"/>
                </a:ln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549686" y="1115063"/>
            <a:ext cx="1873014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30" b="1">
                <a:solidFill>
                  <a:srgbClr val="073365"/>
                </a:solidFill>
                <a:latin typeface="Liberation Sans"/>
                <a:ea typeface="Liberation Sans"/>
                <a:cs typeface="Liberation Sans"/>
              </a:rPr>
              <a:t>M1—M2</a:t>
            </a:r>
            <a:endParaRPr lang="zh-CN" sz="2630"/>
          </a:p>
        </p:txBody>
      </p:sp>
      <p:sp>
        <p:nvSpPr>
          <p:cNvPr id="19" name="TextBox 19"/>
          <p:cNvSpPr txBox="1"/>
          <p:nvPr/>
        </p:nvSpPr>
        <p:spPr>
          <a:xfrm>
            <a:off x="830274" y="2273853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共同评测</a:t>
            </a:r>
            <a:endParaRPr lang="zh-CN" sz="2300"/>
          </a:p>
        </p:txBody>
      </p:sp>
      <p:sp>
        <p:nvSpPr>
          <p:cNvPr id="20" name="TextBox 20"/>
          <p:cNvSpPr txBox="1"/>
          <p:nvPr/>
        </p:nvSpPr>
        <p:spPr>
          <a:xfrm>
            <a:off x="830274" y="2951637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先导成本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30274" y="3622132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冻结规模</a:t>
            </a:r>
            <a:endParaRPr lang="zh-CN" sz="2300"/>
          </a:p>
        </p:txBody>
      </p:sp>
      <p:sp>
        <p:nvSpPr>
          <p:cNvPr id="22" name="TextBox 22"/>
          <p:cNvSpPr txBox="1"/>
          <p:nvPr/>
        </p:nvSpPr>
        <p:spPr>
          <a:xfrm>
            <a:off x="3042179" y="1115063"/>
            <a:ext cx="1698102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30" b="1">
                <a:solidFill>
                  <a:srgbClr val="073365"/>
                </a:solidFill>
                <a:latin typeface="Liberation Sans"/>
                <a:ea typeface="Liberation Sans"/>
                <a:cs typeface="Liberation Sans"/>
              </a:rPr>
              <a:t>M3—M5</a:t>
            </a:r>
            <a:endParaRPr lang="zh-CN" sz="2630"/>
          </a:p>
        </p:txBody>
      </p:sp>
      <p:sp>
        <p:nvSpPr>
          <p:cNvPr id="23" name="TextBox 23"/>
          <p:cNvSpPr txBox="1"/>
          <p:nvPr/>
        </p:nvSpPr>
        <p:spPr>
          <a:xfrm>
            <a:off x="3235311" y="2273853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保真压缩</a:t>
            </a:r>
            <a:endParaRPr lang="zh-CN" sz="2300"/>
          </a:p>
        </p:txBody>
      </p:sp>
      <p:sp>
        <p:nvSpPr>
          <p:cNvPr id="24" name="TextBox 24"/>
          <p:cNvSpPr txBox="1"/>
          <p:nvPr/>
        </p:nvSpPr>
        <p:spPr>
          <a:xfrm>
            <a:off x="3235311" y="2951637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状态消融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235311" y="3622132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来源索引</a:t>
            </a:r>
            <a:endParaRPr lang="zh-CN" sz="2300"/>
          </a:p>
        </p:txBody>
      </p:sp>
      <p:sp>
        <p:nvSpPr>
          <p:cNvPr id="26" name="TextBox 26"/>
          <p:cNvSpPr txBox="1"/>
          <p:nvPr/>
        </p:nvSpPr>
        <p:spPr>
          <a:xfrm>
            <a:off x="5337896" y="1115063"/>
            <a:ext cx="1741830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30" b="1">
                <a:solidFill>
                  <a:srgbClr val="073365"/>
                </a:solidFill>
                <a:latin typeface="Liberation Sans"/>
                <a:ea typeface="Liberation Sans"/>
                <a:cs typeface="Liberation Sans"/>
              </a:rPr>
              <a:t>M6—M8</a:t>
            </a:r>
            <a:endParaRPr lang="zh-CN" sz="2630"/>
          </a:p>
        </p:txBody>
      </p:sp>
      <p:sp>
        <p:nvSpPr>
          <p:cNvPr id="27" name="TextBox 27"/>
          <p:cNvSpPr txBox="1"/>
          <p:nvPr/>
        </p:nvSpPr>
        <p:spPr>
          <a:xfrm>
            <a:off x="5552892" y="2273853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有效恢复</a:t>
            </a:r>
            <a:endParaRPr lang="zh-CN" sz="2300"/>
          </a:p>
        </p:txBody>
      </p:sp>
      <p:sp>
        <p:nvSpPr>
          <p:cNvPr id="28" name="TextBox 28"/>
          <p:cNvSpPr txBox="1"/>
          <p:nvPr/>
        </p:nvSpPr>
        <p:spPr>
          <a:xfrm>
            <a:off x="5552892" y="2951637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交叉实验</a:t>
            </a:r>
            <a:endParaRPr lang="zh-CN" sz="2300"/>
          </a:p>
        </p:txBody>
      </p:sp>
      <p:sp>
        <p:nvSpPr>
          <p:cNvPr id="29" name="TextBox 29"/>
          <p:cNvSpPr txBox="1"/>
          <p:nvPr/>
        </p:nvSpPr>
        <p:spPr>
          <a:xfrm>
            <a:off x="5552892" y="3622132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失败复核</a:t>
            </a:r>
            <a:endParaRPr lang="zh-CN" sz="2300"/>
          </a:p>
        </p:txBody>
      </p:sp>
      <p:sp>
        <p:nvSpPr>
          <p:cNvPr id="30" name="TextBox 30"/>
          <p:cNvSpPr txBox="1"/>
          <p:nvPr/>
        </p:nvSpPr>
        <p:spPr>
          <a:xfrm>
            <a:off x="7691918" y="1115063"/>
            <a:ext cx="1741830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30" b="1">
                <a:solidFill>
                  <a:srgbClr val="073365"/>
                </a:solidFill>
                <a:latin typeface="Liberation Sans"/>
                <a:ea typeface="Liberation Sans"/>
                <a:cs typeface="Liberation Sans"/>
              </a:rPr>
              <a:t>M9—M10</a:t>
            </a:r>
            <a:endParaRPr lang="zh-CN" sz="2630"/>
          </a:p>
        </p:txBody>
      </p:sp>
      <p:sp>
        <p:nvSpPr>
          <p:cNvPr id="31" name="TextBox 31"/>
          <p:cNvSpPr txBox="1"/>
          <p:nvPr/>
        </p:nvSpPr>
        <p:spPr>
          <a:xfrm>
            <a:off x="7779374" y="2273853"/>
            <a:ext cx="156691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全开销调度</a:t>
            </a:r>
            <a:endParaRPr lang="zh-CN" sz="2300"/>
          </a:p>
        </p:txBody>
      </p:sp>
      <p:sp>
        <p:nvSpPr>
          <p:cNvPr id="32" name="TextBox 32"/>
          <p:cNvSpPr txBox="1"/>
          <p:nvPr/>
        </p:nvSpPr>
        <p:spPr>
          <a:xfrm>
            <a:off x="7906913" y="2951637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外部验证</a:t>
            </a:r>
            <a:endParaRPr lang="zh-CN" sz="2300"/>
          </a:p>
        </p:txBody>
      </p:sp>
      <p:sp>
        <p:nvSpPr>
          <p:cNvPr id="33" name="TextBox 33"/>
          <p:cNvSpPr txBox="1"/>
          <p:nvPr/>
        </p:nvSpPr>
        <p:spPr>
          <a:xfrm>
            <a:off x="7906913" y="3622132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成本权衡</a:t>
            </a:r>
            <a:endParaRPr lang="zh-CN" sz="2300"/>
          </a:p>
        </p:txBody>
      </p:sp>
      <p:sp>
        <p:nvSpPr>
          <p:cNvPr id="34" name="TextBox 34"/>
          <p:cNvSpPr txBox="1"/>
          <p:nvPr/>
        </p:nvSpPr>
        <p:spPr>
          <a:xfrm>
            <a:off x="10060515" y="1115063"/>
            <a:ext cx="1654374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30" b="1">
                <a:solidFill>
                  <a:srgbClr val="073365"/>
                </a:solidFill>
                <a:latin typeface="Liberation Sans"/>
                <a:ea typeface="Liberation Sans"/>
                <a:cs typeface="Liberation Sans"/>
              </a:rPr>
              <a:t>M11—M12</a:t>
            </a:r>
            <a:endParaRPr lang="zh-CN" sz="2630"/>
          </a:p>
        </p:txBody>
      </p:sp>
      <p:sp>
        <p:nvSpPr>
          <p:cNvPr id="35" name="TextBox 35"/>
          <p:cNvSpPr txBox="1"/>
          <p:nvPr/>
        </p:nvSpPr>
        <p:spPr>
          <a:xfrm>
            <a:off x="10231783" y="2273853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冻结版本</a:t>
            </a:r>
            <a:endParaRPr lang="zh-CN" sz="2300"/>
          </a:p>
        </p:txBody>
      </p:sp>
      <p:sp>
        <p:nvSpPr>
          <p:cNvPr id="36" name="TextBox 36"/>
          <p:cNvSpPr txBox="1"/>
          <p:nvPr/>
        </p:nvSpPr>
        <p:spPr>
          <a:xfrm>
            <a:off x="10002211" y="2951637"/>
            <a:ext cx="1770982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复跑核心比较</a:t>
            </a:r>
            <a:endParaRPr lang="zh-CN" sz="2300"/>
          </a:p>
        </p:txBody>
      </p:sp>
      <p:sp>
        <p:nvSpPr>
          <p:cNvPr id="37" name="TextBox 37"/>
          <p:cNvSpPr txBox="1"/>
          <p:nvPr/>
        </p:nvSpPr>
        <p:spPr>
          <a:xfrm>
            <a:off x="10231783" y="3622132"/>
            <a:ext cx="131183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整理交付</a:t>
            </a:r>
            <a:endParaRPr lang="zh-CN" sz="2300"/>
          </a:p>
        </p:txBody>
      </p:sp>
      <p:sp>
        <p:nvSpPr>
          <p:cNvPr id="38" name="TextBox 38"/>
          <p:cNvSpPr txBox="1"/>
          <p:nvPr/>
        </p:nvSpPr>
        <p:spPr>
          <a:xfrm>
            <a:off x="5009937" y="4970410"/>
            <a:ext cx="2186397" cy="5028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00" b="1">
                <a:solidFill>
                  <a:srgbClr val="073365"/>
                </a:solidFill>
                <a:latin typeface="Noto Sans CJK SC"/>
                <a:ea typeface="Noto Sans CJK SC"/>
                <a:cs typeface="Noto Sans CJK SC"/>
              </a:rPr>
              <a:t>暂定研究周期</a:t>
            </a:r>
            <a:endParaRPr lang="zh-CN" sz="2600"/>
          </a:p>
        </p:txBody>
      </p:sp>
      <p:sp>
        <p:nvSpPr>
          <p:cNvPr id="39" name="TextBox 39"/>
          <p:cNvSpPr txBox="1"/>
          <p:nvPr/>
        </p:nvSpPr>
        <p:spPr>
          <a:xfrm>
            <a:off x="3880298" y="5546162"/>
            <a:ext cx="4438387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相对启动月份，正式周期以合同为准</a:t>
            </a:r>
            <a:endParaRPr lang="zh-CN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7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
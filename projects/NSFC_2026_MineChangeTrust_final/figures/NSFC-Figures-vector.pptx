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42070" y="1103856"/>
            <a:ext cx="2419089" cy="4720747"/>
          </a:xfrm>
          <a:prstGeom prst="rect">
            <a:avLst/>
          </a:prstGeom>
          <a:solidFill>
            <a:srgbClr val="FFFFFF"/>
          </a:solidFill>
          <a:ln w="171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3218776" y="1103856"/>
            <a:ext cx="2771384" cy="2254685"/>
          </a:xfrm>
          <a:prstGeom prst="rect">
            <a:avLst/>
          </a:prstGeom>
          <a:solidFill>
            <a:srgbClr val="FFFFFF"/>
          </a:solidFill>
          <a:ln w="171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3218776" y="3593404"/>
            <a:ext cx="2771384" cy="2231199"/>
          </a:xfrm>
          <a:prstGeom prst="rect">
            <a:avLst/>
          </a:prstGeom>
          <a:solidFill>
            <a:srgbClr val="FFFFFF"/>
          </a:solidFill>
          <a:ln w="171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6647776" y="1103856"/>
            <a:ext cx="2606979" cy="4720747"/>
          </a:xfrm>
          <a:prstGeom prst="rect">
            <a:avLst/>
          </a:prstGeom>
          <a:solidFill>
            <a:srgbClr val="FFFFFF"/>
          </a:solidFill>
          <a:ln w="171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9865399" y="1103856"/>
            <a:ext cx="2184226" cy="4720747"/>
          </a:xfrm>
          <a:prstGeom prst="rect">
            <a:avLst/>
          </a:prstGeom>
          <a:solidFill>
            <a:srgbClr val="FFFFFF"/>
          </a:solidFill>
          <a:ln w="171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7152731" y="2195969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7469796" y="2195969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7786861" y="2195969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8103926" y="2195969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8420991" y="2195969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7152731" y="2513034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7469796" y="2513034"/>
            <a:ext cx="317065" cy="317065"/>
          </a:xfrm>
          <a:prstGeom prst="rect">
            <a:avLst/>
          </a:prstGeom>
          <a:solidFill>
            <a:srgbClr val="5BA0D0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7786861" y="2513034"/>
            <a:ext cx="317065" cy="317065"/>
          </a:xfrm>
          <a:prstGeom prst="rect">
            <a:avLst/>
          </a:prstGeom>
          <a:solidFill>
            <a:srgbClr val="5BA0D0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8103926" y="2513034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8420991" y="2513034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7152731" y="2830099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7469796" y="2830099"/>
            <a:ext cx="317065" cy="317065"/>
          </a:xfrm>
          <a:prstGeom prst="rect">
            <a:avLst/>
          </a:prstGeom>
          <a:solidFill>
            <a:srgbClr val="5BA0D0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7786861" y="2830099"/>
            <a:ext cx="317065" cy="317065"/>
          </a:xfrm>
          <a:prstGeom prst="rect">
            <a:avLst/>
          </a:prstGeom>
          <a:solidFill>
            <a:srgbClr val="5BA0D0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8103926" y="2830099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8420991" y="2830099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7152731" y="3147164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7469796" y="3147164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7786861" y="3147164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8103926" y="3147164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8420991" y="3147164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7152731" y="4192305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7469796" y="4192305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7786861" y="4192305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8103926" y="4192305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8420991" y="4192305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7152731" y="4509370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7469796" y="4509370"/>
            <a:ext cx="317065" cy="317065"/>
          </a:xfrm>
          <a:prstGeom prst="rect">
            <a:avLst/>
          </a:prstGeom>
          <a:solidFill>
            <a:srgbClr val="5BA0D0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7786861" y="4509370"/>
            <a:ext cx="317065" cy="317065"/>
          </a:xfrm>
          <a:prstGeom prst="rect">
            <a:avLst/>
          </a:prstGeom>
          <a:solidFill>
            <a:srgbClr val="5BA0D0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8103926" y="4509370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8420991" y="4509370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7152731" y="4826435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7469796" y="4826435"/>
            <a:ext cx="317065" cy="317065"/>
          </a:xfrm>
          <a:prstGeom prst="rect">
            <a:avLst/>
          </a:prstGeom>
          <a:solidFill>
            <a:srgbClr val="5BA0D0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7786861" y="4826435"/>
            <a:ext cx="317065" cy="317065"/>
          </a:xfrm>
          <a:prstGeom prst="rect">
            <a:avLst/>
          </a:prstGeom>
          <a:solidFill>
            <a:srgbClr val="5BA0D0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8103926" y="4826435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8420991" y="4826435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7152731" y="5143500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7469796" y="5143500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7786861" y="5143500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8103926" y="5143500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8420991" y="5143500"/>
            <a:ext cx="317065" cy="317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10158978" y="2278171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10558245" y="2278171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10957512" y="2278171"/>
            <a:ext cx="399267" cy="399267"/>
          </a:xfrm>
          <a:prstGeom prst="rect">
            <a:avLst/>
          </a:prstGeom>
          <a:solidFill>
            <a:srgbClr val="5BA0D0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11356779" y="2278171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10158978" y="2677438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10558245" y="2677438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10957512" y="2677438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11356779" y="2677438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10158978" y="3076705"/>
            <a:ext cx="399267" cy="399267"/>
          </a:xfrm>
          <a:prstGeom prst="rect">
            <a:avLst/>
          </a:prstGeom>
          <a:solidFill>
            <a:srgbClr val="5BA0D0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10558245" y="3076705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10957512" y="3076705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11356779" y="3076705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10158978" y="3475973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10558245" y="3475973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10957512" y="3475973"/>
            <a:ext cx="399267" cy="399267"/>
          </a:xfrm>
          <a:prstGeom prst="rect">
            <a:avLst/>
          </a:prstGeom>
          <a:solidFill>
            <a:srgbClr val="5BA0D0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11356779" y="3475973"/>
            <a:ext cx="399267" cy="399267"/>
          </a:xfrm>
          <a:prstGeom prst="rect">
            <a:avLst/>
          </a:prstGeom>
          <a:solidFill>
            <a:srgbClr val="FFFFFF"/>
          </a:solidFill>
          <a:ln w="1143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142070" y="1608812"/>
            <a:ext cx="2419089" cy="0"/>
          </a:xfrm>
          <a:prstGeom prst="line">
            <a:avLst/>
          </a:prstGeom>
          <a:noFill/>
          <a:ln w="1397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4" name="Polygon 64"/>
          <p:cNvSpPr/>
          <p:nvPr/>
        </p:nvSpPr>
        <p:spPr>
          <a:xfrm>
            <a:off x="584552" y="2137253"/>
            <a:ext cx="1600826" cy="8924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56"/>
                </a:moveTo>
                <a:lnTo>
                  <a:pt x="3600" y="3240"/>
                </a:lnTo>
                <a:lnTo>
                  <a:pt x="10125" y="0"/>
                </a:lnTo>
                <a:lnTo>
                  <a:pt x="16425" y="2808"/>
                </a:lnTo>
                <a:lnTo>
                  <a:pt x="18900" y="8424"/>
                </a:lnTo>
                <a:lnTo>
                  <a:pt x="21600" y="12744"/>
                </a:lnTo>
                <a:lnTo>
                  <a:pt x="16425" y="19224"/>
                </a:lnTo>
                <a:lnTo>
                  <a:pt x="8325" y="21600"/>
                </a:lnTo>
                <a:lnTo>
                  <a:pt x="1575" y="16848"/>
                </a:lnTo>
                <a:close/>
              </a:path>
            </a:pathLst>
          </a:custGeom>
          <a:noFill/>
          <a:ln w="2032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65" name="Polygon 65"/>
          <p:cNvSpPr/>
          <p:nvPr/>
        </p:nvSpPr>
        <p:spPr>
          <a:xfrm>
            <a:off x="887056" y="2313401"/>
            <a:ext cx="969515" cy="5166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56"/>
                </a:moveTo>
                <a:lnTo>
                  <a:pt x="3600" y="3240"/>
                </a:lnTo>
                <a:lnTo>
                  <a:pt x="10125" y="0"/>
                </a:lnTo>
                <a:lnTo>
                  <a:pt x="16425" y="2808"/>
                </a:lnTo>
                <a:lnTo>
                  <a:pt x="18900" y="8424"/>
                </a:lnTo>
                <a:lnTo>
                  <a:pt x="21600" y="12744"/>
                </a:lnTo>
                <a:lnTo>
                  <a:pt x="16425" y="19224"/>
                </a:lnTo>
                <a:lnTo>
                  <a:pt x="8325" y="21600"/>
                </a:lnTo>
                <a:lnTo>
                  <a:pt x="1575" y="16848"/>
                </a:lnTo>
                <a:close/>
              </a:path>
            </a:pathLst>
          </a:custGeom>
          <a:noFill/>
          <a:ln w="2032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66" name="Polygon 66"/>
          <p:cNvSpPr/>
          <p:nvPr/>
        </p:nvSpPr>
        <p:spPr>
          <a:xfrm>
            <a:off x="584552" y="4039644"/>
            <a:ext cx="1600826" cy="8924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56"/>
                </a:moveTo>
                <a:lnTo>
                  <a:pt x="3600" y="3240"/>
                </a:lnTo>
                <a:lnTo>
                  <a:pt x="10125" y="0"/>
                </a:lnTo>
                <a:lnTo>
                  <a:pt x="16425" y="2808"/>
                </a:lnTo>
                <a:lnTo>
                  <a:pt x="18900" y="8424"/>
                </a:lnTo>
                <a:lnTo>
                  <a:pt x="21600" y="12744"/>
                </a:lnTo>
                <a:lnTo>
                  <a:pt x="16425" y="19224"/>
                </a:lnTo>
                <a:lnTo>
                  <a:pt x="8325" y="21600"/>
                </a:lnTo>
                <a:lnTo>
                  <a:pt x="1575" y="16848"/>
                </a:lnTo>
                <a:close/>
              </a:path>
            </a:pathLst>
          </a:custGeom>
          <a:noFill/>
          <a:ln w="2032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67" name="Polygon 67"/>
          <p:cNvSpPr/>
          <p:nvPr/>
        </p:nvSpPr>
        <p:spPr>
          <a:xfrm>
            <a:off x="789822" y="4192305"/>
            <a:ext cx="1172436" cy="57541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56"/>
                </a:moveTo>
                <a:lnTo>
                  <a:pt x="3600" y="3240"/>
                </a:lnTo>
                <a:lnTo>
                  <a:pt x="10125" y="0"/>
                </a:lnTo>
                <a:lnTo>
                  <a:pt x="16425" y="2808"/>
                </a:lnTo>
                <a:lnTo>
                  <a:pt x="18900" y="8424"/>
                </a:lnTo>
                <a:lnTo>
                  <a:pt x="21600" y="12744"/>
                </a:lnTo>
                <a:lnTo>
                  <a:pt x="16425" y="19224"/>
                </a:lnTo>
                <a:lnTo>
                  <a:pt x="8325" y="21600"/>
                </a:lnTo>
                <a:lnTo>
                  <a:pt x="1575" y="16848"/>
                </a:lnTo>
                <a:close/>
              </a:path>
            </a:pathLst>
          </a:custGeom>
          <a:noFill/>
          <a:ln w="2032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329961" y="3335055"/>
            <a:ext cx="2043308" cy="0"/>
          </a:xfrm>
          <a:prstGeom prst="line">
            <a:avLst/>
          </a:prstGeom>
          <a:noFill/>
          <a:ln w="1270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2561159" y="3452486"/>
            <a:ext cx="317065" cy="0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2878224" y="2219455"/>
            <a:ext cx="0" cy="2489548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2878224" y="2219455"/>
            <a:ext cx="258349" cy="0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2" name="Polygon 72"/>
          <p:cNvSpPr/>
          <p:nvPr/>
        </p:nvSpPr>
        <p:spPr>
          <a:xfrm>
            <a:off x="3124830" y="2172483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E6B9E"/>
          </a:solidFill>
          <a:ln w="508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2878224" y="4709003"/>
            <a:ext cx="258349" cy="0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4" name="Polygon 74"/>
          <p:cNvSpPr/>
          <p:nvPr/>
        </p:nvSpPr>
        <p:spPr>
          <a:xfrm>
            <a:off x="3124830" y="4662031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E6B9E"/>
          </a:solidFill>
          <a:ln w="508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3218776" y="1608812"/>
            <a:ext cx="2771384" cy="0"/>
          </a:xfrm>
          <a:prstGeom prst="line">
            <a:avLst/>
          </a:prstGeom>
          <a:noFill/>
          <a:ln w="1397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6" name="Polygon 76"/>
          <p:cNvSpPr/>
          <p:nvPr/>
        </p:nvSpPr>
        <p:spPr>
          <a:xfrm>
            <a:off x="3736414" y="2160740"/>
            <a:ext cx="1431725" cy="69284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56"/>
                </a:moveTo>
                <a:lnTo>
                  <a:pt x="3600" y="3240"/>
                </a:lnTo>
                <a:lnTo>
                  <a:pt x="10125" y="0"/>
                </a:lnTo>
                <a:lnTo>
                  <a:pt x="16425" y="2808"/>
                </a:lnTo>
                <a:lnTo>
                  <a:pt x="18900" y="8424"/>
                </a:lnTo>
                <a:lnTo>
                  <a:pt x="21600" y="12744"/>
                </a:lnTo>
                <a:lnTo>
                  <a:pt x="16425" y="19224"/>
                </a:lnTo>
                <a:lnTo>
                  <a:pt x="8325" y="21600"/>
                </a:lnTo>
                <a:lnTo>
                  <a:pt x="1575" y="16848"/>
                </a:lnTo>
                <a:close/>
              </a:path>
            </a:pathLst>
          </a:custGeom>
          <a:noFill/>
          <a:ln w="2032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3441896" y="3135421"/>
            <a:ext cx="317065" cy="0"/>
          </a:xfrm>
          <a:prstGeom prst="line">
            <a:avLst/>
          </a:prstGeom>
          <a:noFill/>
          <a:ln w="2159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4686670" y="3135421"/>
            <a:ext cx="317065" cy="0"/>
          </a:xfrm>
          <a:prstGeom prst="line">
            <a:avLst/>
          </a:prstGeom>
          <a:noFill/>
          <a:ln w="21590">
            <a:solidFill>
              <a:srgbClr val="2E6B9E"/>
            </a:solidFill>
            <a:prstDash val="dash"/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3218776" y="4098360"/>
            <a:ext cx="2771384" cy="0"/>
          </a:xfrm>
          <a:prstGeom prst="line">
            <a:avLst/>
          </a:prstGeom>
          <a:noFill/>
          <a:ln w="1397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0" name="Polygon 80"/>
          <p:cNvSpPr/>
          <p:nvPr/>
        </p:nvSpPr>
        <p:spPr>
          <a:xfrm>
            <a:off x="3538189" y="4662031"/>
            <a:ext cx="901874" cy="669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56"/>
                </a:moveTo>
                <a:lnTo>
                  <a:pt x="3600" y="3240"/>
                </a:lnTo>
                <a:lnTo>
                  <a:pt x="10125" y="0"/>
                </a:lnTo>
                <a:lnTo>
                  <a:pt x="16425" y="2808"/>
                </a:lnTo>
                <a:lnTo>
                  <a:pt x="18900" y="8424"/>
                </a:lnTo>
                <a:lnTo>
                  <a:pt x="21600" y="12744"/>
                </a:lnTo>
                <a:lnTo>
                  <a:pt x="16425" y="19224"/>
                </a:lnTo>
                <a:lnTo>
                  <a:pt x="8325" y="21600"/>
                </a:lnTo>
                <a:lnTo>
                  <a:pt x="1575" y="16848"/>
                </a:lnTo>
                <a:close/>
              </a:path>
            </a:pathLst>
          </a:custGeom>
          <a:solidFill>
            <a:srgbClr val="E7E9EC"/>
          </a:solidFill>
          <a:ln w="2032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81" name="Polygon 81"/>
          <p:cNvSpPr/>
          <p:nvPr/>
        </p:nvSpPr>
        <p:spPr>
          <a:xfrm>
            <a:off x="4829936" y="4662031"/>
            <a:ext cx="901874" cy="669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56"/>
                </a:moveTo>
                <a:lnTo>
                  <a:pt x="3600" y="3240"/>
                </a:lnTo>
                <a:lnTo>
                  <a:pt x="10125" y="0"/>
                </a:lnTo>
                <a:lnTo>
                  <a:pt x="16425" y="2808"/>
                </a:lnTo>
                <a:lnTo>
                  <a:pt x="18900" y="8424"/>
                </a:lnTo>
                <a:lnTo>
                  <a:pt x="21600" y="12744"/>
                </a:lnTo>
                <a:lnTo>
                  <a:pt x="16425" y="19224"/>
                </a:lnTo>
                <a:lnTo>
                  <a:pt x="8325" y="21600"/>
                </a:lnTo>
                <a:lnTo>
                  <a:pt x="1575" y="16848"/>
                </a:lnTo>
                <a:close/>
              </a:path>
            </a:pathLst>
          </a:custGeom>
          <a:solidFill>
            <a:srgbClr val="5BA0D0"/>
          </a:solidFill>
          <a:ln w="2032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5990159" y="2219455"/>
            <a:ext cx="328808" cy="0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5990159" y="4709003"/>
            <a:ext cx="328808" cy="0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6318967" y="2219455"/>
            <a:ext cx="0" cy="2489548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6318967" y="3475973"/>
            <a:ext cx="246606" cy="0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6" name="Polygon 86"/>
          <p:cNvSpPr/>
          <p:nvPr/>
        </p:nvSpPr>
        <p:spPr>
          <a:xfrm>
            <a:off x="6553830" y="3429000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E6B9E"/>
          </a:solidFill>
          <a:ln w="508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6647776" y="1608812"/>
            <a:ext cx="2606979" cy="0"/>
          </a:xfrm>
          <a:prstGeom prst="line">
            <a:avLst/>
          </a:prstGeom>
          <a:noFill/>
          <a:ln w="1397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9254755" y="3475973"/>
            <a:ext cx="528442" cy="0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9" name="Polygon 89"/>
          <p:cNvSpPr/>
          <p:nvPr/>
        </p:nvSpPr>
        <p:spPr>
          <a:xfrm>
            <a:off x="9771454" y="3429000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E6B9E"/>
          </a:solidFill>
          <a:ln w="508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9865399" y="1608812"/>
            <a:ext cx="2184226" cy="0"/>
          </a:xfrm>
          <a:prstGeom prst="line">
            <a:avLst/>
          </a:prstGeom>
          <a:noFill/>
          <a:ln w="1397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6647776" y="6212127"/>
            <a:ext cx="258349" cy="211377"/>
          </a:xfrm>
          <a:prstGeom prst="rect">
            <a:avLst/>
          </a:prstGeom>
          <a:solidFill>
            <a:srgbClr val="5BA0D0"/>
          </a:solidFill>
          <a:ln w="889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8068697" y="6212127"/>
            <a:ext cx="258349" cy="211377"/>
          </a:xfrm>
          <a:prstGeom prst="rect">
            <a:avLst/>
          </a:prstGeom>
          <a:noFill/>
          <a:ln w="2286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93" name="Polygon 93"/>
          <p:cNvSpPr/>
          <p:nvPr/>
        </p:nvSpPr>
        <p:spPr>
          <a:xfrm>
            <a:off x="3735474" y="2078538"/>
            <a:ext cx="1597068" cy="84550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9300"/>
                </a:moveTo>
                <a:lnTo>
                  <a:pt x="3176" y="3300"/>
                </a:lnTo>
                <a:lnTo>
                  <a:pt x="9371" y="0"/>
                </a:lnTo>
                <a:lnTo>
                  <a:pt x="16200" y="1500"/>
                </a:lnTo>
                <a:lnTo>
                  <a:pt x="20329" y="6000"/>
                </a:lnTo>
                <a:lnTo>
                  <a:pt x="21600" y="12600"/>
                </a:lnTo>
                <a:lnTo>
                  <a:pt x="17947" y="19500"/>
                </a:lnTo>
                <a:lnTo>
                  <a:pt x="10482" y="21600"/>
                </a:lnTo>
                <a:lnTo>
                  <a:pt x="3335" y="18000"/>
                </a:lnTo>
                <a:close/>
              </a:path>
            </a:pathLst>
          </a:custGeom>
          <a:noFill/>
          <a:ln w="21590">
            <a:solidFill>
              <a:srgbClr val="2E6B9E"/>
            </a:solidFill>
            <a:prstDash val="dash"/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7446310" y="2489548"/>
            <a:ext cx="998168" cy="681103"/>
          </a:xfrm>
          <a:prstGeom prst="rect">
            <a:avLst/>
          </a:prstGeom>
          <a:noFill/>
          <a:ln w="254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7446310" y="4485884"/>
            <a:ext cx="364038" cy="681103"/>
          </a:xfrm>
          <a:prstGeom prst="rect">
            <a:avLst/>
          </a:prstGeom>
          <a:noFill/>
          <a:ln w="254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6013646" y="3006247"/>
            <a:ext cx="610644" cy="3522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TextBox 97"/>
          <p:cNvSpPr txBox="1"/>
          <p:nvPr/>
        </p:nvSpPr>
        <p:spPr>
          <a:xfrm>
            <a:off x="189043" y="1186058"/>
            <a:ext cx="2325144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矿山地表</a:t>
            </a:r>
            <a:endParaRPr lang="zh-CN" sz="1850"/>
          </a:p>
        </p:txBody>
      </p:sp>
      <p:sp>
        <p:nvSpPr>
          <p:cNvPr id="98" name="TextBox 98"/>
          <p:cNvSpPr txBox="1"/>
          <p:nvPr/>
        </p:nvSpPr>
        <p:spPr>
          <a:xfrm>
            <a:off x="282988" y="1679271"/>
            <a:ext cx="2137253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第1期观测</a:t>
            </a:r>
            <a:endParaRPr lang="zh-CN" sz="1650"/>
          </a:p>
        </p:txBody>
      </p:sp>
      <p:sp>
        <p:nvSpPr>
          <p:cNvPr id="99" name="TextBox 99"/>
          <p:cNvSpPr txBox="1"/>
          <p:nvPr/>
        </p:nvSpPr>
        <p:spPr>
          <a:xfrm>
            <a:off x="282988" y="3593404"/>
            <a:ext cx="2137253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第2期观测</a:t>
            </a:r>
            <a:endParaRPr lang="zh-CN" sz="1650"/>
          </a:p>
        </p:txBody>
      </p:sp>
      <p:sp>
        <p:nvSpPr>
          <p:cNvPr id="100" name="TextBox 100"/>
          <p:cNvSpPr txBox="1"/>
          <p:nvPr/>
        </p:nvSpPr>
        <p:spPr>
          <a:xfrm>
            <a:off x="236015" y="5272675"/>
            <a:ext cx="2231199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两期影像对照</a:t>
            </a:r>
            <a:endParaRPr lang="zh-CN" sz="1650"/>
          </a:p>
        </p:txBody>
      </p:sp>
      <p:sp>
        <p:nvSpPr>
          <p:cNvPr id="101" name="TextBox 101"/>
          <p:cNvSpPr txBox="1"/>
          <p:nvPr/>
        </p:nvSpPr>
        <p:spPr>
          <a:xfrm>
            <a:off x="3265748" y="1186058"/>
            <a:ext cx="2677438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真实变化</a:t>
            </a:r>
            <a:endParaRPr lang="zh-CN" sz="1850"/>
          </a:p>
        </p:txBody>
      </p:sp>
      <p:sp>
        <p:nvSpPr>
          <p:cNvPr id="102" name="TextBox 102"/>
          <p:cNvSpPr txBox="1"/>
          <p:nvPr/>
        </p:nvSpPr>
        <p:spPr>
          <a:xfrm>
            <a:off x="3300978" y="1644041"/>
            <a:ext cx="2606979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边界改变</a:t>
            </a:r>
            <a:endParaRPr lang="zh-CN" sz="1650"/>
          </a:p>
        </p:txBody>
      </p:sp>
      <p:sp>
        <p:nvSpPr>
          <p:cNvPr id="103" name="TextBox 103"/>
          <p:cNvSpPr txBox="1"/>
          <p:nvPr/>
        </p:nvSpPr>
        <p:spPr>
          <a:xfrm>
            <a:off x="3817676" y="2935788"/>
            <a:ext cx="798534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第1期</a:t>
            </a:r>
            <a:endParaRPr lang="zh-CN" sz="1650"/>
          </a:p>
        </p:txBody>
      </p:sp>
      <p:sp>
        <p:nvSpPr>
          <p:cNvPr id="104" name="TextBox 104"/>
          <p:cNvSpPr txBox="1"/>
          <p:nvPr/>
        </p:nvSpPr>
        <p:spPr>
          <a:xfrm>
            <a:off x="5062450" y="2935788"/>
            <a:ext cx="798534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第2期</a:t>
            </a:r>
            <a:endParaRPr lang="zh-CN" sz="1650"/>
          </a:p>
        </p:txBody>
      </p:sp>
      <p:sp>
        <p:nvSpPr>
          <p:cNvPr id="105" name="TextBox 105"/>
          <p:cNvSpPr txBox="1"/>
          <p:nvPr/>
        </p:nvSpPr>
        <p:spPr>
          <a:xfrm>
            <a:off x="3265748" y="3675606"/>
            <a:ext cx="2677438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外观差异</a:t>
            </a:r>
            <a:endParaRPr lang="zh-CN" sz="1850"/>
          </a:p>
        </p:txBody>
      </p:sp>
      <p:sp>
        <p:nvSpPr>
          <p:cNvPr id="106" name="TextBox 106"/>
          <p:cNvSpPr txBox="1"/>
          <p:nvPr/>
        </p:nvSpPr>
        <p:spPr>
          <a:xfrm>
            <a:off x="3300978" y="4133589"/>
            <a:ext cx="2606979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边界不变</a:t>
            </a:r>
            <a:endParaRPr lang="zh-CN" sz="1650"/>
          </a:p>
        </p:txBody>
      </p:sp>
      <p:sp>
        <p:nvSpPr>
          <p:cNvPr id="107" name="TextBox 107"/>
          <p:cNvSpPr txBox="1"/>
          <p:nvPr/>
        </p:nvSpPr>
        <p:spPr>
          <a:xfrm>
            <a:off x="3418409" y="5448822"/>
            <a:ext cx="1127342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第1期</a:t>
            </a:r>
            <a:endParaRPr lang="zh-CN" sz="1650"/>
          </a:p>
        </p:txBody>
      </p:sp>
      <p:sp>
        <p:nvSpPr>
          <p:cNvPr id="108" name="TextBox 108"/>
          <p:cNvSpPr txBox="1"/>
          <p:nvPr/>
        </p:nvSpPr>
        <p:spPr>
          <a:xfrm>
            <a:off x="4710156" y="5448822"/>
            <a:ext cx="1127342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第2期</a:t>
            </a:r>
            <a:endParaRPr lang="zh-CN" sz="1650"/>
          </a:p>
        </p:txBody>
      </p:sp>
      <p:sp>
        <p:nvSpPr>
          <p:cNvPr id="109" name="TextBox 109"/>
          <p:cNvSpPr txBox="1"/>
          <p:nvPr/>
        </p:nvSpPr>
        <p:spPr>
          <a:xfrm>
            <a:off x="6013646" y="3006247"/>
            <a:ext cx="610644" cy="352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需检验</a:t>
            </a:r>
            <a:endParaRPr lang="zh-CN" sz="1550"/>
          </a:p>
        </p:txBody>
      </p:sp>
      <p:sp>
        <p:nvSpPr>
          <p:cNvPr id="110" name="TextBox 110"/>
          <p:cNvSpPr txBox="1"/>
          <p:nvPr/>
        </p:nvSpPr>
        <p:spPr>
          <a:xfrm>
            <a:off x="6694748" y="1186058"/>
            <a:ext cx="2513034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误报与漏检</a:t>
            </a:r>
            <a:endParaRPr lang="zh-CN" sz="1850"/>
          </a:p>
        </p:txBody>
      </p:sp>
      <p:sp>
        <p:nvSpPr>
          <p:cNvPr id="111" name="TextBox 111"/>
          <p:cNvSpPr txBox="1"/>
          <p:nvPr/>
        </p:nvSpPr>
        <p:spPr>
          <a:xfrm>
            <a:off x="6741721" y="1702757"/>
            <a:ext cx="2419089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误报：未变判为变化</a:t>
            </a:r>
            <a:endParaRPr lang="zh-CN" sz="1650"/>
          </a:p>
        </p:txBody>
      </p:sp>
      <p:sp>
        <p:nvSpPr>
          <p:cNvPr id="112" name="TextBox 112"/>
          <p:cNvSpPr txBox="1"/>
          <p:nvPr/>
        </p:nvSpPr>
        <p:spPr>
          <a:xfrm>
            <a:off x="6741721" y="3757808"/>
            <a:ext cx="2419089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漏检：变化判为未变</a:t>
            </a:r>
            <a:endParaRPr lang="zh-CN" sz="1650"/>
          </a:p>
        </p:txBody>
      </p:sp>
      <p:sp>
        <p:nvSpPr>
          <p:cNvPr id="113" name="TextBox 113"/>
          <p:cNvSpPr txBox="1"/>
          <p:nvPr/>
        </p:nvSpPr>
        <p:spPr>
          <a:xfrm>
            <a:off x="9278241" y="3088449"/>
            <a:ext cx="563671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4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需区分</a:t>
            </a:r>
            <a:endParaRPr lang="zh-CN" sz="1440"/>
          </a:p>
        </p:txBody>
      </p:sp>
      <p:sp>
        <p:nvSpPr>
          <p:cNvPr id="114" name="TextBox 114"/>
          <p:cNvSpPr txBox="1"/>
          <p:nvPr/>
        </p:nvSpPr>
        <p:spPr>
          <a:xfrm>
            <a:off x="9912372" y="1186058"/>
            <a:ext cx="2090281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可信复核</a:t>
            </a:r>
            <a:endParaRPr lang="zh-CN" sz="1850"/>
          </a:p>
        </p:txBody>
      </p:sp>
      <p:sp>
        <p:nvSpPr>
          <p:cNvPr id="115" name="TextBox 115"/>
          <p:cNvSpPr txBox="1"/>
          <p:nvPr/>
        </p:nvSpPr>
        <p:spPr>
          <a:xfrm>
            <a:off x="9971087" y="1702757"/>
            <a:ext cx="1972849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有限面积</a:t>
            </a:r>
            <a:endParaRPr lang="zh-CN" sz="1650"/>
          </a:p>
        </p:txBody>
      </p:sp>
      <p:sp>
        <p:nvSpPr>
          <p:cNvPr id="116" name="TextBox 116"/>
          <p:cNvSpPr txBox="1"/>
          <p:nvPr/>
        </p:nvSpPr>
        <p:spPr>
          <a:xfrm>
            <a:off x="9947601" y="4110103"/>
            <a:ext cx="2019822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着色窗口优先复核</a:t>
            </a:r>
            <a:endParaRPr lang="zh-CN" sz="1650"/>
          </a:p>
        </p:txBody>
      </p:sp>
      <p:sp>
        <p:nvSpPr>
          <p:cNvPr id="117" name="TextBox 117"/>
          <p:cNvSpPr txBox="1"/>
          <p:nvPr/>
        </p:nvSpPr>
        <p:spPr>
          <a:xfrm>
            <a:off x="9924115" y="4521113"/>
            <a:ext cx="2066795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全图窗口参与排序</a:t>
            </a:r>
            <a:endParaRPr lang="zh-CN" sz="1650"/>
          </a:p>
        </p:txBody>
      </p:sp>
      <p:sp>
        <p:nvSpPr>
          <p:cNvPr id="118" name="TextBox 118"/>
          <p:cNvSpPr txBox="1"/>
          <p:nvPr/>
        </p:nvSpPr>
        <p:spPr>
          <a:xfrm>
            <a:off x="9947601" y="4932123"/>
            <a:ext cx="2019822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含预测未变区域</a:t>
            </a:r>
            <a:endParaRPr lang="zh-CN" sz="1650"/>
          </a:p>
        </p:txBody>
      </p:sp>
      <p:sp>
        <p:nvSpPr>
          <p:cNvPr id="119" name="TextBox 119"/>
          <p:cNvSpPr txBox="1"/>
          <p:nvPr/>
        </p:nvSpPr>
        <p:spPr>
          <a:xfrm>
            <a:off x="9912372" y="5343134"/>
            <a:ext cx="2090281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评价剩余误报与漏检</a:t>
            </a:r>
            <a:endParaRPr lang="zh-CN" sz="1650"/>
          </a:p>
        </p:txBody>
      </p:sp>
      <p:sp>
        <p:nvSpPr>
          <p:cNvPr id="120" name="TextBox 120"/>
          <p:cNvSpPr txBox="1"/>
          <p:nvPr/>
        </p:nvSpPr>
        <p:spPr>
          <a:xfrm>
            <a:off x="165557" y="6165154"/>
            <a:ext cx="1315233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概念示意</a:t>
            </a:r>
            <a:endParaRPr lang="zh-CN" sz="1650"/>
          </a:p>
        </p:txBody>
      </p:sp>
      <p:sp>
        <p:nvSpPr>
          <p:cNvPr id="121" name="TextBox 121"/>
          <p:cNvSpPr txBox="1"/>
          <p:nvPr/>
        </p:nvSpPr>
        <p:spPr>
          <a:xfrm>
            <a:off x="6964841" y="6106438"/>
            <a:ext cx="1033397" cy="3875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真实变化</a:t>
            </a:r>
            <a:endParaRPr lang="zh-CN" sz="1650"/>
          </a:p>
        </p:txBody>
      </p:sp>
      <p:sp>
        <p:nvSpPr>
          <p:cNvPr id="122" name="TextBox 122"/>
          <p:cNvSpPr txBox="1"/>
          <p:nvPr/>
        </p:nvSpPr>
        <p:spPr>
          <a:xfrm>
            <a:off x="8385762" y="6106438"/>
            <a:ext cx="1033397" cy="3875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预测区域</a:t>
            </a:r>
            <a:endParaRPr lang="zh-CN" sz="16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152" y="0"/>
            <a:ext cx="1218939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189043" y="1350462"/>
            <a:ext cx="1714500" cy="3288082"/>
          </a:xfrm>
          <a:prstGeom prst="rect">
            <a:avLst/>
          </a:prstGeom>
          <a:solidFill>
            <a:srgbClr val="FFFFFF"/>
          </a:solidFill>
          <a:ln w="2032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2232351" y="1350462"/>
            <a:ext cx="2019822" cy="3288082"/>
          </a:xfrm>
          <a:prstGeom prst="rect">
            <a:avLst/>
          </a:prstGeom>
          <a:solidFill>
            <a:srgbClr val="FFFFFF"/>
          </a:solidFill>
          <a:ln w="2032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4580981" y="1350462"/>
            <a:ext cx="2348630" cy="3288082"/>
          </a:xfrm>
          <a:prstGeom prst="rect">
            <a:avLst/>
          </a:prstGeom>
          <a:solidFill>
            <a:srgbClr val="FFFFFF"/>
          </a:solidFill>
          <a:ln w="2032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7258420" y="1350462"/>
            <a:ext cx="2536521" cy="3288082"/>
          </a:xfrm>
          <a:prstGeom prst="rect">
            <a:avLst/>
          </a:prstGeom>
          <a:solidFill>
            <a:srgbClr val="FFFFFF"/>
          </a:solidFill>
          <a:ln w="2032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10123748" y="1350462"/>
            <a:ext cx="1878904" cy="3288082"/>
          </a:xfrm>
          <a:prstGeom prst="rect">
            <a:avLst/>
          </a:prstGeom>
          <a:solidFill>
            <a:srgbClr val="FFFFFF"/>
          </a:solidFill>
          <a:ln w="2032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2467214" y="2548264"/>
            <a:ext cx="1550096" cy="352295"/>
          </a:xfrm>
          <a:prstGeom prst="rect">
            <a:avLst/>
          </a:prstGeom>
          <a:solidFill>
            <a:srgbClr val="FFFFFF"/>
          </a:solidFill>
          <a:ln w="10160">
            <a:solidFill>
              <a:srgbClr val="C9D7E1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2467214" y="2971017"/>
            <a:ext cx="1550096" cy="352295"/>
          </a:xfrm>
          <a:prstGeom prst="rect">
            <a:avLst/>
          </a:prstGeom>
          <a:solidFill>
            <a:srgbClr val="FFFFFF"/>
          </a:solidFill>
          <a:ln w="10160">
            <a:solidFill>
              <a:srgbClr val="C9D7E1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2467214" y="3393771"/>
            <a:ext cx="1550096" cy="352295"/>
          </a:xfrm>
          <a:prstGeom prst="rect">
            <a:avLst/>
          </a:prstGeom>
          <a:solidFill>
            <a:srgbClr val="FFFFFF"/>
          </a:solidFill>
          <a:ln w="10160">
            <a:solidFill>
              <a:srgbClr val="C9D7E1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4757128" y="2548264"/>
            <a:ext cx="939452" cy="49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4757128" y="2548264"/>
            <a:ext cx="46973" cy="493212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5814012" y="2548264"/>
            <a:ext cx="939452" cy="49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5814012" y="2548264"/>
            <a:ext cx="46973" cy="493212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4757128" y="3194137"/>
            <a:ext cx="939452" cy="49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4757128" y="3194137"/>
            <a:ext cx="46973" cy="493212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5814012" y="3194137"/>
            <a:ext cx="939452" cy="49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5814012" y="3194137"/>
            <a:ext cx="46973" cy="493212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7822091" y="2888815"/>
            <a:ext cx="352295" cy="293579"/>
          </a:xfrm>
          <a:prstGeom prst="rect">
            <a:avLst/>
          </a:prstGeom>
          <a:solidFill>
            <a:srgbClr val="FFFFFF"/>
          </a:solidFill>
          <a:ln w="1079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8174385" y="2888815"/>
            <a:ext cx="352295" cy="293579"/>
          </a:xfrm>
          <a:prstGeom prst="rect">
            <a:avLst/>
          </a:prstGeom>
          <a:solidFill>
            <a:srgbClr val="E8F1F7"/>
          </a:solidFill>
          <a:ln w="1079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8526680" y="2888815"/>
            <a:ext cx="352295" cy="293579"/>
          </a:xfrm>
          <a:prstGeom prst="rect">
            <a:avLst/>
          </a:prstGeom>
          <a:solidFill>
            <a:srgbClr val="FFFFFF"/>
          </a:solidFill>
          <a:ln w="1079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8878974" y="2888815"/>
            <a:ext cx="352295" cy="293579"/>
          </a:xfrm>
          <a:prstGeom prst="rect">
            <a:avLst/>
          </a:prstGeom>
          <a:solidFill>
            <a:srgbClr val="FFFFFF"/>
          </a:solidFill>
          <a:ln w="1079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7822091" y="3182394"/>
            <a:ext cx="352295" cy="293579"/>
          </a:xfrm>
          <a:prstGeom prst="rect">
            <a:avLst/>
          </a:prstGeom>
          <a:solidFill>
            <a:srgbClr val="FFFFFF"/>
          </a:solidFill>
          <a:ln w="1079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8174385" y="3182394"/>
            <a:ext cx="352295" cy="293579"/>
          </a:xfrm>
          <a:prstGeom prst="rect">
            <a:avLst/>
          </a:prstGeom>
          <a:solidFill>
            <a:srgbClr val="FFFFFF"/>
          </a:solidFill>
          <a:ln w="1079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8526680" y="3182394"/>
            <a:ext cx="352295" cy="293579"/>
          </a:xfrm>
          <a:prstGeom prst="rect">
            <a:avLst/>
          </a:prstGeom>
          <a:solidFill>
            <a:srgbClr val="FFFFFF"/>
          </a:solidFill>
          <a:ln w="1079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8878974" y="3182394"/>
            <a:ext cx="352295" cy="293579"/>
          </a:xfrm>
          <a:prstGeom prst="rect">
            <a:avLst/>
          </a:prstGeom>
          <a:solidFill>
            <a:srgbClr val="E8F1F7"/>
          </a:solidFill>
          <a:ln w="1079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7822091" y="3475973"/>
            <a:ext cx="352295" cy="293579"/>
          </a:xfrm>
          <a:prstGeom prst="rect">
            <a:avLst/>
          </a:prstGeom>
          <a:solidFill>
            <a:srgbClr val="E8F1F7"/>
          </a:solidFill>
          <a:ln w="1079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8174385" y="3475973"/>
            <a:ext cx="352295" cy="293579"/>
          </a:xfrm>
          <a:prstGeom prst="rect">
            <a:avLst/>
          </a:prstGeom>
          <a:solidFill>
            <a:srgbClr val="FFFFFF"/>
          </a:solidFill>
          <a:ln w="1079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8526680" y="3475973"/>
            <a:ext cx="352295" cy="293579"/>
          </a:xfrm>
          <a:prstGeom prst="rect">
            <a:avLst/>
          </a:prstGeom>
          <a:solidFill>
            <a:srgbClr val="FFFFFF"/>
          </a:solidFill>
          <a:ln w="1079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8878974" y="3475973"/>
            <a:ext cx="352295" cy="293579"/>
          </a:xfrm>
          <a:prstGeom prst="rect">
            <a:avLst/>
          </a:prstGeom>
          <a:solidFill>
            <a:srgbClr val="FFFFFF"/>
          </a:solidFill>
          <a:ln w="1079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10346868" y="2548264"/>
            <a:ext cx="1432664" cy="352295"/>
          </a:xfrm>
          <a:prstGeom prst="rect">
            <a:avLst/>
          </a:prstGeom>
          <a:solidFill>
            <a:srgbClr val="FFFFFF"/>
          </a:solidFill>
          <a:ln w="10160">
            <a:solidFill>
              <a:srgbClr val="C9D7E1"/>
            </a:solidFill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10346868" y="2971017"/>
            <a:ext cx="1432664" cy="352295"/>
          </a:xfrm>
          <a:prstGeom prst="rect">
            <a:avLst/>
          </a:prstGeom>
          <a:solidFill>
            <a:srgbClr val="FFFFFF"/>
          </a:solidFill>
          <a:ln w="10160">
            <a:solidFill>
              <a:srgbClr val="C9D7E1"/>
            </a:solidFill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10346868" y="3393771"/>
            <a:ext cx="1432664" cy="352295"/>
          </a:xfrm>
          <a:prstGeom prst="rect">
            <a:avLst/>
          </a:prstGeom>
          <a:solidFill>
            <a:srgbClr val="FFFFFF"/>
          </a:solidFill>
          <a:ln w="10160">
            <a:solidFill>
              <a:srgbClr val="C9D7E1"/>
            </a:solidFill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1762625" y="5225702"/>
            <a:ext cx="8666445" cy="1080370"/>
          </a:xfrm>
          <a:prstGeom prst="rect">
            <a:avLst/>
          </a:prstGeom>
          <a:solidFill>
            <a:srgbClr val="FFFFFF"/>
          </a:solidFill>
          <a:ln w="13970">
            <a:solidFill>
              <a:srgbClr val="5BA0D0"/>
            </a:solidFill>
            <a:prstDash val="dash"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412163" y="2536521"/>
            <a:ext cx="868993" cy="868993"/>
          </a:xfrm>
          <a:prstGeom prst="rect">
            <a:avLst/>
          </a:prstGeom>
          <a:solidFill>
            <a:srgbClr val="FFFFFF"/>
          </a:solidFill>
          <a:ln w="1397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702218" y="2536521"/>
            <a:ext cx="0" cy="868993"/>
          </a:xfrm>
          <a:prstGeom prst="line">
            <a:avLst/>
          </a:prstGeom>
          <a:noFill/>
          <a:ln w="8255">
            <a:solidFill>
              <a:srgbClr val="CDD6DC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412163" y="2826576"/>
            <a:ext cx="868993" cy="0"/>
          </a:xfrm>
          <a:prstGeom prst="line">
            <a:avLst/>
          </a:prstGeom>
          <a:noFill/>
          <a:ln w="8255">
            <a:solidFill>
              <a:srgbClr val="CDD6DC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992274" y="2536521"/>
            <a:ext cx="0" cy="868993"/>
          </a:xfrm>
          <a:prstGeom prst="line">
            <a:avLst/>
          </a:prstGeom>
          <a:noFill/>
          <a:ln w="8255">
            <a:solidFill>
              <a:srgbClr val="CDD6DC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412163" y="3116632"/>
            <a:ext cx="868993" cy="0"/>
          </a:xfrm>
          <a:prstGeom prst="line">
            <a:avLst/>
          </a:prstGeom>
          <a:noFill/>
          <a:ln w="8255">
            <a:solidFill>
              <a:srgbClr val="CDD6DC"/>
            </a:solidFill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729228" y="2841842"/>
            <a:ext cx="868993" cy="868993"/>
          </a:xfrm>
          <a:prstGeom prst="rect">
            <a:avLst/>
          </a:prstGeom>
          <a:solidFill>
            <a:srgbClr val="FFFFFF"/>
          </a:solidFill>
          <a:ln w="1397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1019284" y="2841842"/>
            <a:ext cx="0" cy="868993"/>
          </a:xfrm>
          <a:prstGeom prst="line">
            <a:avLst/>
          </a:prstGeom>
          <a:noFill/>
          <a:ln w="8255">
            <a:solidFill>
              <a:srgbClr val="CDD6DC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729228" y="3131898"/>
            <a:ext cx="868993" cy="0"/>
          </a:xfrm>
          <a:prstGeom prst="line">
            <a:avLst/>
          </a:prstGeom>
          <a:noFill/>
          <a:ln w="8255">
            <a:solidFill>
              <a:srgbClr val="CDD6DC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1309339" y="2841842"/>
            <a:ext cx="0" cy="868993"/>
          </a:xfrm>
          <a:prstGeom prst="line">
            <a:avLst/>
          </a:prstGeom>
          <a:noFill/>
          <a:ln w="8255">
            <a:solidFill>
              <a:srgbClr val="CDD6DC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729228" y="3421954"/>
            <a:ext cx="868993" cy="0"/>
          </a:xfrm>
          <a:prstGeom prst="line">
            <a:avLst/>
          </a:prstGeom>
          <a:noFill/>
          <a:ln w="8255">
            <a:solidFill>
              <a:srgbClr val="CDD6DC"/>
            </a:solidFill>
          </a:ln>
        </p:spPr>
        <p:txBody>
          <a:bodyPr/>
          <a:lstStyle/>
          <a:p/>
        </p:txBody>
      </p:sp>
      <p:sp>
        <p:nvSpPr>
          <p:cNvPr id="45" name="Freeform 45"/>
          <p:cNvSpPr/>
          <p:nvPr/>
        </p:nvSpPr>
        <p:spPr>
          <a:xfrm>
            <a:off x="506108" y="2736154"/>
            <a:ext cx="622387" cy="55192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7464"/>
                </a:moveTo>
                <a:lnTo>
                  <a:pt x="4483" y="7813"/>
                </a:lnTo>
                <a:lnTo>
                  <a:pt x="14264" y="0"/>
                </a:lnTo>
                <a:lnTo>
                  <a:pt x="21600" y="4136"/>
                </a:lnTo>
                <a:lnTo>
                  <a:pt x="19970" y="15166"/>
                </a:lnTo>
                <a:lnTo>
                  <a:pt x="12634" y="21600"/>
                </a:lnTo>
                <a:close/>
              </a:path>
            </a:pathLst>
          </a:custGeom>
          <a:solidFill>
            <a:srgbClr val="E8F1F7"/>
          </a:solidFill>
          <a:ln w="1016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46" name="Freeform 46"/>
          <p:cNvSpPr/>
          <p:nvPr/>
        </p:nvSpPr>
        <p:spPr>
          <a:xfrm>
            <a:off x="823173" y="3041476"/>
            <a:ext cx="622387" cy="55192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7464"/>
                </a:moveTo>
                <a:lnTo>
                  <a:pt x="4483" y="7813"/>
                </a:lnTo>
                <a:lnTo>
                  <a:pt x="14264" y="0"/>
                </a:lnTo>
                <a:lnTo>
                  <a:pt x="21600" y="4136"/>
                </a:lnTo>
                <a:lnTo>
                  <a:pt x="19970" y="15166"/>
                </a:lnTo>
                <a:lnTo>
                  <a:pt x="12634" y="21600"/>
                </a:lnTo>
                <a:close/>
              </a:path>
            </a:pathLst>
          </a:custGeom>
          <a:solidFill>
            <a:srgbClr val="E8F1F7"/>
          </a:solidFill>
          <a:ln w="1016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200786" y="1362205"/>
            <a:ext cx="1691014" cy="0"/>
          </a:xfrm>
          <a:prstGeom prst="line">
            <a:avLst/>
          </a:prstGeom>
          <a:noFill/>
          <a:ln w="381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189043" y="1925877"/>
            <a:ext cx="1714500" cy="0"/>
          </a:xfrm>
          <a:prstGeom prst="line">
            <a:avLst/>
          </a:prstGeom>
          <a:noFill/>
          <a:ln w="1397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2244094" y="1362205"/>
            <a:ext cx="1996336" cy="0"/>
          </a:xfrm>
          <a:prstGeom prst="line">
            <a:avLst/>
          </a:prstGeom>
          <a:noFill/>
          <a:ln w="381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2232351" y="1925877"/>
            <a:ext cx="2019822" cy="0"/>
          </a:xfrm>
          <a:prstGeom prst="line">
            <a:avLst/>
          </a:prstGeom>
          <a:noFill/>
          <a:ln w="1397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4592724" y="1362205"/>
            <a:ext cx="2325144" cy="0"/>
          </a:xfrm>
          <a:prstGeom prst="line">
            <a:avLst/>
          </a:prstGeom>
          <a:noFill/>
          <a:ln w="381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4580981" y="1925877"/>
            <a:ext cx="2348630" cy="0"/>
          </a:xfrm>
          <a:prstGeom prst="line">
            <a:avLst/>
          </a:prstGeom>
          <a:noFill/>
          <a:ln w="1397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7270163" y="1362205"/>
            <a:ext cx="2513034" cy="0"/>
          </a:xfrm>
          <a:prstGeom prst="line">
            <a:avLst/>
          </a:prstGeom>
          <a:noFill/>
          <a:ln w="381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7258420" y="1925877"/>
            <a:ext cx="2536521" cy="0"/>
          </a:xfrm>
          <a:prstGeom prst="line">
            <a:avLst/>
          </a:prstGeom>
          <a:noFill/>
          <a:ln w="1397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10135491" y="1362205"/>
            <a:ext cx="1855418" cy="0"/>
          </a:xfrm>
          <a:prstGeom prst="line">
            <a:avLst/>
          </a:prstGeom>
          <a:noFill/>
          <a:ln w="381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10123748" y="1925877"/>
            <a:ext cx="1878904" cy="0"/>
          </a:xfrm>
          <a:prstGeom prst="line">
            <a:avLst/>
          </a:prstGeom>
          <a:noFill/>
          <a:ln w="1397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1938772" y="3370284"/>
            <a:ext cx="176147" cy="0"/>
          </a:xfrm>
          <a:prstGeom prst="line">
            <a:avLst/>
          </a:prstGeom>
          <a:noFill/>
          <a:ln w="228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8" name="Freeform 58"/>
          <p:cNvSpPr/>
          <p:nvPr/>
        </p:nvSpPr>
        <p:spPr>
          <a:xfrm>
            <a:off x="2114920" y="3311568"/>
            <a:ext cx="82202" cy="1174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4287402" y="3370284"/>
            <a:ext cx="176147" cy="0"/>
          </a:xfrm>
          <a:prstGeom prst="line">
            <a:avLst/>
          </a:prstGeom>
          <a:noFill/>
          <a:ln w="228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0" name="Freeform 60"/>
          <p:cNvSpPr/>
          <p:nvPr/>
        </p:nvSpPr>
        <p:spPr>
          <a:xfrm>
            <a:off x="4463550" y="3311568"/>
            <a:ext cx="82202" cy="1174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6964841" y="3370284"/>
            <a:ext cx="176147" cy="0"/>
          </a:xfrm>
          <a:prstGeom prst="line">
            <a:avLst/>
          </a:prstGeom>
          <a:noFill/>
          <a:ln w="228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2" name="Freeform 62"/>
          <p:cNvSpPr/>
          <p:nvPr/>
        </p:nvSpPr>
        <p:spPr>
          <a:xfrm>
            <a:off x="7140988" y="3311568"/>
            <a:ext cx="82202" cy="1174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9830170" y="3370284"/>
            <a:ext cx="176147" cy="0"/>
          </a:xfrm>
          <a:prstGeom prst="line">
            <a:avLst/>
          </a:prstGeom>
          <a:noFill/>
          <a:ln w="228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4" name="Freeform 64"/>
          <p:cNvSpPr/>
          <p:nvPr/>
        </p:nvSpPr>
        <p:spPr>
          <a:xfrm>
            <a:off x="10006317" y="3311568"/>
            <a:ext cx="82202" cy="1174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11063200" y="4638545"/>
            <a:ext cx="0" cy="364038"/>
          </a:xfrm>
          <a:prstGeom prst="line">
            <a:avLst/>
          </a:prstGeom>
          <a:noFill/>
          <a:ln w="13970">
            <a:solidFill>
              <a:srgbClr val="616161"/>
            </a:solidFill>
            <a:prstDash val="dash"/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 flipH="1">
            <a:off x="10112005" y="5002582"/>
            <a:ext cx="951195" cy="0"/>
          </a:xfrm>
          <a:prstGeom prst="line">
            <a:avLst/>
          </a:prstGeom>
          <a:noFill/>
          <a:ln w="13970">
            <a:solidFill>
              <a:srgbClr val="616161"/>
            </a:solidFill>
            <a:prstDash val="dash"/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10112005" y="5002582"/>
            <a:ext cx="0" cy="140918"/>
          </a:xfrm>
          <a:prstGeom prst="line">
            <a:avLst/>
          </a:prstGeom>
          <a:noFill/>
          <a:ln w="13970">
            <a:solidFill>
              <a:srgbClr val="616161"/>
            </a:solidFill>
            <a:prstDash val="dash"/>
          </a:ln>
        </p:spPr>
        <p:txBody>
          <a:bodyPr/>
          <a:lstStyle/>
          <a:p/>
        </p:txBody>
      </p:sp>
      <p:sp>
        <p:nvSpPr>
          <p:cNvPr id="68" name="Freeform 68"/>
          <p:cNvSpPr/>
          <p:nvPr/>
        </p:nvSpPr>
        <p:spPr>
          <a:xfrm>
            <a:off x="10053289" y="5143500"/>
            <a:ext cx="117432" cy="8220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1985745" y="5801116"/>
            <a:ext cx="8220205" cy="0"/>
          </a:xfrm>
          <a:prstGeom prst="line">
            <a:avLst/>
          </a:prstGeom>
          <a:noFill/>
          <a:ln w="10160">
            <a:solidFill>
              <a:srgbClr val="D5DFE7"/>
            </a:solidFill>
          </a:ln>
        </p:spPr>
        <p:txBody>
          <a:bodyPr/>
          <a:lstStyle/>
          <a:p/>
        </p:txBody>
      </p:sp>
      <p:sp>
        <p:nvSpPr>
          <p:cNvPr id="70" name="TextBox 70"/>
          <p:cNvSpPr txBox="1"/>
          <p:nvPr/>
        </p:nvSpPr>
        <p:spPr>
          <a:xfrm>
            <a:off x="10182464" y="927709"/>
            <a:ext cx="1796702" cy="3053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55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 lang="zh-CN" sz="1550"/>
          </a:p>
        </p:txBody>
      </p:sp>
      <p:sp>
        <p:nvSpPr>
          <p:cNvPr id="71" name="TextBox 71"/>
          <p:cNvSpPr txBox="1"/>
          <p:nvPr/>
        </p:nvSpPr>
        <p:spPr>
          <a:xfrm>
            <a:off x="247759" y="1479637"/>
            <a:ext cx="1597068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公开影像</a:t>
            </a:r>
            <a:endParaRPr lang="zh-CN" sz="1850"/>
          </a:p>
        </p:txBody>
      </p:sp>
      <p:sp>
        <p:nvSpPr>
          <p:cNvPr id="72" name="TextBox 72"/>
          <p:cNvSpPr txBox="1"/>
          <p:nvPr/>
        </p:nvSpPr>
        <p:spPr>
          <a:xfrm>
            <a:off x="247759" y="2031565"/>
            <a:ext cx="1597068" cy="293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2E6B9E"/>
                </a:solidFill>
                <a:latin typeface="Noto Sans CJK SC"/>
                <a:ea typeface="Noto Sans CJK SC"/>
                <a:cs typeface="Noto Sans CJK SC"/>
              </a:rPr>
              <a:t>标签／矿区</a:t>
            </a:r>
            <a:endParaRPr lang="zh-CN" sz="1600"/>
          </a:p>
        </p:txBody>
      </p:sp>
      <p:sp>
        <p:nvSpPr>
          <p:cNvPr id="73" name="TextBox 73"/>
          <p:cNvSpPr txBox="1"/>
          <p:nvPr/>
        </p:nvSpPr>
        <p:spPr>
          <a:xfrm>
            <a:off x="2291067" y="1479637"/>
            <a:ext cx="190239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误差诊断</a:t>
            </a:r>
            <a:endParaRPr lang="zh-CN" sz="1850"/>
          </a:p>
        </p:txBody>
      </p:sp>
      <p:sp>
        <p:nvSpPr>
          <p:cNvPr id="74" name="TextBox 74"/>
          <p:cNvSpPr txBox="1"/>
          <p:nvPr/>
        </p:nvSpPr>
        <p:spPr>
          <a:xfrm>
            <a:off x="2291067" y="2031565"/>
            <a:ext cx="1902390" cy="293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2E6B9E"/>
                </a:solidFill>
                <a:latin typeface="Noto Sans CJK SC"/>
                <a:ea typeface="Noto Sans CJK SC"/>
                <a:cs typeface="Noto Sans CJK SC"/>
              </a:rPr>
              <a:t>内容一</a:t>
            </a:r>
            <a:endParaRPr lang="zh-CN" sz="1600"/>
          </a:p>
        </p:txBody>
      </p:sp>
      <p:sp>
        <p:nvSpPr>
          <p:cNvPr id="75" name="TextBox 75"/>
          <p:cNvSpPr txBox="1"/>
          <p:nvPr/>
        </p:nvSpPr>
        <p:spPr>
          <a:xfrm>
            <a:off x="4639697" y="1479637"/>
            <a:ext cx="2231199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区域约束</a:t>
            </a:r>
            <a:endParaRPr lang="zh-CN" sz="1850"/>
          </a:p>
        </p:txBody>
      </p:sp>
      <p:sp>
        <p:nvSpPr>
          <p:cNvPr id="76" name="TextBox 76"/>
          <p:cNvSpPr txBox="1"/>
          <p:nvPr/>
        </p:nvSpPr>
        <p:spPr>
          <a:xfrm>
            <a:off x="4639697" y="2031565"/>
            <a:ext cx="2231199" cy="293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2E6B9E"/>
                </a:solidFill>
                <a:latin typeface="Noto Sans CJK SC"/>
                <a:ea typeface="Noto Sans CJK SC"/>
                <a:cs typeface="Noto Sans CJK SC"/>
              </a:rPr>
              <a:t>内容二</a:t>
            </a:r>
            <a:endParaRPr lang="zh-CN" sz="1600"/>
          </a:p>
        </p:txBody>
      </p:sp>
      <p:sp>
        <p:nvSpPr>
          <p:cNvPr id="77" name="TextBox 77"/>
          <p:cNvSpPr txBox="1"/>
          <p:nvPr/>
        </p:nvSpPr>
        <p:spPr>
          <a:xfrm>
            <a:off x="7317135" y="1479637"/>
            <a:ext cx="2419089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复核评价</a:t>
            </a:r>
            <a:endParaRPr lang="zh-CN" sz="1850"/>
          </a:p>
        </p:txBody>
      </p:sp>
      <p:sp>
        <p:nvSpPr>
          <p:cNvPr id="78" name="TextBox 78"/>
          <p:cNvSpPr txBox="1"/>
          <p:nvPr/>
        </p:nvSpPr>
        <p:spPr>
          <a:xfrm>
            <a:off x="7317135" y="2031565"/>
            <a:ext cx="2419089" cy="293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2E6B9E"/>
                </a:solidFill>
                <a:latin typeface="Noto Sans CJK SC"/>
                <a:ea typeface="Noto Sans CJK SC"/>
                <a:cs typeface="Noto Sans CJK SC"/>
              </a:rPr>
              <a:t>内容三</a:t>
            </a:r>
            <a:endParaRPr lang="zh-CN" sz="1600"/>
          </a:p>
        </p:txBody>
      </p:sp>
      <p:sp>
        <p:nvSpPr>
          <p:cNvPr id="79" name="TextBox 79"/>
          <p:cNvSpPr txBox="1"/>
          <p:nvPr/>
        </p:nvSpPr>
        <p:spPr>
          <a:xfrm>
            <a:off x="10182464" y="1479637"/>
            <a:ext cx="1761473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条件与反例</a:t>
            </a:r>
            <a:endParaRPr lang="zh-CN" sz="1850"/>
          </a:p>
        </p:txBody>
      </p:sp>
      <p:sp>
        <p:nvSpPr>
          <p:cNvPr id="80" name="TextBox 80"/>
          <p:cNvSpPr txBox="1"/>
          <p:nvPr/>
        </p:nvSpPr>
        <p:spPr>
          <a:xfrm>
            <a:off x="10182464" y="2031565"/>
            <a:ext cx="1761473" cy="293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2E6B9E"/>
                </a:solidFill>
                <a:latin typeface="Noto Sans CJK SC"/>
                <a:ea typeface="Noto Sans CJK SC"/>
                <a:cs typeface="Noto Sans CJK SC"/>
              </a:rPr>
              <a:t>矿区证据</a:t>
            </a:r>
            <a:endParaRPr lang="zh-CN" sz="1600"/>
          </a:p>
        </p:txBody>
      </p:sp>
      <p:sp>
        <p:nvSpPr>
          <p:cNvPr id="81" name="TextBox 81"/>
          <p:cNvSpPr txBox="1"/>
          <p:nvPr/>
        </p:nvSpPr>
        <p:spPr>
          <a:xfrm>
            <a:off x="435649" y="2560007"/>
            <a:ext cx="822021" cy="2583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时相1</a:t>
            </a:r>
            <a:endParaRPr lang="zh-CN" sz="1450"/>
          </a:p>
        </p:txBody>
      </p:sp>
      <p:sp>
        <p:nvSpPr>
          <p:cNvPr id="82" name="TextBox 82"/>
          <p:cNvSpPr txBox="1"/>
          <p:nvPr/>
        </p:nvSpPr>
        <p:spPr>
          <a:xfrm>
            <a:off x="752714" y="2865329"/>
            <a:ext cx="822021" cy="2583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时相2</a:t>
            </a:r>
            <a:endParaRPr lang="zh-CN" sz="1450"/>
          </a:p>
        </p:txBody>
      </p:sp>
      <p:sp>
        <p:nvSpPr>
          <p:cNvPr id="83" name="TextBox 83"/>
          <p:cNvSpPr txBox="1"/>
          <p:nvPr/>
        </p:nvSpPr>
        <p:spPr>
          <a:xfrm>
            <a:off x="271245" y="4039644"/>
            <a:ext cx="1550096" cy="352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来源记录</a:t>
            </a:r>
            <a:endParaRPr lang="zh-CN" sz="1600"/>
          </a:p>
        </p:txBody>
      </p:sp>
      <p:sp>
        <p:nvSpPr>
          <p:cNvPr id="84" name="TextBox 84"/>
          <p:cNvSpPr txBox="1"/>
          <p:nvPr/>
        </p:nvSpPr>
        <p:spPr>
          <a:xfrm>
            <a:off x="2537673" y="2583493"/>
            <a:ext cx="1409178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配准差异</a:t>
            </a:r>
            <a:endParaRPr lang="zh-CN" sz="1600"/>
          </a:p>
        </p:txBody>
      </p:sp>
      <p:sp>
        <p:nvSpPr>
          <p:cNvPr id="85" name="TextBox 85"/>
          <p:cNvSpPr txBox="1"/>
          <p:nvPr/>
        </p:nvSpPr>
        <p:spPr>
          <a:xfrm>
            <a:off x="2537673" y="3006247"/>
            <a:ext cx="1409178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标签边界</a:t>
            </a:r>
            <a:endParaRPr lang="zh-CN" sz="1600"/>
          </a:p>
        </p:txBody>
      </p:sp>
      <p:sp>
        <p:nvSpPr>
          <p:cNvPr id="86" name="TextBox 86"/>
          <p:cNvSpPr txBox="1"/>
          <p:nvPr/>
        </p:nvSpPr>
        <p:spPr>
          <a:xfrm>
            <a:off x="2537673" y="3429000"/>
            <a:ext cx="1409178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外观差异</a:t>
            </a:r>
            <a:endParaRPr lang="zh-CN" sz="1600"/>
          </a:p>
        </p:txBody>
      </p:sp>
      <p:sp>
        <p:nvSpPr>
          <p:cNvPr id="87" name="TextBox 87"/>
          <p:cNvSpPr txBox="1"/>
          <p:nvPr/>
        </p:nvSpPr>
        <p:spPr>
          <a:xfrm>
            <a:off x="2338039" y="4039644"/>
            <a:ext cx="1808445" cy="352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核验样本与分层</a:t>
            </a:r>
            <a:endParaRPr lang="zh-CN" sz="1600"/>
          </a:p>
        </p:txBody>
      </p:sp>
      <p:sp>
        <p:nvSpPr>
          <p:cNvPr id="88" name="TextBox 88"/>
          <p:cNvSpPr txBox="1"/>
          <p:nvPr/>
        </p:nvSpPr>
        <p:spPr>
          <a:xfrm>
            <a:off x="4839330" y="2595236"/>
            <a:ext cx="798534" cy="3875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无约束</a:t>
            </a:r>
            <a:endParaRPr lang="zh-CN" sz="1600"/>
          </a:p>
        </p:txBody>
      </p:sp>
      <p:sp>
        <p:nvSpPr>
          <p:cNvPr id="89" name="TextBox 89"/>
          <p:cNvSpPr txBox="1"/>
          <p:nvPr/>
        </p:nvSpPr>
        <p:spPr>
          <a:xfrm>
            <a:off x="5896214" y="2595236"/>
            <a:ext cx="798534" cy="3875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全图</a:t>
            </a:r>
            <a:endParaRPr lang="zh-CN" sz="1600"/>
          </a:p>
        </p:txBody>
      </p:sp>
      <p:sp>
        <p:nvSpPr>
          <p:cNvPr id="90" name="TextBox 90"/>
          <p:cNvSpPr txBox="1"/>
          <p:nvPr/>
        </p:nvSpPr>
        <p:spPr>
          <a:xfrm>
            <a:off x="4839330" y="3241110"/>
            <a:ext cx="798534" cy="3875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背景</a:t>
            </a:r>
            <a:endParaRPr lang="zh-CN" sz="1600"/>
          </a:p>
        </p:txBody>
      </p:sp>
      <p:sp>
        <p:nvSpPr>
          <p:cNvPr id="91" name="TextBox 91"/>
          <p:cNvSpPr txBox="1"/>
          <p:nvPr/>
        </p:nvSpPr>
        <p:spPr>
          <a:xfrm>
            <a:off x="5896214" y="3241110"/>
            <a:ext cx="798534" cy="3875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随机</a:t>
            </a:r>
            <a:endParaRPr lang="zh-CN" sz="1600"/>
          </a:p>
        </p:txBody>
      </p:sp>
      <p:sp>
        <p:nvSpPr>
          <p:cNvPr id="92" name="TextBox 92"/>
          <p:cNvSpPr txBox="1"/>
          <p:nvPr/>
        </p:nvSpPr>
        <p:spPr>
          <a:xfrm>
            <a:off x="4674926" y="4039644"/>
            <a:ext cx="2160740" cy="352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误报与小变化召回</a:t>
            </a:r>
            <a:endParaRPr lang="zh-CN" sz="1600"/>
          </a:p>
        </p:txBody>
      </p:sp>
      <p:sp>
        <p:nvSpPr>
          <p:cNvPr id="93" name="TextBox 93"/>
          <p:cNvSpPr txBox="1"/>
          <p:nvPr/>
        </p:nvSpPr>
        <p:spPr>
          <a:xfrm>
            <a:off x="7375851" y="2477805"/>
            <a:ext cx="2301658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检测器固定</a:t>
            </a:r>
            <a:endParaRPr lang="zh-CN" sz="1600"/>
          </a:p>
        </p:txBody>
      </p:sp>
      <p:sp>
        <p:nvSpPr>
          <p:cNvPr id="94" name="TextBox 94"/>
          <p:cNvSpPr txBox="1"/>
          <p:nvPr/>
        </p:nvSpPr>
        <p:spPr>
          <a:xfrm>
            <a:off x="7399337" y="3851753"/>
            <a:ext cx="2254685" cy="293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窗口排序</a:t>
            </a:r>
            <a:endParaRPr lang="zh-CN" sz="1600"/>
          </a:p>
        </p:txBody>
      </p:sp>
      <p:sp>
        <p:nvSpPr>
          <p:cNvPr id="95" name="TextBox 95"/>
          <p:cNvSpPr txBox="1"/>
          <p:nvPr/>
        </p:nvSpPr>
        <p:spPr>
          <a:xfrm>
            <a:off x="7399337" y="4204048"/>
            <a:ext cx="2254685" cy="293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同面积复核</a:t>
            </a:r>
            <a:endParaRPr lang="zh-CN" sz="1600"/>
          </a:p>
        </p:txBody>
      </p:sp>
      <p:sp>
        <p:nvSpPr>
          <p:cNvPr id="96" name="TextBox 96"/>
          <p:cNvSpPr txBox="1"/>
          <p:nvPr/>
        </p:nvSpPr>
        <p:spPr>
          <a:xfrm>
            <a:off x="10405584" y="2583493"/>
            <a:ext cx="1315233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效应区间</a:t>
            </a:r>
            <a:endParaRPr lang="zh-CN" sz="1600"/>
          </a:p>
        </p:txBody>
      </p:sp>
      <p:sp>
        <p:nvSpPr>
          <p:cNvPr id="97" name="TextBox 97"/>
          <p:cNvSpPr txBox="1"/>
          <p:nvPr/>
        </p:nvSpPr>
        <p:spPr>
          <a:xfrm>
            <a:off x="10405584" y="3006247"/>
            <a:ext cx="1315233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适用条件</a:t>
            </a:r>
            <a:endParaRPr lang="zh-CN" sz="1600"/>
          </a:p>
        </p:txBody>
      </p:sp>
      <p:sp>
        <p:nvSpPr>
          <p:cNvPr id="98" name="TextBox 98"/>
          <p:cNvSpPr txBox="1"/>
          <p:nvPr/>
        </p:nvSpPr>
        <p:spPr>
          <a:xfrm>
            <a:off x="10405584" y="3429000"/>
            <a:ext cx="1315233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失败案例</a:t>
            </a:r>
            <a:endParaRPr lang="zh-CN" sz="1600"/>
          </a:p>
        </p:txBody>
      </p:sp>
      <p:sp>
        <p:nvSpPr>
          <p:cNvPr id="99" name="TextBox 99"/>
          <p:cNvSpPr txBox="1"/>
          <p:nvPr/>
        </p:nvSpPr>
        <p:spPr>
          <a:xfrm>
            <a:off x="10217693" y="4039644"/>
            <a:ext cx="1691014" cy="352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保留负结果</a:t>
            </a:r>
            <a:endParaRPr lang="zh-CN" sz="1600"/>
          </a:p>
        </p:txBody>
      </p:sp>
      <p:sp>
        <p:nvSpPr>
          <p:cNvPr id="100" name="TextBox 100"/>
          <p:cNvSpPr txBox="1"/>
          <p:nvPr/>
        </p:nvSpPr>
        <p:spPr>
          <a:xfrm>
            <a:off x="1938772" y="5354877"/>
            <a:ext cx="3370284" cy="352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外部验证（条件性）</a:t>
            </a:r>
            <a:endParaRPr lang="zh-CN" sz="1750"/>
          </a:p>
        </p:txBody>
      </p:sp>
      <p:sp>
        <p:nvSpPr>
          <p:cNvPr id="101" name="TextBox 101"/>
          <p:cNvSpPr txBox="1"/>
          <p:nvPr/>
        </p:nvSpPr>
        <p:spPr>
          <a:xfrm>
            <a:off x="5332543" y="5354877"/>
            <a:ext cx="4885151" cy="352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核心实验完成后开展</a:t>
            </a:r>
            <a:endParaRPr lang="zh-CN" sz="1600"/>
          </a:p>
        </p:txBody>
      </p:sp>
      <p:sp>
        <p:nvSpPr>
          <p:cNvPr id="102" name="TextBox 102"/>
          <p:cNvSpPr txBox="1"/>
          <p:nvPr/>
        </p:nvSpPr>
        <p:spPr>
          <a:xfrm>
            <a:off x="1950515" y="5883318"/>
            <a:ext cx="8290664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对齐数据与标签口径，检验适用范围</a:t>
            </a:r>
            <a:endParaRPr lang="zh-CN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236015" y="1291747"/>
            <a:ext cx="1902390" cy="3346798"/>
          </a:xfrm>
          <a:prstGeom prst="rect">
            <a:avLst/>
          </a:prstGeom>
          <a:solidFill>
            <a:srgbClr val="FFFFFF"/>
          </a:solidFill>
          <a:ln w="1905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467214" y="1291747"/>
            <a:ext cx="1902390" cy="334679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698413" y="1291747"/>
            <a:ext cx="1902390" cy="334679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6929611" y="1291747"/>
            <a:ext cx="1902390" cy="3346798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529594" y="2172483"/>
            <a:ext cx="1315233" cy="469726"/>
          </a:xfrm>
          <a:prstGeom prst="rect">
            <a:avLst/>
          </a:prstGeom>
          <a:solidFill>
            <a:srgbClr val="FFFFFF"/>
          </a:solidFill>
          <a:ln w="127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529594" y="2830099"/>
            <a:ext cx="1315233" cy="469726"/>
          </a:xfrm>
          <a:prstGeom prst="rect">
            <a:avLst/>
          </a:prstGeom>
          <a:solidFill>
            <a:srgbClr val="FFFFFF"/>
          </a:solidFill>
          <a:ln w="127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529594" y="3487716"/>
            <a:ext cx="1315233" cy="469726"/>
          </a:xfrm>
          <a:prstGeom prst="rect">
            <a:avLst/>
          </a:prstGeom>
          <a:solidFill>
            <a:srgbClr val="FFFFFF"/>
          </a:solidFill>
          <a:ln w="127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2702077" y="2148997"/>
            <a:ext cx="1432664" cy="399267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2702077" y="2665695"/>
            <a:ext cx="1432664" cy="399267"/>
          </a:xfrm>
          <a:prstGeom prst="rect">
            <a:avLst/>
          </a:prstGeom>
          <a:solidFill>
            <a:srgbClr val="FFFFFF"/>
          </a:solidFill>
          <a:ln w="127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2702077" y="3182394"/>
            <a:ext cx="1432664" cy="399267"/>
          </a:xfrm>
          <a:prstGeom prst="rect">
            <a:avLst/>
          </a:prstGeom>
          <a:solidFill>
            <a:srgbClr val="FFFFFF"/>
          </a:solidFill>
          <a:ln w="127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2702077" y="3699092"/>
            <a:ext cx="1432664" cy="399267"/>
          </a:xfrm>
          <a:prstGeom prst="rect">
            <a:avLst/>
          </a:prstGeom>
          <a:solidFill>
            <a:srgbClr val="FFFFFF"/>
          </a:solidFill>
          <a:ln w="127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4909789" y="2172483"/>
            <a:ext cx="1479637" cy="810277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7152731" y="2172483"/>
            <a:ext cx="1456151" cy="46972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7152731" y="2830099"/>
            <a:ext cx="1456151" cy="46972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7152731" y="3487716"/>
            <a:ext cx="1456151" cy="46972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7" name="Diamond 17"/>
          <p:cNvSpPr/>
          <p:nvPr/>
        </p:nvSpPr>
        <p:spPr>
          <a:xfrm>
            <a:off x="9348700" y="2442575"/>
            <a:ext cx="2583493" cy="1456151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9372187" y="1033397"/>
            <a:ext cx="2536521" cy="915966"/>
          </a:xfrm>
          <a:prstGeom prst="rect">
            <a:avLst/>
          </a:prstGeom>
          <a:solidFill>
            <a:srgbClr val="FFFFFF"/>
          </a:solidFill>
          <a:ln w="1905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9372187" y="5096527"/>
            <a:ext cx="2536521" cy="1127342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236015" y="5284418"/>
            <a:ext cx="6787541" cy="9394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236015" y="1914134"/>
            <a:ext cx="1902390" cy="0"/>
          </a:xfrm>
          <a:prstGeom prst="line">
            <a:avLst/>
          </a:prstGeom>
          <a:noFill/>
          <a:ln w="127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2467214" y="1914134"/>
            <a:ext cx="1902390" cy="0"/>
          </a:xfrm>
          <a:prstGeom prst="line">
            <a:avLst/>
          </a:prstGeom>
          <a:noFill/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4698413" y="1914134"/>
            <a:ext cx="1902390" cy="0"/>
          </a:xfrm>
          <a:prstGeom prst="line">
            <a:avLst/>
          </a:prstGeom>
          <a:noFill/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6929611" y="1914134"/>
            <a:ext cx="1902390" cy="0"/>
          </a:xfrm>
          <a:prstGeom prst="line">
            <a:avLst/>
          </a:prstGeom>
          <a:noFill/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1187211" y="2642209"/>
            <a:ext cx="0" cy="93945"/>
          </a:xfrm>
          <a:prstGeom prst="line">
            <a:avLst/>
          </a:prstGeom>
          <a:noFill/>
          <a:ln w="1905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1187211" y="3299825"/>
            <a:ext cx="0" cy="93945"/>
          </a:xfrm>
          <a:prstGeom prst="line">
            <a:avLst/>
          </a:prstGeom>
          <a:noFill/>
          <a:ln w="1905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2138406" y="3170651"/>
            <a:ext cx="234863" cy="0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4369604" y="3170651"/>
            <a:ext cx="234863" cy="0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6600803" y="3170651"/>
            <a:ext cx="234863" cy="0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8832002" y="3170651"/>
            <a:ext cx="422753" cy="0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 flipV="1">
            <a:off x="10640447" y="2043308"/>
            <a:ext cx="0" cy="399267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10640447" y="3898726"/>
            <a:ext cx="0" cy="1103856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 flipH="1">
            <a:off x="9289985" y="5660199"/>
            <a:ext cx="82202" cy="0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 flipH="1">
            <a:off x="9137324" y="5660199"/>
            <a:ext cx="82202" cy="0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 flipH="1">
            <a:off x="8984663" y="5660199"/>
            <a:ext cx="82202" cy="0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 flipH="1">
            <a:off x="8832002" y="5660199"/>
            <a:ext cx="82202" cy="0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 flipH="1">
            <a:off x="8679341" y="5660199"/>
            <a:ext cx="82202" cy="0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 flipH="1">
            <a:off x="8526680" y="5660199"/>
            <a:ext cx="82202" cy="0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 flipH="1">
            <a:off x="8374019" y="5660199"/>
            <a:ext cx="82202" cy="0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 flipH="1">
            <a:off x="8221358" y="5660199"/>
            <a:ext cx="82202" cy="0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 flipH="1">
            <a:off x="8068697" y="5660199"/>
            <a:ext cx="82202" cy="0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 flipH="1">
            <a:off x="7916036" y="5660199"/>
            <a:ext cx="82202" cy="0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 flipV="1">
            <a:off x="7880807" y="5577997"/>
            <a:ext cx="0" cy="82202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 flipV="1">
            <a:off x="7880807" y="5425336"/>
            <a:ext cx="0" cy="82202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 flipV="1">
            <a:off x="7880807" y="5272675"/>
            <a:ext cx="0" cy="82202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 flipV="1">
            <a:off x="7880807" y="5120014"/>
            <a:ext cx="0" cy="82202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 flipV="1">
            <a:off x="7880807" y="4967353"/>
            <a:ext cx="0" cy="82202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 flipV="1">
            <a:off x="7880807" y="4814692"/>
            <a:ext cx="0" cy="82202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 flipV="1">
            <a:off x="7880807" y="4732490"/>
            <a:ext cx="0" cy="11743"/>
          </a:xfrm>
          <a:prstGeom prst="line">
            <a:avLst/>
          </a:prstGeom>
          <a:noFill/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0" name="Polygon 50"/>
          <p:cNvSpPr/>
          <p:nvPr/>
        </p:nvSpPr>
        <p:spPr>
          <a:xfrm>
            <a:off x="1140238" y="2736154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5BA0D0"/>
          </a:solidFill>
          <a:ln w="635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51" name="Polygon 51"/>
          <p:cNvSpPr/>
          <p:nvPr/>
        </p:nvSpPr>
        <p:spPr>
          <a:xfrm>
            <a:off x="1140238" y="3393771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5BA0D0"/>
          </a:solidFill>
          <a:ln w="635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52" name="Polygon 52"/>
          <p:cNvSpPr/>
          <p:nvPr/>
        </p:nvSpPr>
        <p:spPr>
          <a:xfrm>
            <a:off x="2373269" y="3123678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3" name="Polygon 53"/>
          <p:cNvSpPr/>
          <p:nvPr/>
        </p:nvSpPr>
        <p:spPr>
          <a:xfrm>
            <a:off x="4604467" y="3123678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4" name="Polygon 54"/>
          <p:cNvSpPr/>
          <p:nvPr/>
        </p:nvSpPr>
        <p:spPr>
          <a:xfrm>
            <a:off x="6835666" y="3123678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5" name="Polygon 55"/>
          <p:cNvSpPr/>
          <p:nvPr/>
        </p:nvSpPr>
        <p:spPr>
          <a:xfrm>
            <a:off x="9254755" y="3123678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6" name="Polygon 56"/>
          <p:cNvSpPr/>
          <p:nvPr/>
        </p:nvSpPr>
        <p:spPr>
          <a:xfrm>
            <a:off x="10593474" y="1949363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7" name="Polygon 57"/>
          <p:cNvSpPr/>
          <p:nvPr/>
        </p:nvSpPr>
        <p:spPr>
          <a:xfrm>
            <a:off x="10593474" y="5002582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8" name="Polygon 58"/>
          <p:cNvSpPr/>
          <p:nvPr/>
        </p:nvSpPr>
        <p:spPr>
          <a:xfrm>
            <a:off x="7833834" y="4638545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9" name="TextBox 59"/>
          <p:cNvSpPr txBox="1"/>
          <p:nvPr/>
        </p:nvSpPr>
        <p:spPr>
          <a:xfrm>
            <a:off x="341704" y="1409178"/>
            <a:ext cx="1691014" cy="3875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来源核验</a:t>
            </a:r>
            <a:endParaRPr lang="zh-CN" sz="1800"/>
          </a:p>
        </p:txBody>
      </p:sp>
      <p:sp>
        <p:nvSpPr>
          <p:cNvPr id="60" name="TextBox 60"/>
          <p:cNvSpPr txBox="1"/>
          <p:nvPr/>
        </p:nvSpPr>
        <p:spPr>
          <a:xfrm>
            <a:off x="2572902" y="1409178"/>
            <a:ext cx="1691014" cy="3875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独立划分</a:t>
            </a:r>
            <a:endParaRPr lang="zh-CN" sz="1800"/>
          </a:p>
        </p:txBody>
      </p:sp>
      <p:sp>
        <p:nvSpPr>
          <p:cNvPr id="61" name="TextBox 61"/>
          <p:cNvSpPr txBox="1"/>
          <p:nvPr/>
        </p:nvSpPr>
        <p:spPr>
          <a:xfrm>
            <a:off x="4804101" y="1409178"/>
            <a:ext cx="1691014" cy="3875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基线复现</a:t>
            </a:r>
            <a:endParaRPr lang="zh-CN" sz="1800"/>
          </a:p>
        </p:txBody>
      </p:sp>
      <p:sp>
        <p:nvSpPr>
          <p:cNvPr id="62" name="TextBox 62"/>
          <p:cNvSpPr txBox="1"/>
          <p:nvPr/>
        </p:nvSpPr>
        <p:spPr>
          <a:xfrm>
            <a:off x="7035300" y="1409178"/>
            <a:ext cx="1691014" cy="3875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误差核验</a:t>
            </a:r>
            <a:endParaRPr lang="zh-CN" sz="1800"/>
          </a:p>
        </p:txBody>
      </p:sp>
      <p:sp>
        <p:nvSpPr>
          <p:cNvPr id="63" name="TextBox 63"/>
          <p:cNvSpPr txBox="1"/>
          <p:nvPr/>
        </p:nvSpPr>
        <p:spPr>
          <a:xfrm>
            <a:off x="600053" y="2231199"/>
            <a:ext cx="1174315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矿区</a:t>
            </a:r>
            <a:endParaRPr lang="zh-CN" sz="1570"/>
          </a:p>
        </p:txBody>
      </p:sp>
      <p:sp>
        <p:nvSpPr>
          <p:cNvPr id="64" name="TextBox 64"/>
          <p:cNvSpPr txBox="1"/>
          <p:nvPr/>
        </p:nvSpPr>
        <p:spPr>
          <a:xfrm>
            <a:off x="600053" y="2888815"/>
            <a:ext cx="1174315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场景</a:t>
            </a:r>
            <a:endParaRPr lang="zh-CN" sz="1570"/>
          </a:p>
        </p:txBody>
      </p:sp>
      <p:sp>
        <p:nvSpPr>
          <p:cNvPr id="65" name="TextBox 65"/>
          <p:cNvSpPr txBox="1"/>
          <p:nvPr/>
        </p:nvSpPr>
        <p:spPr>
          <a:xfrm>
            <a:off x="600053" y="3546432"/>
            <a:ext cx="1174315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切片</a:t>
            </a:r>
            <a:endParaRPr lang="zh-CN" sz="1570"/>
          </a:p>
        </p:txBody>
      </p:sp>
      <p:sp>
        <p:nvSpPr>
          <p:cNvPr id="66" name="TextBox 66"/>
          <p:cNvSpPr txBox="1"/>
          <p:nvPr/>
        </p:nvSpPr>
        <p:spPr>
          <a:xfrm>
            <a:off x="329961" y="4180562"/>
            <a:ext cx="171450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追溯来源关联</a:t>
            </a:r>
            <a:endParaRPr lang="zh-CN" sz="1480"/>
          </a:p>
        </p:txBody>
      </p:sp>
      <p:sp>
        <p:nvSpPr>
          <p:cNvPr id="67" name="TextBox 67"/>
          <p:cNvSpPr txBox="1"/>
          <p:nvPr/>
        </p:nvSpPr>
        <p:spPr>
          <a:xfrm>
            <a:off x="2784279" y="2172483"/>
            <a:ext cx="126826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训练 50</a:t>
            </a:r>
            <a:endParaRPr lang="zh-CN" sz="1570"/>
          </a:p>
        </p:txBody>
      </p:sp>
      <p:sp>
        <p:nvSpPr>
          <p:cNvPr id="68" name="TextBox 68"/>
          <p:cNvSpPr txBox="1"/>
          <p:nvPr/>
        </p:nvSpPr>
        <p:spPr>
          <a:xfrm>
            <a:off x="2784279" y="2689182"/>
            <a:ext cx="126826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校准 10</a:t>
            </a:r>
            <a:endParaRPr lang="zh-CN" sz="1570"/>
          </a:p>
        </p:txBody>
      </p:sp>
      <p:sp>
        <p:nvSpPr>
          <p:cNvPr id="69" name="TextBox 69"/>
          <p:cNvSpPr txBox="1"/>
          <p:nvPr/>
        </p:nvSpPr>
        <p:spPr>
          <a:xfrm>
            <a:off x="2784279" y="3205880"/>
            <a:ext cx="126826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验证 10</a:t>
            </a:r>
            <a:endParaRPr lang="zh-CN" sz="1570"/>
          </a:p>
        </p:txBody>
      </p:sp>
      <p:sp>
        <p:nvSpPr>
          <p:cNvPr id="70" name="TextBox 70"/>
          <p:cNvSpPr txBox="1"/>
          <p:nvPr/>
        </p:nvSpPr>
        <p:spPr>
          <a:xfrm>
            <a:off x="2784279" y="3722579"/>
            <a:ext cx="126826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测试 30</a:t>
            </a:r>
            <a:endParaRPr lang="zh-CN" sz="1570"/>
          </a:p>
        </p:txBody>
      </p:sp>
      <p:sp>
        <p:nvSpPr>
          <p:cNvPr id="71" name="TextBox 71"/>
          <p:cNvSpPr txBox="1"/>
          <p:nvPr/>
        </p:nvSpPr>
        <p:spPr>
          <a:xfrm>
            <a:off x="2561159" y="4180562"/>
            <a:ext cx="171450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矿区互不交叉</a:t>
            </a:r>
            <a:endParaRPr lang="zh-CN" sz="1480"/>
          </a:p>
        </p:txBody>
      </p:sp>
      <p:sp>
        <p:nvSpPr>
          <p:cNvPr id="72" name="TextBox 72"/>
          <p:cNvSpPr txBox="1"/>
          <p:nvPr/>
        </p:nvSpPr>
        <p:spPr>
          <a:xfrm>
            <a:off x="4968505" y="2207712"/>
            <a:ext cx="1362205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ResNet-18</a:t>
            </a:r>
            <a:endParaRPr lang="zh-CN" sz="1570"/>
          </a:p>
        </p:txBody>
      </p:sp>
      <p:sp>
        <p:nvSpPr>
          <p:cNvPr id="73" name="TextBox 73"/>
          <p:cNvSpPr txBox="1"/>
          <p:nvPr/>
        </p:nvSpPr>
        <p:spPr>
          <a:xfrm>
            <a:off x="4968505" y="2560007"/>
            <a:ext cx="1362205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孪生基线</a:t>
            </a:r>
            <a:endParaRPr lang="zh-CN" sz="1570"/>
          </a:p>
        </p:txBody>
      </p:sp>
      <p:sp>
        <p:nvSpPr>
          <p:cNvPr id="74" name="TextBox 74"/>
          <p:cNvSpPr txBox="1"/>
          <p:nvPr/>
        </p:nvSpPr>
        <p:spPr>
          <a:xfrm>
            <a:off x="4792358" y="3194137"/>
            <a:ext cx="1714500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开发期仅使用</a:t>
            </a:r>
            <a:endParaRPr lang="zh-CN" sz="1570"/>
          </a:p>
        </p:txBody>
      </p:sp>
      <p:sp>
        <p:nvSpPr>
          <p:cNvPr id="75" name="TextBox 75"/>
          <p:cNvSpPr txBox="1"/>
          <p:nvPr/>
        </p:nvSpPr>
        <p:spPr>
          <a:xfrm>
            <a:off x="4792358" y="3558175"/>
            <a:ext cx="1714500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训练／验证矿区</a:t>
            </a:r>
            <a:endParaRPr lang="zh-CN" sz="1570"/>
          </a:p>
        </p:txBody>
      </p:sp>
      <p:sp>
        <p:nvSpPr>
          <p:cNvPr id="76" name="TextBox 76"/>
          <p:cNvSpPr txBox="1"/>
          <p:nvPr/>
        </p:nvSpPr>
        <p:spPr>
          <a:xfrm>
            <a:off x="4792358" y="4180562"/>
            <a:ext cx="171450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固定输入与配置</a:t>
            </a:r>
            <a:endParaRPr lang="zh-CN" sz="1480"/>
          </a:p>
        </p:txBody>
      </p:sp>
      <p:sp>
        <p:nvSpPr>
          <p:cNvPr id="77" name="TextBox 77"/>
          <p:cNvSpPr txBox="1"/>
          <p:nvPr/>
        </p:nvSpPr>
        <p:spPr>
          <a:xfrm>
            <a:off x="7223190" y="2231199"/>
            <a:ext cx="1315233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误报／漏检</a:t>
            </a:r>
            <a:endParaRPr lang="zh-CN" sz="1570"/>
          </a:p>
        </p:txBody>
      </p:sp>
      <p:sp>
        <p:nvSpPr>
          <p:cNvPr id="78" name="TextBox 78"/>
          <p:cNvSpPr txBox="1"/>
          <p:nvPr/>
        </p:nvSpPr>
        <p:spPr>
          <a:xfrm>
            <a:off x="7223190" y="2888815"/>
            <a:ext cx="1315233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分层抽查</a:t>
            </a:r>
            <a:endParaRPr lang="zh-CN" sz="1570"/>
          </a:p>
        </p:txBody>
      </p:sp>
      <p:sp>
        <p:nvSpPr>
          <p:cNvPr id="79" name="TextBox 79"/>
          <p:cNvSpPr txBox="1"/>
          <p:nvPr/>
        </p:nvSpPr>
        <p:spPr>
          <a:xfrm>
            <a:off x="7223190" y="3546432"/>
            <a:ext cx="1315233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误差清单</a:t>
            </a:r>
            <a:endParaRPr lang="zh-CN" sz="1570"/>
          </a:p>
        </p:txBody>
      </p:sp>
      <p:sp>
        <p:nvSpPr>
          <p:cNvPr id="80" name="TextBox 80"/>
          <p:cNvSpPr txBox="1"/>
          <p:nvPr/>
        </p:nvSpPr>
        <p:spPr>
          <a:xfrm>
            <a:off x="7023557" y="4180562"/>
            <a:ext cx="171450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归类主要误差</a:t>
            </a:r>
            <a:endParaRPr lang="zh-CN" sz="1480"/>
          </a:p>
        </p:txBody>
      </p:sp>
      <p:sp>
        <p:nvSpPr>
          <p:cNvPr id="81" name="TextBox 81"/>
          <p:cNvSpPr txBox="1"/>
          <p:nvPr/>
        </p:nvSpPr>
        <p:spPr>
          <a:xfrm>
            <a:off x="9677509" y="2924045"/>
            <a:ext cx="1925877" cy="4462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机制相关？</a:t>
            </a:r>
            <a:endParaRPr lang="zh-CN" sz="1800"/>
          </a:p>
        </p:txBody>
      </p:sp>
      <p:sp>
        <p:nvSpPr>
          <p:cNvPr id="82" name="TextBox 82"/>
          <p:cNvSpPr txBox="1"/>
          <p:nvPr/>
        </p:nvSpPr>
        <p:spPr>
          <a:xfrm>
            <a:off x="9477875" y="1103856"/>
            <a:ext cx="2325144" cy="3640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核验样本与分层</a:t>
            </a:r>
            <a:endParaRPr lang="zh-CN" sz="1800"/>
          </a:p>
        </p:txBody>
      </p:sp>
      <p:sp>
        <p:nvSpPr>
          <p:cNvPr id="83" name="TextBox 83"/>
          <p:cNvSpPr txBox="1"/>
          <p:nvPr/>
        </p:nvSpPr>
        <p:spPr>
          <a:xfrm>
            <a:off x="9489618" y="1514866"/>
            <a:ext cx="2301658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2E6B9E"/>
                </a:solidFill>
                <a:latin typeface="Noto Sans CJK SC"/>
                <a:ea typeface="Noto Sans CJK SC"/>
                <a:cs typeface="Noto Sans CJK SC"/>
              </a:rPr>
              <a:t>进入路线二</a:t>
            </a:r>
            <a:endParaRPr lang="zh-CN" sz="1570"/>
          </a:p>
        </p:txBody>
      </p:sp>
      <p:sp>
        <p:nvSpPr>
          <p:cNvPr id="84" name="TextBox 84"/>
          <p:cNvSpPr txBox="1"/>
          <p:nvPr/>
        </p:nvSpPr>
        <p:spPr>
          <a:xfrm>
            <a:off x="10863567" y="1996336"/>
            <a:ext cx="810277" cy="352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相关</a:t>
            </a:r>
            <a:endParaRPr lang="zh-CN" sz="1570"/>
          </a:p>
        </p:txBody>
      </p:sp>
      <p:sp>
        <p:nvSpPr>
          <p:cNvPr id="85" name="TextBox 85"/>
          <p:cNvSpPr txBox="1"/>
          <p:nvPr/>
        </p:nvSpPr>
        <p:spPr>
          <a:xfrm>
            <a:off x="9513104" y="5202216"/>
            <a:ext cx="2254685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质量诊断</a:t>
            </a:r>
            <a:endParaRPr lang="zh-CN" sz="1800"/>
          </a:p>
        </p:txBody>
      </p:sp>
      <p:sp>
        <p:nvSpPr>
          <p:cNvPr id="86" name="TextBox 86"/>
          <p:cNvSpPr txBox="1"/>
          <p:nvPr/>
        </p:nvSpPr>
        <p:spPr>
          <a:xfrm>
            <a:off x="9524848" y="5707171"/>
            <a:ext cx="2231199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2E6B9E"/>
                </a:solidFill>
                <a:latin typeface="Noto Sans CJK SC"/>
                <a:ea typeface="Noto Sans CJK SC"/>
                <a:cs typeface="Noto Sans CJK SC"/>
              </a:rPr>
              <a:t>配准／标签</a:t>
            </a:r>
            <a:endParaRPr lang="zh-CN" sz="1570"/>
          </a:p>
        </p:txBody>
      </p:sp>
      <p:sp>
        <p:nvSpPr>
          <p:cNvPr id="87" name="TextBox 87"/>
          <p:cNvSpPr txBox="1"/>
          <p:nvPr/>
        </p:nvSpPr>
        <p:spPr>
          <a:xfrm>
            <a:off x="10840080" y="4321479"/>
            <a:ext cx="1068627" cy="3640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质量主导</a:t>
            </a:r>
            <a:endParaRPr lang="zh-CN" sz="1570"/>
          </a:p>
        </p:txBody>
      </p:sp>
      <p:sp>
        <p:nvSpPr>
          <p:cNvPr id="88" name="TextBox 88"/>
          <p:cNvSpPr txBox="1"/>
          <p:nvPr/>
        </p:nvSpPr>
        <p:spPr>
          <a:xfrm>
            <a:off x="7998238" y="4838178"/>
            <a:ext cx="66936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2E6B9E"/>
                </a:solidFill>
                <a:latin typeface="Noto Sans CJK SC"/>
                <a:ea typeface="Noto Sans CJK SC"/>
                <a:cs typeface="Noto Sans CJK SC"/>
              </a:rPr>
              <a:t>复核</a:t>
            </a:r>
            <a:endParaRPr lang="zh-CN" sz="1570"/>
          </a:p>
        </p:txBody>
      </p:sp>
      <p:sp>
        <p:nvSpPr>
          <p:cNvPr id="89" name="TextBox 89"/>
          <p:cNvSpPr txBox="1"/>
          <p:nvPr/>
        </p:nvSpPr>
        <p:spPr>
          <a:xfrm>
            <a:off x="423906" y="5366620"/>
            <a:ext cx="641176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开发决策：仅使用训练与验证矿区</a:t>
            </a:r>
            <a:endParaRPr lang="zh-CN" sz="1570"/>
          </a:p>
        </p:txBody>
      </p:sp>
      <p:sp>
        <p:nvSpPr>
          <p:cNvPr id="90" name="TextBox 90"/>
          <p:cNvSpPr txBox="1"/>
          <p:nvPr/>
        </p:nvSpPr>
        <p:spPr>
          <a:xfrm>
            <a:off x="423906" y="5801116"/>
            <a:ext cx="641176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校准集仅拟合温度；测试集在规则冻结后评估</a:t>
            </a:r>
            <a:endParaRPr lang="zh-CN" sz="157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152" y="0"/>
            <a:ext cx="1218939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165557" y="1996336"/>
            <a:ext cx="1702757" cy="1925877"/>
          </a:xfrm>
          <a:prstGeom prst="rect">
            <a:avLst/>
          </a:prstGeom>
          <a:solidFill>
            <a:srgbClr val="FFFFFF"/>
          </a:solidFill>
          <a:ln w="2032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2161892" y="1350462"/>
            <a:ext cx="4626801" cy="2571750"/>
          </a:xfrm>
          <a:prstGeom prst="rect">
            <a:avLst/>
          </a:prstGeom>
          <a:solidFill>
            <a:srgbClr val="FFFFFF"/>
          </a:solidFill>
          <a:ln w="2032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7211447" y="1350462"/>
            <a:ext cx="1925877" cy="1033397"/>
          </a:xfrm>
          <a:prstGeom prst="rect">
            <a:avLst/>
          </a:prstGeom>
          <a:solidFill>
            <a:srgbClr val="FFFFFF"/>
          </a:solidFill>
          <a:ln w="2032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9607050" y="1350462"/>
            <a:ext cx="2395603" cy="1033397"/>
          </a:xfrm>
          <a:prstGeom prst="rect">
            <a:avLst/>
          </a:prstGeom>
          <a:solidFill>
            <a:srgbClr val="FFFFFF"/>
          </a:solidFill>
          <a:ln w="20320">
            <a:solidFill>
              <a:srgbClr val="616161"/>
            </a:solidFill>
            <a:prstDash val="dash"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7211447" y="2947531"/>
            <a:ext cx="1925877" cy="974682"/>
          </a:xfrm>
          <a:prstGeom prst="rect">
            <a:avLst/>
          </a:prstGeom>
          <a:solidFill>
            <a:srgbClr val="FFFFFF"/>
          </a:solidFill>
          <a:ln w="2032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9607050" y="3229366"/>
            <a:ext cx="2395603" cy="1784959"/>
          </a:xfrm>
          <a:prstGeom prst="rect">
            <a:avLst/>
          </a:prstGeom>
          <a:solidFill>
            <a:srgbClr val="FFFFFF"/>
          </a:solidFill>
          <a:ln w="2032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9607050" y="5354877"/>
            <a:ext cx="2395603" cy="915966"/>
          </a:xfrm>
          <a:prstGeom prst="rect">
            <a:avLst/>
          </a:prstGeom>
          <a:solidFill>
            <a:srgbClr val="FFFFFF"/>
          </a:solidFill>
          <a:ln w="1905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2161892" y="4474140"/>
            <a:ext cx="2172483" cy="1796702"/>
          </a:xfrm>
          <a:prstGeom prst="rect">
            <a:avLst/>
          </a:prstGeom>
          <a:solidFill>
            <a:srgbClr val="FFFFFF"/>
          </a:solidFill>
          <a:ln w="1651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3124830" y="5120014"/>
            <a:ext cx="786791" cy="117432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3124830" y="5472308"/>
            <a:ext cx="563671" cy="117432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3124830" y="5824603"/>
            <a:ext cx="962938" cy="117432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4580981" y="4474140"/>
            <a:ext cx="2184226" cy="1796702"/>
          </a:xfrm>
          <a:prstGeom prst="rect">
            <a:avLst/>
          </a:prstGeom>
          <a:solidFill>
            <a:srgbClr val="FFFFFF"/>
          </a:solidFill>
          <a:ln w="1651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7011813" y="4474140"/>
            <a:ext cx="2125510" cy="1796702"/>
          </a:xfrm>
          <a:prstGeom prst="rect">
            <a:avLst/>
          </a:prstGeom>
          <a:solidFill>
            <a:srgbClr val="FFFFFF"/>
          </a:solidFill>
          <a:ln w="1651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7211447" y="5084784"/>
            <a:ext cx="1702757" cy="352295"/>
          </a:xfrm>
          <a:prstGeom prst="rect">
            <a:avLst/>
          </a:prstGeom>
          <a:solidFill>
            <a:srgbClr val="FFFFFF"/>
          </a:solidFill>
          <a:ln w="11430">
            <a:solidFill>
              <a:srgbClr val="C9D7E1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7211447" y="5566253"/>
            <a:ext cx="1702757" cy="352295"/>
          </a:xfrm>
          <a:prstGeom prst="rect">
            <a:avLst/>
          </a:prstGeom>
          <a:solidFill>
            <a:srgbClr val="FFFFFF"/>
          </a:solidFill>
          <a:ln w="11430">
            <a:solidFill>
              <a:srgbClr val="C9D7E1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435649" y="2912301"/>
            <a:ext cx="140918" cy="14091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576567" y="2912301"/>
            <a:ext cx="140918" cy="140918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717485" y="2912301"/>
            <a:ext cx="140918" cy="14091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435649" y="3053219"/>
            <a:ext cx="140918" cy="14091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576567" y="3053219"/>
            <a:ext cx="140918" cy="140918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717485" y="3053219"/>
            <a:ext cx="140918" cy="14091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435649" y="3194137"/>
            <a:ext cx="140918" cy="140918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576567" y="3194137"/>
            <a:ext cx="140918" cy="14091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717485" y="3194137"/>
            <a:ext cx="140918" cy="14091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1069779" y="2912301"/>
            <a:ext cx="140918" cy="14091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1210697" y="2912301"/>
            <a:ext cx="140918" cy="140918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1351615" y="2912301"/>
            <a:ext cx="140918" cy="14091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1069779" y="3053219"/>
            <a:ext cx="140918" cy="14091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1210697" y="3053219"/>
            <a:ext cx="140918" cy="140918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1351615" y="3053219"/>
            <a:ext cx="140918" cy="14091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1069779" y="3194137"/>
            <a:ext cx="140918" cy="140918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1210697" y="3194137"/>
            <a:ext cx="140918" cy="14091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1351615" y="3194137"/>
            <a:ext cx="140918" cy="14091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2443728" y="2606979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2631618" y="2606979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2819509" y="2606979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3007399" y="2606979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2443728" y="2794870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2631618" y="2794870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2819509" y="2794870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3007399" y="2794870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2443728" y="2982760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2631618" y="2982760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2819509" y="2982760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3007399" y="2982760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2443728" y="3170651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2631618" y="3170651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2819509" y="3170651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3007399" y="3170651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3559327" y="2606979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3747217" y="2606979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3935108" y="2606979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4122998" y="2606979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3559327" y="279487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3747217" y="279487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3935108" y="279487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4122998" y="279487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3559327" y="298276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3747217" y="298276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3935108" y="298276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4122998" y="298276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3559327" y="3170651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3747217" y="3170651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3935108" y="3170651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4122998" y="3170651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4674926" y="2606979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4862817" y="2606979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5050707" y="2606979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5238598" y="2606979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4674926" y="2794870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4862817" y="2794870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5050707" y="279487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5238598" y="279487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4674926" y="298276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4862817" y="298276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5050707" y="298276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5238598" y="298276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4674926" y="3170651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4862817" y="3170651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5050707" y="3170651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5238598" y="3170651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5790526" y="2606979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5978416" y="2606979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6166307" y="2606979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6354197" y="2606979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5790526" y="279487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5978416" y="279487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6166307" y="2794870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6354197" y="2794870"/>
            <a:ext cx="187890" cy="18789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5790526" y="298276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5978416" y="298276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6166307" y="298276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6354197" y="2982760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5790526" y="3170651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5978416" y="3170651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6166307" y="3170651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6354197" y="3170651"/>
            <a:ext cx="187890" cy="187890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4757128" y="5073041"/>
            <a:ext cx="176147" cy="176147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4933276" y="5073041"/>
            <a:ext cx="176147" cy="176147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4757128" y="5249188"/>
            <a:ext cx="176147" cy="176147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4933276" y="5249188"/>
            <a:ext cx="176147" cy="176147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5403002" y="5073041"/>
            <a:ext cx="176147" cy="176147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5579149" y="5073041"/>
            <a:ext cx="176147" cy="176147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5403002" y="5249188"/>
            <a:ext cx="176147" cy="176147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5579149" y="5249188"/>
            <a:ext cx="176147" cy="176147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6048875" y="5073041"/>
            <a:ext cx="176147" cy="176147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6225022" y="5073041"/>
            <a:ext cx="176147" cy="176147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6048875" y="5249188"/>
            <a:ext cx="176147" cy="176147"/>
          </a:xfrm>
          <a:prstGeom prst="rect">
            <a:avLst/>
          </a:prstGeom>
          <a:solidFill>
            <a:srgbClr val="FFFFFF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6225022" y="5249188"/>
            <a:ext cx="176147" cy="176147"/>
          </a:xfrm>
          <a:prstGeom prst="rect">
            <a:avLst/>
          </a:prstGeom>
          <a:solidFill>
            <a:srgbClr val="E8F1F7"/>
          </a:solidFill>
          <a:ln w="1016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>
            <a:off x="1868313" y="2982760"/>
            <a:ext cx="293579" cy="0"/>
          </a:xfrm>
          <a:prstGeom prst="line">
            <a:avLst/>
          </a:prstGeom>
          <a:noFill/>
          <a:ln w="1905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13" name="Freeform 113"/>
          <p:cNvSpPr/>
          <p:nvPr/>
        </p:nvSpPr>
        <p:spPr>
          <a:xfrm>
            <a:off x="2079690" y="2924045"/>
            <a:ext cx="82202" cy="1174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6788693" y="2865329"/>
            <a:ext cx="211377" cy="0"/>
          </a:xfrm>
          <a:prstGeom prst="line">
            <a:avLst/>
          </a:prstGeom>
          <a:noFill/>
          <a:ln w="1905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 flipV="1">
            <a:off x="7000070" y="1867161"/>
            <a:ext cx="0" cy="998168"/>
          </a:xfrm>
          <a:prstGeom prst="line">
            <a:avLst/>
          </a:prstGeom>
          <a:noFill/>
          <a:ln w="1905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7000070" y="1867161"/>
            <a:ext cx="211377" cy="0"/>
          </a:xfrm>
          <a:prstGeom prst="line">
            <a:avLst/>
          </a:prstGeom>
          <a:noFill/>
          <a:ln w="1905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17" name="Freeform 117"/>
          <p:cNvSpPr/>
          <p:nvPr/>
        </p:nvSpPr>
        <p:spPr>
          <a:xfrm>
            <a:off x="7129245" y="1808445"/>
            <a:ext cx="82202" cy="1174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>
            <a:off x="9137324" y="1867161"/>
            <a:ext cx="469726" cy="0"/>
          </a:xfrm>
          <a:prstGeom prst="line">
            <a:avLst/>
          </a:prstGeom>
          <a:noFill/>
          <a:ln w="1905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19" name="Freeform 119"/>
          <p:cNvSpPr/>
          <p:nvPr/>
        </p:nvSpPr>
        <p:spPr>
          <a:xfrm>
            <a:off x="9524848" y="1808445"/>
            <a:ext cx="82202" cy="1174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>
            <a:off x="10182464" y="2383860"/>
            <a:ext cx="0" cy="270092"/>
          </a:xfrm>
          <a:prstGeom prst="line">
            <a:avLst/>
          </a:prstGeom>
          <a:noFill/>
          <a:ln w="1905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 flipH="1">
            <a:off x="8174385" y="2653952"/>
            <a:ext cx="2008079" cy="0"/>
          </a:xfrm>
          <a:prstGeom prst="line">
            <a:avLst/>
          </a:prstGeom>
          <a:noFill/>
          <a:ln w="1905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>
            <a:off x="8174385" y="2653952"/>
            <a:ext cx="0" cy="293579"/>
          </a:xfrm>
          <a:prstGeom prst="line">
            <a:avLst/>
          </a:prstGeom>
          <a:noFill/>
          <a:ln w="1905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23" name="Freeform 123"/>
          <p:cNvSpPr/>
          <p:nvPr/>
        </p:nvSpPr>
        <p:spPr>
          <a:xfrm>
            <a:off x="8115670" y="2865329"/>
            <a:ext cx="117432" cy="8220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>
            <a:off x="9736224" y="3746065"/>
            <a:ext cx="2137253" cy="0"/>
          </a:xfrm>
          <a:prstGeom prst="line">
            <a:avLst/>
          </a:prstGeom>
          <a:noFill/>
          <a:ln w="11430">
            <a:solidFill>
              <a:srgbClr val="CCD9E4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10804851" y="2383860"/>
            <a:ext cx="0" cy="845507"/>
          </a:xfrm>
          <a:prstGeom prst="line">
            <a:avLst/>
          </a:prstGeom>
          <a:noFill/>
          <a:ln w="1905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26" name="Freeform 126"/>
          <p:cNvSpPr/>
          <p:nvPr/>
        </p:nvSpPr>
        <p:spPr>
          <a:xfrm>
            <a:off x="10746135" y="3147164"/>
            <a:ext cx="117432" cy="8220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>
            <a:off x="10804851" y="5014325"/>
            <a:ext cx="0" cy="340551"/>
          </a:xfrm>
          <a:prstGeom prst="line">
            <a:avLst/>
          </a:prstGeom>
          <a:noFill/>
          <a:ln w="1905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28" name="Freeform 128"/>
          <p:cNvSpPr/>
          <p:nvPr/>
        </p:nvSpPr>
        <p:spPr>
          <a:xfrm>
            <a:off x="10746135" y="5272675"/>
            <a:ext cx="117432" cy="8220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3124830" y="5178729"/>
            <a:ext cx="986425" cy="0"/>
          </a:xfrm>
          <a:prstGeom prst="line">
            <a:avLst/>
          </a:prstGeom>
          <a:noFill/>
          <a:ln w="12700">
            <a:solidFill>
              <a:srgbClr val="D1DBE3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>
            <a:off x="3124830" y="5531024"/>
            <a:ext cx="986425" cy="0"/>
          </a:xfrm>
          <a:prstGeom prst="line">
            <a:avLst/>
          </a:prstGeom>
          <a:noFill/>
          <a:ln w="12700">
            <a:solidFill>
              <a:srgbClr val="D1DBE3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>
            <a:off x="3124830" y="5883318"/>
            <a:ext cx="986425" cy="0"/>
          </a:xfrm>
          <a:prstGeom prst="line">
            <a:avLst/>
          </a:prstGeom>
          <a:noFill/>
          <a:ln w="12700">
            <a:solidFill>
              <a:srgbClr val="D1DBE3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1011063" y="3922212"/>
            <a:ext cx="0" cy="1444408"/>
          </a:xfrm>
          <a:prstGeom prst="line">
            <a:avLst/>
          </a:prstGeom>
          <a:noFill/>
          <a:ln w="1524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>
            <a:off x="1011063" y="5366620"/>
            <a:ext cx="1150829" cy="0"/>
          </a:xfrm>
          <a:prstGeom prst="line">
            <a:avLst/>
          </a:prstGeom>
          <a:noFill/>
          <a:ln w="1524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34" name="Freeform 134"/>
          <p:cNvSpPr/>
          <p:nvPr/>
        </p:nvSpPr>
        <p:spPr>
          <a:xfrm>
            <a:off x="2079690" y="5307904"/>
            <a:ext cx="82202" cy="1174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>
            <a:off x="9137324" y="5354877"/>
            <a:ext cx="234863" cy="0"/>
          </a:xfrm>
          <a:prstGeom prst="line">
            <a:avLst/>
          </a:prstGeom>
          <a:noFill/>
          <a:ln w="15240">
            <a:solidFill>
              <a:srgbClr val="616161"/>
            </a:solidFill>
            <a:prstDash val="dash"/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 flipV="1">
            <a:off x="9372187" y="4685517"/>
            <a:ext cx="0" cy="669360"/>
          </a:xfrm>
          <a:prstGeom prst="line">
            <a:avLst/>
          </a:prstGeom>
          <a:noFill/>
          <a:ln w="15240">
            <a:solidFill>
              <a:srgbClr val="616161"/>
            </a:solidFill>
            <a:prstDash val="dash"/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>
            <a:off x="9372187" y="4685517"/>
            <a:ext cx="234863" cy="0"/>
          </a:xfrm>
          <a:prstGeom prst="line">
            <a:avLst/>
          </a:prstGeom>
          <a:noFill/>
          <a:ln w="15240">
            <a:solidFill>
              <a:srgbClr val="616161"/>
            </a:solidFill>
            <a:prstDash val="dash"/>
          </a:ln>
        </p:spPr>
        <p:txBody>
          <a:bodyPr/>
          <a:lstStyle/>
          <a:p/>
        </p:txBody>
      </p:sp>
      <p:sp>
        <p:nvSpPr>
          <p:cNvPr id="138" name="Freeform 138"/>
          <p:cNvSpPr/>
          <p:nvPr/>
        </p:nvSpPr>
        <p:spPr>
          <a:xfrm>
            <a:off x="9524848" y="4626801"/>
            <a:ext cx="82202" cy="1174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616161"/>
          </a:solidFill>
          <a:ln w="10160">
            <a:solidFill>
              <a:srgbClr val="616161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>
            <a:off x="2161892" y="4309736"/>
            <a:ext cx="6975432" cy="0"/>
          </a:xfrm>
          <a:prstGeom prst="line">
            <a:avLst/>
          </a:prstGeom>
          <a:noFill/>
          <a:ln w="12700">
            <a:solidFill>
              <a:srgbClr val="9EADB9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>
            <a:off x="3242262" y="4309736"/>
            <a:ext cx="0" cy="164404"/>
          </a:xfrm>
          <a:prstGeom prst="line">
            <a:avLst/>
          </a:prstGeom>
          <a:noFill/>
          <a:ln w="12700">
            <a:solidFill>
              <a:srgbClr val="9EADB9"/>
            </a:solidFill>
          </a:ln>
        </p:spPr>
        <p:txBody>
          <a:bodyPr/>
          <a:lstStyle/>
          <a:p/>
        </p:txBody>
      </p:sp>
      <p:sp>
        <p:nvSpPr>
          <p:cNvPr id="141" name="Line 141"/>
          <p:cNvSpPr/>
          <p:nvPr/>
        </p:nvSpPr>
        <p:spPr>
          <a:xfrm>
            <a:off x="5673094" y="4309736"/>
            <a:ext cx="0" cy="164404"/>
          </a:xfrm>
          <a:prstGeom prst="line">
            <a:avLst/>
          </a:prstGeom>
          <a:noFill/>
          <a:ln w="12700">
            <a:solidFill>
              <a:srgbClr val="9EADB9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>
            <a:off x="8068697" y="4309736"/>
            <a:ext cx="0" cy="164404"/>
          </a:xfrm>
          <a:prstGeom prst="line">
            <a:avLst/>
          </a:prstGeom>
          <a:noFill/>
          <a:ln w="12700">
            <a:solidFill>
              <a:srgbClr val="9EADB9"/>
            </a:solidFill>
          </a:ln>
        </p:spPr>
        <p:txBody>
          <a:bodyPr/>
          <a:lstStyle/>
          <a:p/>
        </p:txBody>
      </p:sp>
      <p:sp>
        <p:nvSpPr>
          <p:cNvPr id="143" name="TextBox 143"/>
          <p:cNvSpPr txBox="1"/>
          <p:nvPr/>
        </p:nvSpPr>
        <p:spPr>
          <a:xfrm>
            <a:off x="10170721" y="939452"/>
            <a:ext cx="1808445" cy="3053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55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 lang="zh-CN" sz="1550"/>
          </a:p>
        </p:txBody>
      </p:sp>
      <p:sp>
        <p:nvSpPr>
          <p:cNvPr id="144" name="TextBox 144"/>
          <p:cNvSpPr txBox="1"/>
          <p:nvPr/>
        </p:nvSpPr>
        <p:spPr>
          <a:xfrm>
            <a:off x="224272" y="2148997"/>
            <a:ext cx="1585325" cy="352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核验样本</a:t>
            </a:r>
            <a:endParaRPr lang="zh-CN" sz="1850"/>
          </a:p>
        </p:txBody>
      </p:sp>
      <p:sp>
        <p:nvSpPr>
          <p:cNvPr id="145" name="TextBox 145"/>
          <p:cNvSpPr txBox="1"/>
          <p:nvPr/>
        </p:nvSpPr>
        <p:spPr>
          <a:xfrm>
            <a:off x="236015" y="2536521"/>
            <a:ext cx="1561839" cy="293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2E6B9E"/>
                </a:solidFill>
                <a:latin typeface="Noto Sans CJK SC"/>
                <a:ea typeface="Noto Sans CJK SC"/>
                <a:cs typeface="Noto Sans CJK SC"/>
              </a:rPr>
              <a:t>路线一输出</a:t>
            </a:r>
            <a:endParaRPr lang="zh-CN" sz="1600"/>
          </a:p>
        </p:txBody>
      </p:sp>
      <p:sp>
        <p:nvSpPr>
          <p:cNvPr id="146" name="TextBox 146"/>
          <p:cNvSpPr txBox="1"/>
          <p:nvPr/>
        </p:nvSpPr>
        <p:spPr>
          <a:xfrm>
            <a:off x="236015" y="3464229"/>
            <a:ext cx="1561839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来源／分层</a:t>
            </a:r>
            <a:endParaRPr lang="zh-CN" sz="1600"/>
          </a:p>
        </p:txBody>
      </p:sp>
      <p:sp>
        <p:nvSpPr>
          <p:cNvPr id="147" name="TextBox 147"/>
          <p:cNvSpPr txBox="1"/>
          <p:nvPr/>
        </p:nvSpPr>
        <p:spPr>
          <a:xfrm>
            <a:off x="2267580" y="1467894"/>
            <a:ext cx="4415425" cy="352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同骨干四组对照</a:t>
            </a:r>
            <a:endParaRPr lang="zh-CN" sz="1850"/>
          </a:p>
        </p:txBody>
      </p:sp>
      <p:sp>
        <p:nvSpPr>
          <p:cNvPr id="148" name="TextBox 148"/>
          <p:cNvSpPr txBox="1"/>
          <p:nvPr/>
        </p:nvSpPr>
        <p:spPr>
          <a:xfrm>
            <a:off x="2267580" y="1843675"/>
            <a:ext cx="4415425" cy="3053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2E6B9E"/>
                </a:solidFill>
                <a:latin typeface="Noto Sans CJK SC"/>
                <a:ea typeface="Noto Sans CJK SC"/>
                <a:cs typeface="Noto Sans CJK SC"/>
              </a:rPr>
              <a:t>仅改变约束区域</a:t>
            </a:r>
            <a:endParaRPr lang="zh-CN" sz="1600"/>
          </a:p>
        </p:txBody>
      </p:sp>
      <p:sp>
        <p:nvSpPr>
          <p:cNvPr id="149" name="TextBox 149"/>
          <p:cNvSpPr txBox="1"/>
          <p:nvPr/>
        </p:nvSpPr>
        <p:spPr>
          <a:xfrm>
            <a:off x="2302810" y="2231199"/>
            <a:ext cx="1033397" cy="3053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无约束</a:t>
            </a:r>
            <a:endParaRPr lang="zh-CN" sz="1500"/>
          </a:p>
        </p:txBody>
      </p:sp>
      <p:sp>
        <p:nvSpPr>
          <p:cNvPr id="150" name="TextBox 150"/>
          <p:cNvSpPr txBox="1"/>
          <p:nvPr/>
        </p:nvSpPr>
        <p:spPr>
          <a:xfrm>
            <a:off x="3418409" y="2231199"/>
            <a:ext cx="1033397" cy="3053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全图</a:t>
            </a:r>
            <a:endParaRPr lang="zh-CN" sz="1500"/>
          </a:p>
        </p:txBody>
      </p:sp>
      <p:sp>
        <p:nvSpPr>
          <p:cNvPr id="151" name="TextBox 151"/>
          <p:cNvSpPr txBox="1"/>
          <p:nvPr/>
        </p:nvSpPr>
        <p:spPr>
          <a:xfrm>
            <a:off x="4534009" y="2231199"/>
            <a:ext cx="1033397" cy="3053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背景</a:t>
            </a:r>
            <a:endParaRPr lang="zh-CN" sz="1500"/>
          </a:p>
        </p:txBody>
      </p:sp>
      <p:sp>
        <p:nvSpPr>
          <p:cNvPr id="152" name="TextBox 152"/>
          <p:cNvSpPr txBox="1"/>
          <p:nvPr/>
        </p:nvSpPr>
        <p:spPr>
          <a:xfrm>
            <a:off x="5649608" y="2231199"/>
            <a:ext cx="1033397" cy="3053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等面积随机</a:t>
            </a:r>
            <a:endParaRPr lang="zh-CN" sz="1500"/>
          </a:p>
        </p:txBody>
      </p:sp>
      <p:sp>
        <p:nvSpPr>
          <p:cNvPr id="153" name="TextBox 153"/>
          <p:cNvSpPr txBox="1"/>
          <p:nvPr/>
        </p:nvSpPr>
        <p:spPr>
          <a:xfrm>
            <a:off x="2267580" y="3475973"/>
            <a:ext cx="4415425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训练设置与评价口径一致</a:t>
            </a:r>
            <a:endParaRPr lang="zh-CN" sz="1600"/>
          </a:p>
        </p:txBody>
      </p:sp>
      <p:sp>
        <p:nvSpPr>
          <p:cNvPr id="154" name="TextBox 154"/>
          <p:cNvSpPr txBox="1"/>
          <p:nvPr/>
        </p:nvSpPr>
        <p:spPr>
          <a:xfrm>
            <a:off x="7293649" y="1467894"/>
            <a:ext cx="1761473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开发期验证</a:t>
            </a:r>
            <a:endParaRPr lang="zh-CN" sz="1850"/>
          </a:p>
        </p:txBody>
      </p:sp>
      <p:sp>
        <p:nvSpPr>
          <p:cNvPr id="155" name="TextBox 155"/>
          <p:cNvSpPr txBox="1"/>
          <p:nvPr/>
        </p:nvSpPr>
        <p:spPr>
          <a:xfrm>
            <a:off x="7293649" y="1902390"/>
            <a:ext cx="1761473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选择配置</a:t>
            </a:r>
            <a:endParaRPr lang="zh-CN" sz="1600"/>
          </a:p>
        </p:txBody>
      </p:sp>
      <p:sp>
        <p:nvSpPr>
          <p:cNvPr id="156" name="TextBox 156"/>
          <p:cNvSpPr txBox="1"/>
          <p:nvPr/>
        </p:nvSpPr>
        <p:spPr>
          <a:xfrm>
            <a:off x="9689252" y="1467894"/>
            <a:ext cx="2231199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冻结检测器</a:t>
            </a:r>
            <a:endParaRPr lang="zh-CN" sz="1850"/>
          </a:p>
        </p:txBody>
      </p:sp>
      <p:sp>
        <p:nvSpPr>
          <p:cNvPr id="157" name="TextBox 157"/>
          <p:cNvSpPr txBox="1"/>
          <p:nvPr/>
        </p:nvSpPr>
        <p:spPr>
          <a:xfrm>
            <a:off x="9689252" y="1902390"/>
            <a:ext cx="2231199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参数与规则固定</a:t>
            </a:r>
            <a:endParaRPr lang="zh-CN" sz="1600"/>
          </a:p>
        </p:txBody>
      </p:sp>
      <p:sp>
        <p:nvSpPr>
          <p:cNvPr id="158" name="TextBox 158"/>
          <p:cNvSpPr txBox="1"/>
          <p:nvPr/>
        </p:nvSpPr>
        <p:spPr>
          <a:xfrm>
            <a:off x="7293649" y="3041476"/>
            <a:ext cx="1761473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交给路线三</a:t>
            </a:r>
            <a:endParaRPr lang="zh-CN" sz="1850"/>
          </a:p>
        </p:txBody>
      </p:sp>
      <p:sp>
        <p:nvSpPr>
          <p:cNvPr id="159" name="TextBox 159"/>
          <p:cNvSpPr txBox="1"/>
          <p:nvPr/>
        </p:nvSpPr>
        <p:spPr>
          <a:xfrm>
            <a:off x="7293649" y="3452486"/>
            <a:ext cx="1761473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固定模型复核</a:t>
            </a:r>
            <a:endParaRPr lang="zh-CN" sz="1600"/>
          </a:p>
        </p:txBody>
      </p:sp>
      <p:sp>
        <p:nvSpPr>
          <p:cNvPr id="160" name="TextBox 160"/>
          <p:cNvSpPr txBox="1"/>
          <p:nvPr/>
        </p:nvSpPr>
        <p:spPr>
          <a:xfrm>
            <a:off x="9689252" y="3335055"/>
            <a:ext cx="2231199" cy="352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正式联合评价</a:t>
            </a:r>
            <a:endParaRPr lang="zh-CN" sz="1850"/>
          </a:p>
        </p:txBody>
      </p:sp>
      <p:sp>
        <p:nvSpPr>
          <p:cNvPr id="161" name="TextBox 161"/>
          <p:cNvSpPr txBox="1"/>
          <p:nvPr/>
        </p:nvSpPr>
        <p:spPr>
          <a:xfrm>
            <a:off x="9724481" y="3851753"/>
            <a:ext cx="2160740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误报改善</a:t>
            </a:r>
            <a:endParaRPr lang="zh-CN" sz="1600"/>
          </a:p>
        </p:txBody>
      </p:sp>
      <p:sp>
        <p:nvSpPr>
          <p:cNvPr id="162" name="TextBox 162"/>
          <p:cNvSpPr txBox="1"/>
          <p:nvPr/>
        </p:nvSpPr>
        <p:spPr>
          <a:xfrm>
            <a:off x="9724481" y="4192305"/>
            <a:ext cx="2160740" cy="2700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同时满足</a:t>
            </a:r>
            <a:endParaRPr lang="zh-CN" sz="1450"/>
          </a:p>
        </p:txBody>
      </p:sp>
      <p:sp>
        <p:nvSpPr>
          <p:cNvPr id="163" name="TextBox 163"/>
          <p:cNvSpPr txBox="1"/>
          <p:nvPr/>
        </p:nvSpPr>
        <p:spPr>
          <a:xfrm>
            <a:off x="9724481" y="4532856"/>
            <a:ext cx="2160740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小变化召回非劣</a:t>
            </a:r>
            <a:endParaRPr lang="zh-CN" sz="1600"/>
          </a:p>
        </p:txBody>
      </p:sp>
      <p:sp>
        <p:nvSpPr>
          <p:cNvPr id="164" name="TextBox 164"/>
          <p:cNvSpPr txBox="1"/>
          <p:nvPr/>
        </p:nvSpPr>
        <p:spPr>
          <a:xfrm>
            <a:off x="9689252" y="5448822"/>
            <a:ext cx="2231199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效应区间与反例</a:t>
            </a:r>
            <a:endParaRPr lang="zh-CN" sz="1650"/>
          </a:p>
        </p:txBody>
      </p:sp>
      <p:sp>
        <p:nvSpPr>
          <p:cNvPr id="165" name="TextBox 165"/>
          <p:cNvSpPr txBox="1"/>
          <p:nvPr/>
        </p:nvSpPr>
        <p:spPr>
          <a:xfrm>
            <a:off x="9689252" y="5848089"/>
            <a:ext cx="2231199" cy="293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允许证据不足</a:t>
            </a:r>
            <a:endParaRPr lang="zh-CN" sz="1600"/>
          </a:p>
        </p:txBody>
      </p:sp>
      <p:sp>
        <p:nvSpPr>
          <p:cNvPr id="166" name="TextBox 166"/>
          <p:cNvSpPr txBox="1"/>
          <p:nvPr/>
        </p:nvSpPr>
        <p:spPr>
          <a:xfrm>
            <a:off x="2232351" y="4591572"/>
            <a:ext cx="2031565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替代解释对照</a:t>
            </a:r>
            <a:endParaRPr lang="zh-CN" sz="1750"/>
          </a:p>
        </p:txBody>
      </p:sp>
      <p:sp>
        <p:nvSpPr>
          <p:cNvPr id="167" name="TextBox 167"/>
          <p:cNvSpPr txBox="1"/>
          <p:nvPr/>
        </p:nvSpPr>
        <p:spPr>
          <a:xfrm>
            <a:off x="2291067" y="5037812"/>
            <a:ext cx="704589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强度</a:t>
            </a:r>
            <a:endParaRPr lang="zh-CN" sz="1600"/>
          </a:p>
        </p:txBody>
      </p:sp>
      <p:sp>
        <p:nvSpPr>
          <p:cNvPr id="168" name="TextBox 168"/>
          <p:cNvSpPr txBox="1"/>
          <p:nvPr/>
        </p:nvSpPr>
        <p:spPr>
          <a:xfrm>
            <a:off x="2291067" y="5390106"/>
            <a:ext cx="704589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平滑</a:t>
            </a:r>
            <a:endParaRPr lang="zh-CN" sz="1600"/>
          </a:p>
        </p:txBody>
      </p:sp>
      <p:sp>
        <p:nvSpPr>
          <p:cNvPr id="169" name="TextBox 169"/>
          <p:cNvSpPr txBox="1"/>
          <p:nvPr/>
        </p:nvSpPr>
        <p:spPr>
          <a:xfrm>
            <a:off x="2291067" y="5742401"/>
            <a:ext cx="704589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阈值</a:t>
            </a:r>
            <a:endParaRPr lang="zh-CN" sz="1600"/>
          </a:p>
        </p:txBody>
      </p:sp>
      <p:sp>
        <p:nvSpPr>
          <p:cNvPr id="170" name="TextBox 170"/>
          <p:cNvSpPr txBox="1"/>
          <p:nvPr/>
        </p:nvSpPr>
        <p:spPr>
          <a:xfrm>
            <a:off x="4651440" y="4591572"/>
            <a:ext cx="2043308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固定模型诊断</a:t>
            </a:r>
            <a:endParaRPr lang="zh-CN" sz="1750"/>
          </a:p>
        </p:txBody>
      </p:sp>
      <p:sp>
        <p:nvSpPr>
          <p:cNvPr id="171" name="TextBox 171"/>
          <p:cNvSpPr txBox="1"/>
          <p:nvPr/>
        </p:nvSpPr>
        <p:spPr>
          <a:xfrm>
            <a:off x="4663183" y="5507538"/>
            <a:ext cx="2019822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改变变化占比</a:t>
            </a:r>
            <a:endParaRPr lang="zh-CN" sz="1600"/>
          </a:p>
        </p:txBody>
      </p:sp>
      <p:sp>
        <p:nvSpPr>
          <p:cNvPr id="172" name="TextBox 172"/>
          <p:cNvSpPr txBox="1"/>
          <p:nvPr/>
        </p:nvSpPr>
        <p:spPr>
          <a:xfrm>
            <a:off x="4663183" y="5883318"/>
            <a:ext cx="2019822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不更新参数</a:t>
            </a:r>
            <a:endParaRPr lang="zh-CN" sz="1600"/>
          </a:p>
        </p:txBody>
      </p:sp>
      <p:sp>
        <p:nvSpPr>
          <p:cNvPr id="173" name="TextBox 173"/>
          <p:cNvSpPr txBox="1"/>
          <p:nvPr/>
        </p:nvSpPr>
        <p:spPr>
          <a:xfrm>
            <a:off x="7082272" y="4591572"/>
            <a:ext cx="1984592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DonaNet 比较</a:t>
            </a:r>
            <a:endParaRPr lang="zh-CN" sz="1750"/>
          </a:p>
        </p:txBody>
      </p:sp>
      <p:sp>
        <p:nvSpPr>
          <p:cNvPr id="174" name="TextBox 174"/>
          <p:cNvSpPr txBox="1"/>
          <p:nvPr/>
        </p:nvSpPr>
        <p:spPr>
          <a:xfrm>
            <a:off x="7270163" y="5120014"/>
            <a:ext cx="1585325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原法</a:t>
            </a:r>
            <a:endParaRPr lang="zh-CN" sz="1600"/>
          </a:p>
        </p:txBody>
      </p:sp>
      <p:sp>
        <p:nvSpPr>
          <p:cNvPr id="175" name="TextBox 175"/>
          <p:cNvSpPr txBox="1"/>
          <p:nvPr/>
        </p:nvSpPr>
        <p:spPr>
          <a:xfrm>
            <a:off x="7270163" y="5601483"/>
            <a:ext cx="1585325" cy="281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区域替换</a:t>
            </a:r>
            <a:endParaRPr lang="zh-CN" sz="1600"/>
          </a:p>
        </p:txBody>
      </p:sp>
      <p:sp>
        <p:nvSpPr>
          <p:cNvPr id="176" name="TextBox 176"/>
          <p:cNvSpPr txBox="1"/>
          <p:nvPr/>
        </p:nvSpPr>
        <p:spPr>
          <a:xfrm>
            <a:off x="7199704" y="4074873"/>
            <a:ext cx="1937620" cy="293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辅助解释</a:t>
            </a:r>
            <a:endParaRPr lang="zh-CN" sz="1550"/>
          </a:p>
        </p:txBody>
      </p:sp>
      <p:sp>
        <p:nvSpPr>
          <p:cNvPr id="177" name="TextBox 177"/>
          <p:cNvSpPr txBox="1"/>
          <p:nvPr/>
        </p:nvSpPr>
        <p:spPr>
          <a:xfrm>
            <a:off x="2173635" y="6329558"/>
            <a:ext cx="9805531" cy="293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>
                <a:solidFill>
                  <a:srgbClr val="616161"/>
                </a:solidFill>
                <a:latin typeface="Noto Sans CJK SC"/>
                <a:ea typeface="Noto Sans CJK SC"/>
                <a:cs typeface="Noto Sans CJK SC"/>
              </a:rPr>
              <a:t>网格为约束区域示意；对照与诊断均属于拟开展研究。</a:t>
            </a:r>
            <a:endParaRPr lang="zh-CN" sz="14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236015" y="1009911"/>
            <a:ext cx="2524777" cy="1925877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3289235" y="1009911"/>
            <a:ext cx="2524777" cy="1925877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6342454" y="1009911"/>
            <a:ext cx="2524777" cy="1925877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9395673" y="1009911"/>
            <a:ext cx="2560007" cy="1925877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236015" y="3922212"/>
            <a:ext cx="4110103" cy="2583493"/>
          </a:xfrm>
          <a:prstGeom prst="rect">
            <a:avLst/>
          </a:prstGeom>
          <a:solidFill>
            <a:srgbClr val="FFFFFF"/>
          </a:solidFill>
          <a:ln w="1905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447392" y="4861664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740971" y="4861664"/>
            <a:ext cx="293579" cy="234863"/>
          </a:xfrm>
          <a:prstGeom prst="rect">
            <a:avLst/>
          </a:prstGeom>
          <a:solidFill>
            <a:srgbClr val="5BA0D0"/>
          </a:solidFill>
          <a:ln w="127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034550" y="4861664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328128" y="4861664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1621707" y="4861664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447392" y="5096527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740971" y="5096527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1034550" y="5096527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1328128" y="5096527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1621707" y="5096527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447392" y="5331390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740971" y="5331390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1034550" y="5331390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1328128" y="5331390"/>
            <a:ext cx="293579" cy="234863"/>
          </a:xfrm>
          <a:prstGeom prst="rect">
            <a:avLst/>
          </a:prstGeom>
          <a:solidFill>
            <a:srgbClr val="5BA0D0"/>
          </a:solidFill>
          <a:ln w="127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1621707" y="5331390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447392" y="5566253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740971" y="5566253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034550" y="5566253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328128" y="5566253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621707" y="5566253"/>
            <a:ext cx="293579" cy="234863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5050707" y="3922212"/>
            <a:ext cx="3111935" cy="2583493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5238598" y="4967353"/>
            <a:ext cx="2736154" cy="46972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5238598" y="5613226"/>
            <a:ext cx="2736154" cy="46972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8867231" y="3922212"/>
            <a:ext cx="3088449" cy="16557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8867231" y="5930291"/>
            <a:ext cx="3088449" cy="704589"/>
          </a:xfrm>
          <a:prstGeom prst="rect">
            <a:avLst/>
          </a:prstGeom>
          <a:solidFill>
            <a:srgbClr val="FFFFFF"/>
          </a:solidFill>
          <a:ln w="15240">
            <a:solidFill>
              <a:srgbClr val="5BA0D0"/>
            </a:solidFill>
            <a:prstDash val="dot"/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236015" y="1514866"/>
            <a:ext cx="2524777" cy="0"/>
          </a:xfrm>
          <a:prstGeom prst="line">
            <a:avLst/>
          </a:prstGeom>
          <a:noFill/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2760793" y="1972849"/>
            <a:ext cx="434497" cy="0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3289235" y="1514866"/>
            <a:ext cx="2524777" cy="0"/>
          </a:xfrm>
          <a:prstGeom prst="line">
            <a:avLst/>
          </a:prstGeom>
          <a:noFill/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5814012" y="1972849"/>
            <a:ext cx="434497" cy="0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6342454" y="1514866"/>
            <a:ext cx="2524777" cy="0"/>
          </a:xfrm>
          <a:prstGeom prst="line">
            <a:avLst/>
          </a:prstGeom>
          <a:noFill/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8867231" y="1972849"/>
            <a:ext cx="434497" cy="0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9395673" y="1514866"/>
            <a:ext cx="2560007" cy="0"/>
          </a:xfrm>
          <a:prstGeom prst="line">
            <a:avLst/>
          </a:prstGeom>
          <a:noFill/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10675676" y="2935788"/>
            <a:ext cx="0" cy="528442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 flipH="1">
            <a:off x="2291067" y="3464229"/>
            <a:ext cx="8384610" cy="0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2291067" y="3464229"/>
            <a:ext cx="0" cy="364038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236015" y="4427168"/>
            <a:ext cx="4110103" cy="0"/>
          </a:xfrm>
          <a:prstGeom prst="line">
            <a:avLst/>
          </a:prstGeom>
          <a:noFill/>
          <a:ln w="1270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5050707" y="4427168"/>
            <a:ext cx="3111935" cy="0"/>
          </a:xfrm>
          <a:prstGeom prst="line">
            <a:avLst/>
          </a:prstGeom>
          <a:noFill/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8867231" y="4427168"/>
            <a:ext cx="3088449" cy="0"/>
          </a:xfrm>
          <a:prstGeom prst="line">
            <a:avLst/>
          </a:prstGeom>
          <a:noFill/>
          <a:ln w="12700">
            <a:solidFill>
              <a:srgbClr val="1B3A5C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4346118" y="5213959"/>
            <a:ext cx="610644" cy="0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8162642" y="5213959"/>
            <a:ext cx="610644" cy="0"/>
          </a:xfrm>
          <a:prstGeom prst="line">
            <a:avLst/>
          </a:prstGeom>
          <a:noFill/>
          <a:ln w="190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10405584" y="5577997"/>
            <a:ext cx="0" cy="23486"/>
          </a:xfrm>
          <a:prstGeom prst="line">
            <a:avLst/>
          </a:prstGeom>
          <a:noFill/>
          <a:ln w="1651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10405584" y="5671942"/>
            <a:ext cx="0" cy="23486"/>
          </a:xfrm>
          <a:prstGeom prst="line">
            <a:avLst/>
          </a:prstGeom>
          <a:noFill/>
          <a:ln w="1651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10405584" y="5765887"/>
            <a:ext cx="0" cy="23486"/>
          </a:xfrm>
          <a:prstGeom prst="line">
            <a:avLst/>
          </a:prstGeom>
          <a:noFill/>
          <a:ln w="1651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50" name="Polygon 50"/>
          <p:cNvSpPr/>
          <p:nvPr/>
        </p:nvSpPr>
        <p:spPr>
          <a:xfrm>
            <a:off x="3195289" y="1925877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1" name="Polygon 51"/>
          <p:cNvSpPr/>
          <p:nvPr/>
        </p:nvSpPr>
        <p:spPr>
          <a:xfrm>
            <a:off x="6248509" y="1925877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2" name="Polygon 52"/>
          <p:cNvSpPr/>
          <p:nvPr/>
        </p:nvSpPr>
        <p:spPr>
          <a:xfrm>
            <a:off x="9301728" y="1925877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3" name="Polygon 53"/>
          <p:cNvSpPr/>
          <p:nvPr/>
        </p:nvSpPr>
        <p:spPr>
          <a:xfrm>
            <a:off x="2244094" y="3828267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4" name="Polygon 54"/>
          <p:cNvSpPr/>
          <p:nvPr/>
        </p:nvSpPr>
        <p:spPr>
          <a:xfrm>
            <a:off x="4956762" y="5166986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5" name="Polygon 55"/>
          <p:cNvSpPr/>
          <p:nvPr/>
        </p:nvSpPr>
        <p:spPr>
          <a:xfrm>
            <a:off x="8773286" y="5166986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6" name="Polygon 56"/>
          <p:cNvSpPr/>
          <p:nvPr/>
        </p:nvSpPr>
        <p:spPr>
          <a:xfrm>
            <a:off x="10358611" y="5836346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5BA0D0"/>
          </a:solidFill>
          <a:ln w="6350">
            <a:solidFill>
              <a:srgbClr val="5BA0D0"/>
            </a:solidFill>
          </a:ln>
        </p:spPr>
        <p:txBody>
          <a:bodyPr/>
          <a:lstStyle/>
          <a:p/>
        </p:txBody>
      </p:sp>
      <p:sp>
        <p:nvSpPr>
          <p:cNvPr id="57" name="TextBox 57"/>
          <p:cNvSpPr txBox="1"/>
          <p:nvPr/>
        </p:nvSpPr>
        <p:spPr>
          <a:xfrm>
            <a:off x="329961" y="1080370"/>
            <a:ext cx="2336887" cy="3640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冻结检测器</a:t>
            </a:r>
            <a:endParaRPr lang="zh-CN" sz="1800"/>
          </a:p>
        </p:txBody>
      </p:sp>
      <p:sp>
        <p:nvSpPr>
          <p:cNvPr id="58" name="TextBox 58"/>
          <p:cNvSpPr txBox="1"/>
          <p:nvPr/>
        </p:nvSpPr>
        <p:spPr>
          <a:xfrm>
            <a:off x="329961" y="1620555"/>
            <a:ext cx="2336887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参数与归一化统计固定</a:t>
            </a:r>
            <a:endParaRPr lang="zh-CN" sz="1570"/>
          </a:p>
        </p:txBody>
      </p:sp>
      <p:sp>
        <p:nvSpPr>
          <p:cNvPr id="59" name="TextBox 59"/>
          <p:cNvSpPr txBox="1"/>
          <p:nvPr/>
        </p:nvSpPr>
        <p:spPr>
          <a:xfrm>
            <a:off x="329961" y="2019822"/>
            <a:ext cx="2336887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原图判决保持不变</a:t>
            </a:r>
            <a:endParaRPr lang="zh-CN" sz="1570"/>
          </a:p>
        </p:txBody>
      </p:sp>
      <p:sp>
        <p:nvSpPr>
          <p:cNvPr id="60" name="TextBox 60"/>
          <p:cNvSpPr txBox="1"/>
          <p:nvPr/>
        </p:nvSpPr>
        <p:spPr>
          <a:xfrm>
            <a:off x="329961" y="2419089"/>
            <a:ext cx="2336887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原图阈值为0.5</a:t>
            </a:r>
            <a:endParaRPr lang="zh-CN" sz="1570"/>
          </a:p>
        </p:txBody>
      </p:sp>
      <p:sp>
        <p:nvSpPr>
          <p:cNvPr id="61" name="TextBox 61"/>
          <p:cNvSpPr txBox="1"/>
          <p:nvPr/>
        </p:nvSpPr>
        <p:spPr>
          <a:xfrm>
            <a:off x="3383180" y="1080370"/>
            <a:ext cx="2336887" cy="3640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独立校准</a:t>
            </a:r>
            <a:endParaRPr lang="zh-CN" sz="1800"/>
          </a:p>
        </p:txBody>
      </p:sp>
      <p:sp>
        <p:nvSpPr>
          <p:cNvPr id="62" name="TextBox 62"/>
          <p:cNvSpPr txBox="1"/>
          <p:nvPr/>
        </p:nvSpPr>
        <p:spPr>
          <a:xfrm>
            <a:off x="3383180" y="1620555"/>
            <a:ext cx="2336887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仅拟合温度 T</a:t>
            </a:r>
            <a:endParaRPr lang="zh-CN" sz="1570"/>
          </a:p>
        </p:txBody>
      </p:sp>
      <p:sp>
        <p:nvSpPr>
          <p:cNvPr id="63" name="TextBox 63"/>
          <p:cNvSpPr txBox="1"/>
          <p:nvPr/>
        </p:nvSpPr>
        <p:spPr>
          <a:xfrm>
            <a:off x="3383180" y="2019822"/>
            <a:ext cx="2336887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每模型／种子拟合一次</a:t>
            </a:r>
            <a:endParaRPr lang="zh-CN" sz="1570"/>
          </a:p>
        </p:txBody>
      </p:sp>
      <p:sp>
        <p:nvSpPr>
          <p:cNvPr id="64" name="TextBox 64"/>
          <p:cNvSpPr txBox="1"/>
          <p:nvPr/>
        </p:nvSpPr>
        <p:spPr>
          <a:xfrm>
            <a:off x="3383180" y="2419089"/>
            <a:ext cx="2336887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拟合后固定 T</a:t>
            </a:r>
            <a:endParaRPr lang="zh-CN" sz="1570"/>
          </a:p>
        </p:txBody>
      </p:sp>
      <p:sp>
        <p:nvSpPr>
          <p:cNvPr id="65" name="TextBox 65"/>
          <p:cNvSpPr txBox="1"/>
          <p:nvPr/>
        </p:nvSpPr>
        <p:spPr>
          <a:xfrm>
            <a:off x="6436399" y="1080370"/>
            <a:ext cx="2336887" cy="3640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验证选择</a:t>
            </a:r>
            <a:endParaRPr lang="zh-CN" sz="1800"/>
          </a:p>
        </p:txBody>
      </p:sp>
      <p:sp>
        <p:nvSpPr>
          <p:cNvPr id="66" name="TextBox 66"/>
          <p:cNvSpPr txBox="1"/>
          <p:nvPr/>
        </p:nvSpPr>
        <p:spPr>
          <a:xfrm>
            <a:off x="6436399" y="1620555"/>
            <a:ext cx="2336887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使用已固定的 T</a:t>
            </a:r>
            <a:endParaRPr lang="zh-CN" sz="1570"/>
          </a:p>
        </p:txBody>
      </p:sp>
      <p:sp>
        <p:nvSpPr>
          <p:cNvPr id="67" name="TextBox 67"/>
          <p:cNvSpPr txBox="1"/>
          <p:nvPr/>
        </p:nvSpPr>
        <p:spPr>
          <a:xfrm>
            <a:off x="6436399" y="2019822"/>
            <a:ext cx="2336887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熵／分歧及组合</a:t>
            </a:r>
            <a:endParaRPr lang="zh-CN" sz="1570"/>
          </a:p>
        </p:txBody>
      </p:sp>
      <p:sp>
        <p:nvSpPr>
          <p:cNvPr id="68" name="TextBox 68"/>
          <p:cNvSpPr txBox="1"/>
          <p:nvPr/>
        </p:nvSpPr>
        <p:spPr>
          <a:xfrm>
            <a:off x="6436399" y="2419089"/>
            <a:ext cx="2336887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选择规则与权重</a:t>
            </a:r>
            <a:endParaRPr lang="zh-CN" sz="1570"/>
          </a:p>
        </p:txBody>
      </p:sp>
      <p:sp>
        <p:nvSpPr>
          <p:cNvPr id="69" name="TextBox 69"/>
          <p:cNvSpPr txBox="1"/>
          <p:nvPr/>
        </p:nvSpPr>
        <p:spPr>
          <a:xfrm>
            <a:off x="9489618" y="1080370"/>
            <a:ext cx="2372116" cy="3640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冻结排序</a:t>
            </a:r>
            <a:endParaRPr lang="zh-CN" sz="1800"/>
          </a:p>
        </p:txBody>
      </p:sp>
      <p:sp>
        <p:nvSpPr>
          <p:cNvPr id="70" name="TextBox 70"/>
          <p:cNvSpPr txBox="1"/>
          <p:nvPr/>
        </p:nvSpPr>
        <p:spPr>
          <a:xfrm>
            <a:off x="9489618" y="1620555"/>
            <a:ext cx="2372116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得分映射与规则固定</a:t>
            </a:r>
            <a:endParaRPr lang="zh-CN" sz="1570"/>
          </a:p>
        </p:txBody>
      </p:sp>
      <p:sp>
        <p:nvSpPr>
          <p:cNvPr id="71" name="TextBox 71"/>
          <p:cNvSpPr txBox="1"/>
          <p:nvPr/>
        </p:nvSpPr>
        <p:spPr>
          <a:xfrm>
            <a:off x="9489618" y="2019822"/>
            <a:ext cx="2372116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仅改变复核顺序</a:t>
            </a:r>
            <a:endParaRPr lang="zh-CN" sz="1570"/>
          </a:p>
        </p:txBody>
      </p:sp>
      <p:sp>
        <p:nvSpPr>
          <p:cNvPr id="72" name="TextBox 72"/>
          <p:cNvSpPr txBox="1"/>
          <p:nvPr/>
        </p:nvSpPr>
        <p:spPr>
          <a:xfrm>
            <a:off x="9489618" y="2419089"/>
            <a:ext cx="2372116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原图预测保持不变</a:t>
            </a:r>
            <a:endParaRPr lang="zh-CN" sz="1570"/>
          </a:p>
        </p:txBody>
      </p:sp>
      <p:sp>
        <p:nvSpPr>
          <p:cNvPr id="73" name="TextBox 73"/>
          <p:cNvSpPr txBox="1"/>
          <p:nvPr/>
        </p:nvSpPr>
        <p:spPr>
          <a:xfrm>
            <a:off x="236015" y="3006247"/>
            <a:ext cx="8736904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8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四视图仅用于校准与排序；验证不反向重拟温度</a:t>
            </a:r>
            <a:endParaRPr lang="zh-CN" sz="1480"/>
          </a:p>
        </p:txBody>
      </p:sp>
      <p:sp>
        <p:nvSpPr>
          <p:cNvPr id="74" name="TextBox 74"/>
          <p:cNvSpPr txBox="1"/>
          <p:nvPr/>
        </p:nvSpPr>
        <p:spPr>
          <a:xfrm>
            <a:off x="5121166" y="3499459"/>
            <a:ext cx="3135421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0">
                <a:solidFill>
                  <a:srgbClr val="2E6B9E"/>
                </a:solidFill>
                <a:latin typeface="Noto Sans CJK SC"/>
                <a:ea typeface="Noto Sans CJK SC"/>
                <a:cs typeface="Noto Sans CJK SC"/>
              </a:rPr>
              <a:t>应用冻结的排序规则</a:t>
            </a:r>
            <a:endParaRPr lang="zh-CN" sz="1480"/>
          </a:p>
        </p:txBody>
      </p:sp>
      <p:sp>
        <p:nvSpPr>
          <p:cNvPr id="75" name="TextBox 75"/>
          <p:cNvSpPr txBox="1"/>
          <p:nvPr/>
        </p:nvSpPr>
        <p:spPr>
          <a:xfrm>
            <a:off x="329961" y="3992671"/>
            <a:ext cx="3922212" cy="3640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全图选窗</a:t>
            </a:r>
            <a:endParaRPr lang="zh-CN" sz="1800"/>
          </a:p>
        </p:txBody>
      </p:sp>
      <p:sp>
        <p:nvSpPr>
          <p:cNvPr id="76" name="TextBox 76"/>
          <p:cNvSpPr txBox="1"/>
          <p:nvPr/>
        </p:nvSpPr>
        <p:spPr>
          <a:xfrm>
            <a:off x="412163" y="4462397"/>
            <a:ext cx="152661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64×64 窗口</a:t>
            </a:r>
            <a:endParaRPr lang="zh-CN" sz="1570"/>
          </a:p>
        </p:txBody>
      </p:sp>
      <p:sp>
        <p:nvSpPr>
          <p:cNvPr id="77" name="TextBox 77"/>
          <p:cNvSpPr txBox="1"/>
          <p:nvPr/>
        </p:nvSpPr>
        <p:spPr>
          <a:xfrm>
            <a:off x="2126663" y="4556342"/>
            <a:ext cx="2090281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全图有效区域</a:t>
            </a:r>
            <a:endParaRPr lang="zh-CN" sz="1570"/>
          </a:p>
        </p:txBody>
      </p:sp>
      <p:sp>
        <p:nvSpPr>
          <p:cNvPr id="78" name="TextBox 78"/>
          <p:cNvSpPr txBox="1"/>
          <p:nvPr/>
        </p:nvSpPr>
        <p:spPr>
          <a:xfrm>
            <a:off x="2126663" y="4955610"/>
            <a:ext cx="2090281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含预测未变化区</a:t>
            </a:r>
            <a:endParaRPr lang="zh-CN" sz="1570"/>
          </a:p>
        </p:txBody>
      </p:sp>
      <p:sp>
        <p:nvSpPr>
          <p:cNvPr id="79" name="TextBox 79"/>
          <p:cNvSpPr txBox="1"/>
          <p:nvPr/>
        </p:nvSpPr>
        <p:spPr>
          <a:xfrm>
            <a:off x="2126663" y="5354877"/>
            <a:ext cx="2090281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主面积预算10%</a:t>
            </a:r>
            <a:endParaRPr lang="zh-CN" sz="1570"/>
          </a:p>
        </p:txBody>
      </p:sp>
      <p:sp>
        <p:nvSpPr>
          <p:cNvPr id="80" name="TextBox 80"/>
          <p:cNvSpPr txBox="1"/>
          <p:nvPr/>
        </p:nvSpPr>
        <p:spPr>
          <a:xfrm>
            <a:off x="2126663" y="5754144"/>
            <a:ext cx="2090281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按得分选窗</a:t>
            </a:r>
            <a:endParaRPr lang="zh-CN" sz="1570"/>
          </a:p>
        </p:txBody>
      </p:sp>
      <p:sp>
        <p:nvSpPr>
          <p:cNvPr id="81" name="TextBox 81"/>
          <p:cNvSpPr txBox="1"/>
          <p:nvPr/>
        </p:nvSpPr>
        <p:spPr>
          <a:xfrm>
            <a:off x="412163" y="6047723"/>
            <a:ext cx="3746065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蓝色为待复核窗（示意）</a:t>
            </a:r>
            <a:endParaRPr lang="zh-CN" sz="1480"/>
          </a:p>
        </p:txBody>
      </p:sp>
      <p:sp>
        <p:nvSpPr>
          <p:cNvPr id="82" name="TextBox 82"/>
          <p:cNvSpPr txBox="1"/>
          <p:nvPr/>
        </p:nvSpPr>
        <p:spPr>
          <a:xfrm>
            <a:off x="5144652" y="3992671"/>
            <a:ext cx="2924045" cy="3640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理想纠错</a:t>
            </a:r>
            <a:endParaRPr lang="zh-CN" sz="1800"/>
          </a:p>
        </p:txBody>
      </p:sp>
      <p:sp>
        <p:nvSpPr>
          <p:cNvPr id="83" name="TextBox 83"/>
          <p:cNvSpPr txBox="1"/>
          <p:nvPr/>
        </p:nvSpPr>
        <p:spPr>
          <a:xfrm>
            <a:off x="5156396" y="4462397"/>
            <a:ext cx="2900558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选中窗口以真值替换</a:t>
            </a:r>
            <a:endParaRPr lang="zh-CN" sz="1570"/>
          </a:p>
        </p:txBody>
      </p:sp>
      <p:sp>
        <p:nvSpPr>
          <p:cNvPr id="84" name="TextBox 84"/>
          <p:cNvSpPr txBox="1"/>
          <p:nvPr/>
        </p:nvSpPr>
        <p:spPr>
          <a:xfrm>
            <a:off x="5309057" y="5026068"/>
            <a:ext cx="2595236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已选窗口：替换为真值</a:t>
            </a:r>
            <a:endParaRPr lang="zh-CN" sz="1570"/>
          </a:p>
        </p:txBody>
      </p:sp>
      <p:sp>
        <p:nvSpPr>
          <p:cNvPr id="85" name="TextBox 85"/>
          <p:cNvSpPr txBox="1"/>
          <p:nvPr/>
        </p:nvSpPr>
        <p:spPr>
          <a:xfrm>
            <a:off x="5309057" y="5671942"/>
            <a:ext cx="2595236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333333"/>
                </a:solidFill>
                <a:latin typeface="Noto Sans CJK SC"/>
                <a:ea typeface="Noto Sans CJK SC"/>
                <a:cs typeface="Noto Sans CJK SC"/>
              </a:rPr>
              <a:t>未选窗口：保留原预测</a:t>
            </a:r>
            <a:endParaRPr lang="zh-CN" sz="1570"/>
          </a:p>
        </p:txBody>
      </p:sp>
      <p:sp>
        <p:nvSpPr>
          <p:cNvPr id="86" name="TextBox 86"/>
          <p:cNvSpPr txBox="1"/>
          <p:nvPr/>
        </p:nvSpPr>
        <p:spPr>
          <a:xfrm>
            <a:off x="8961176" y="3992671"/>
            <a:ext cx="2900558" cy="3640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剩余错误</a:t>
            </a:r>
            <a:endParaRPr lang="zh-CN" sz="1800"/>
          </a:p>
        </p:txBody>
      </p:sp>
      <p:sp>
        <p:nvSpPr>
          <p:cNvPr id="87" name="TextBox 87"/>
          <p:cNvSpPr txBox="1"/>
          <p:nvPr/>
        </p:nvSpPr>
        <p:spPr>
          <a:xfrm>
            <a:off x="9031635" y="4485884"/>
            <a:ext cx="275964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FP：剩余误报</a:t>
            </a:r>
            <a:endParaRPr lang="zh-CN" sz="1570"/>
          </a:p>
        </p:txBody>
      </p:sp>
      <p:sp>
        <p:nvSpPr>
          <p:cNvPr id="88" name="TextBox 88"/>
          <p:cNvSpPr txBox="1"/>
          <p:nvPr/>
        </p:nvSpPr>
        <p:spPr>
          <a:xfrm>
            <a:off x="9031635" y="4838178"/>
            <a:ext cx="2759640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FN：剩余漏检</a:t>
            </a:r>
            <a:endParaRPr lang="zh-CN" sz="1570"/>
          </a:p>
        </p:txBody>
      </p:sp>
      <p:sp>
        <p:nvSpPr>
          <p:cNvPr id="89" name="TextBox 89"/>
          <p:cNvSpPr txBox="1"/>
          <p:nvPr/>
        </p:nvSpPr>
        <p:spPr>
          <a:xfrm>
            <a:off x="8996406" y="5190473"/>
            <a:ext cx="2830099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离线结果仅估计上限</a:t>
            </a:r>
            <a:endParaRPr lang="zh-CN" sz="1480"/>
          </a:p>
        </p:txBody>
      </p:sp>
      <p:sp>
        <p:nvSpPr>
          <p:cNvPr id="90" name="TextBox 90"/>
          <p:cNvSpPr txBox="1"/>
          <p:nvPr/>
        </p:nvSpPr>
        <p:spPr>
          <a:xfrm>
            <a:off x="8961176" y="5953777"/>
            <a:ext cx="2900558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条件具备：真实人员复核</a:t>
            </a:r>
            <a:endParaRPr lang="zh-CN" sz="1570"/>
          </a:p>
        </p:txBody>
      </p:sp>
      <p:sp>
        <p:nvSpPr>
          <p:cNvPr id="91" name="TextBox 91"/>
          <p:cNvSpPr txBox="1"/>
          <p:nvPr/>
        </p:nvSpPr>
        <p:spPr>
          <a:xfrm>
            <a:off x="8961176" y="6282586"/>
            <a:ext cx="2900558" cy="3170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另记错误、耗时与一致性</a:t>
            </a:r>
            <a:endParaRPr lang="zh-CN" sz="157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42070" y="1409178"/>
            <a:ext cx="1831932" cy="3969185"/>
          </a:xfrm>
          <a:prstGeom prst="rect">
            <a:avLst/>
          </a:prstGeom>
          <a:solidFill>
            <a:srgbClr val="FFFFFF"/>
          </a:solidFill>
          <a:ln w="171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55837" y="1409178"/>
            <a:ext cx="2019822" cy="3969185"/>
          </a:xfrm>
          <a:prstGeom prst="rect">
            <a:avLst/>
          </a:prstGeom>
          <a:solidFill>
            <a:srgbClr val="FFFFFF"/>
          </a:solidFill>
          <a:ln w="171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557495" y="1409178"/>
            <a:ext cx="2865329" cy="3969185"/>
          </a:xfrm>
          <a:prstGeom prst="rect">
            <a:avLst/>
          </a:prstGeom>
          <a:solidFill>
            <a:srgbClr val="FFFFFF"/>
          </a:solidFill>
          <a:ln w="171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7704659" y="1409178"/>
            <a:ext cx="1996336" cy="3969185"/>
          </a:xfrm>
          <a:prstGeom prst="rect">
            <a:avLst/>
          </a:prstGeom>
          <a:solidFill>
            <a:srgbClr val="FFFFFF"/>
          </a:solidFill>
          <a:ln w="171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9982830" y="1409178"/>
            <a:ext cx="2066795" cy="3969185"/>
          </a:xfrm>
          <a:prstGeom prst="rect">
            <a:avLst/>
          </a:prstGeom>
          <a:solidFill>
            <a:srgbClr val="FFFFFF"/>
          </a:solidFill>
          <a:ln w="171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282988" y="2266428"/>
            <a:ext cx="728075" cy="728075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105009" y="2266428"/>
            <a:ext cx="728075" cy="728075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282988" y="3229366"/>
            <a:ext cx="728075" cy="728075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105009" y="3229366"/>
            <a:ext cx="728075" cy="728075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2373269" y="2184226"/>
            <a:ext cx="1784959" cy="122128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2373269" y="3699092"/>
            <a:ext cx="1784959" cy="1221288"/>
          </a:xfrm>
          <a:prstGeom prst="rect">
            <a:avLst/>
          </a:prstGeom>
          <a:solidFill>
            <a:srgbClr val="FFFFFF"/>
          </a:solidFill>
          <a:ln w="1143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4686670" y="2372116"/>
            <a:ext cx="986425" cy="516699"/>
          </a:xfrm>
          <a:prstGeom prst="rect">
            <a:avLst/>
          </a:prstGeom>
          <a:solidFill>
            <a:srgbClr val="F1F3F5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5673094" y="2372116"/>
            <a:ext cx="540185" cy="516699"/>
          </a:xfrm>
          <a:prstGeom prst="rect">
            <a:avLst/>
          </a:prstGeom>
          <a:solidFill>
            <a:srgbClr val="F1F3F5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6213279" y="2372116"/>
            <a:ext cx="540185" cy="516699"/>
          </a:xfrm>
          <a:prstGeom prst="rect">
            <a:avLst/>
          </a:prstGeom>
          <a:solidFill>
            <a:srgbClr val="F1F3F5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6753464" y="2372116"/>
            <a:ext cx="540185" cy="516699"/>
          </a:xfrm>
          <a:prstGeom prst="rect">
            <a:avLst/>
          </a:prstGeom>
          <a:solidFill>
            <a:srgbClr val="F1F3F5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4686670" y="2888815"/>
            <a:ext cx="986425" cy="516699"/>
          </a:xfrm>
          <a:prstGeom prst="rect">
            <a:avLst/>
          </a:prstGeom>
          <a:solidFill>
            <a:srgbClr val="FFFFFF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5673094" y="2888815"/>
            <a:ext cx="540185" cy="516699"/>
          </a:xfrm>
          <a:prstGeom prst="rect">
            <a:avLst/>
          </a:prstGeom>
          <a:solidFill>
            <a:srgbClr val="FFFFFF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6213279" y="2888815"/>
            <a:ext cx="540185" cy="516699"/>
          </a:xfrm>
          <a:prstGeom prst="rect">
            <a:avLst/>
          </a:prstGeom>
          <a:solidFill>
            <a:srgbClr val="FFFFFF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6753464" y="2888815"/>
            <a:ext cx="540185" cy="516699"/>
          </a:xfrm>
          <a:prstGeom prst="rect">
            <a:avLst/>
          </a:prstGeom>
          <a:solidFill>
            <a:srgbClr val="FFFFFF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4686670" y="3405514"/>
            <a:ext cx="986425" cy="516699"/>
          </a:xfrm>
          <a:prstGeom prst="rect">
            <a:avLst/>
          </a:prstGeom>
          <a:solidFill>
            <a:srgbClr val="FFFFFF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5673094" y="3405514"/>
            <a:ext cx="540185" cy="516699"/>
          </a:xfrm>
          <a:prstGeom prst="rect">
            <a:avLst/>
          </a:prstGeom>
          <a:solidFill>
            <a:srgbClr val="FFFFFF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6213279" y="3405514"/>
            <a:ext cx="540185" cy="516699"/>
          </a:xfrm>
          <a:prstGeom prst="rect">
            <a:avLst/>
          </a:prstGeom>
          <a:solidFill>
            <a:srgbClr val="FFFFFF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6753464" y="3405514"/>
            <a:ext cx="540185" cy="516699"/>
          </a:xfrm>
          <a:prstGeom prst="rect">
            <a:avLst/>
          </a:prstGeom>
          <a:solidFill>
            <a:srgbClr val="FFFFFF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4686670" y="3922212"/>
            <a:ext cx="986425" cy="516699"/>
          </a:xfrm>
          <a:prstGeom prst="rect">
            <a:avLst/>
          </a:prstGeom>
          <a:solidFill>
            <a:srgbClr val="FFFFFF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5673094" y="3922212"/>
            <a:ext cx="540185" cy="516699"/>
          </a:xfrm>
          <a:prstGeom prst="rect">
            <a:avLst/>
          </a:prstGeom>
          <a:solidFill>
            <a:srgbClr val="FFFFFF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6213279" y="3922212"/>
            <a:ext cx="540185" cy="516699"/>
          </a:xfrm>
          <a:prstGeom prst="rect">
            <a:avLst/>
          </a:prstGeom>
          <a:solidFill>
            <a:srgbClr val="FFFFFF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6753464" y="3922212"/>
            <a:ext cx="540185" cy="516699"/>
          </a:xfrm>
          <a:prstGeom prst="rect">
            <a:avLst/>
          </a:prstGeom>
          <a:solidFill>
            <a:srgbClr val="FFFFFF"/>
          </a:solidFill>
          <a:ln w="889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7939522" y="3264596"/>
            <a:ext cx="446240" cy="317065"/>
          </a:xfrm>
          <a:prstGeom prst="rect">
            <a:avLst/>
          </a:prstGeom>
          <a:solidFill>
            <a:srgbClr val="FFFFFF"/>
          </a:solidFill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8479707" y="3264596"/>
            <a:ext cx="446240" cy="317065"/>
          </a:xfrm>
          <a:prstGeom prst="rect">
            <a:avLst/>
          </a:prstGeom>
          <a:solidFill>
            <a:srgbClr val="FFFFFF"/>
          </a:solidFill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9019892" y="3264596"/>
            <a:ext cx="446240" cy="317065"/>
          </a:xfrm>
          <a:prstGeom prst="rect">
            <a:avLst/>
          </a:prstGeom>
          <a:solidFill>
            <a:srgbClr val="FFFFFF"/>
          </a:solidFill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7939522" y="3675606"/>
            <a:ext cx="446240" cy="317065"/>
          </a:xfrm>
          <a:prstGeom prst="rect">
            <a:avLst/>
          </a:prstGeom>
          <a:solidFill>
            <a:srgbClr val="FFFFFF"/>
          </a:solidFill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8479707" y="3675606"/>
            <a:ext cx="446240" cy="317065"/>
          </a:xfrm>
          <a:prstGeom prst="rect">
            <a:avLst/>
          </a:prstGeom>
          <a:solidFill>
            <a:srgbClr val="FFFFFF"/>
          </a:solidFill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9019892" y="3675606"/>
            <a:ext cx="446240" cy="317065"/>
          </a:xfrm>
          <a:prstGeom prst="rect">
            <a:avLst/>
          </a:prstGeom>
          <a:solidFill>
            <a:srgbClr val="FFFFFF"/>
          </a:solidFill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7939522" y="4086616"/>
            <a:ext cx="446240" cy="317065"/>
          </a:xfrm>
          <a:prstGeom prst="rect">
            <a:avLst/>
          </a:prstGeom>
          <a:solidFill>
            <a:srgbClr val="FFFFFF"/>
          </a:solidFill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8479707" y="4086616"/>
            <a:ext cx="446240" cy="317065"/>
          </a:xfrm>
          <a:prstGeom prst="rect">
            <a:avLst/>
          </a:prstGeom>
          <a:solidFill>
            <a:srgbClr val="FFFFFF"/>
          </a:solidFill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9019892" y="4086616"/>
            <a:ext cx="446240" cy="317065"/>
          </a:xfrm>
          <a:prstGeom prst="rect">
            <a:avLst/>
          </a:prstGeom>
          <a:solidFill>
            <a:srgbClr val="FFFFFF"/>
          </a:solidFill>
          <a:ln w="1524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142070" y="5718914"/>
            <a:ext cx="11907555" cy="739818"/>
          </a:xfrm>
          <a:prstGeom prst="rect">
            <a:avLst/>
          </a:prstGeom>
          <a:solidFill>
            <a:srgbClr val="F1F3F5"/>
          </a:solidFill>
          <a:ln w="1143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10382098" y="3429000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10523015" y="3429000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10663933" y="3429000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10804851" y="3429000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10945769" y="3429000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11086687" y="3429000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11227604" y="3429000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11368522" y="3429000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11509440" y="3429000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10382098" y="354643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10523015" y="354643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10663933" y="354643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10804851" y="354643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10945769" y="354643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11086687" y="354643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11227604" y="354643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11368522" y="354643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11509440" y="354643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10382098" y="3663863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10523015" y="3663863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10663933" y="3663863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10804851" y="3663863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10945769" y="3663863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11086687" y="3663863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11227604" y="3663863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11368522" y="3663863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11509440" y="3663863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10382098" y="3781295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10523015" y="3781295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10663933" y="3781295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10804851" y="3781295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10945769" y="3781295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11086687" y="3781295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11227604" y="3781295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11368522" y="3781295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11509440" y="3781295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10382098" y="3898726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10523015" y="3898726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10663933" y="3898726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10804851" y="3898726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10945769" y="3898726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11086687" y="3898726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11227604" y="3898726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11368522" y="3898726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11509440" y="3898726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10382098" y="4016158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10523015" y="4016158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10663933" y="4016158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10804851" y="4016158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10945769" y="4016158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11086687" y="4016158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11227604" y="4016158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11368522" y="4016158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11509440" y="4016158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10382098" y="4133589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10523015" y="4133589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10663933" y="4133589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10804851" y="4133589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10945769" y="4133589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11086687" y="4133589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11227604" y="4133589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11368522" y="4133589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11509440" y="4133589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10382098" y="4251021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10523015" y="4251021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10663933" y="4251021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10804851" y="4251021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10945769" y="4251021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11086687" y="4251021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11227604" y="4251021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11368522" y="4251021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11509440" y="4251021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10382098" y="436845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10523015" y="436845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10663933" y="436845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10804851" y="436845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10945769" y="436845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11086687" y="436845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11227604" y="436845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11368522" y="436845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11509440" y="4368452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10382098" y="4485884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21" name="Rect 121"/>
          <p:cNvSpPr/>
          <p:nvPr/>
        </p:nvSpPr>
        <p:spPr>
          <a:xfrm>
            <a:off x="10523015" y="4485884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22" name="Rect 122"/>
          <p:cNvSpPr/>
          <p:nvPr/>
        </p:nvSpPr>
        <p:spPr>
          <a:xfrm>
            <a:off x="10663933" y="4485884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23" name="Rect 123"/>
          <p:cNvSpPr/>
          <p:nvPr/>
        </p:nvSpPr>
        <p:spPr>
          <a:xfrm>
            <a:off x="10804851" y="4485884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24" name="Rect 124"/>
          <p:cNvSpPr/>
          <p:nvPr/>
        </p:nvSpPr>
        <p:spPr>
          <a:xfrm>
            <a:off x="10945769" y="4485884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25" name="Rect 125"/>
          <p:cNvSpPr/>
          <p:nvPr/>
        </p:nvSpPr>
        <p:spPr>
          <a:xfrm>
            <a:off x="11086687" y="4485884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26" name="Rect 126"/>
          <p:cNvSpPr/>
          <p:nvPr/>
        </p:nvSpPr>
        <p:spPr>
          <a:xfrm>
            <a:off x="11227604" y="4485884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27" name="Rect 127"/>
          <p:cNvSpPr/>
          <p:nvPr/>
        </p:nvSpPr>
        <p:spPr>
          <a:xfrm>
            <a:off x="11368522" y="4485884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28" name="Rect 128"/>
          <p:cNvSpPr/>
          <p:nvPr/>
        </p:nvSpPr>
        <p:spPr>
          <a:xfrm>
            <a:off x="11509440" y="4485884"/>
            <a:ext cx="140918" cy="117432"/>
          </a:xfrm>
          <a:prstGeom prst="rect">
            <a:avLst/>
          </a:prstGeom>
          <a:solidFill>
            <a:srgbClr val="FFFFFF"/>
          </a:solidFill>
          <a:ln w="444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142070" y="1914134"/>
            <a:ext cx="1831932" cy="0"/>
          </a:xfrm>
          <a:prstGeom prst="line">
            <a:avLst/>
          </a:prstGeom>
          <a:noFill/>
          <a:ln w="1397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>
            <a:off x="2255837" y="1914134"/>
            <a:ext cx="2019822" cy="0"/>
          </a:xfrm>
          <a:prstGeom prst="line">
            <a:avLst/>
          </a:prstGeom>
          <a:noFill/>
          <a:ln w="1397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>
            <a:off x="4557495" y="1914134"/>
            <a:ext cx="2865329" cy="0"/>
          </a:xfrm>
          <a:prstGeom prst="line">
            <a:avLst/>
          </a:prstGeom>
          <a:noFill/>
          <a:ln w="1397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7704659" y="1914134"/>
            <a:ext cx="1996336" cy="0"/>
          </a:xfrm>
          <a:prstGeom prst="line">
            <a:avLst/>
          </a:prstGeom>
          <a:noFill/>
          <a:ln w="1397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>
            <a:off x="9982830" y="1914134"/>
            <a:ext cx="2066795" cy="0"/>
          </a:xfrm>
          <a:prstGeom prst="line">
            <a:avLst/>
          </a:prstGeom>
          <a:noFill/>
          <a:ln w="1397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>
            <a:off x="1974002" y="3429000"/>
            <a:ext cx="199634" cy="0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35" name="Polygon 135"/>
          <p:cNvSpPr/>
          <p:nvPr/>
        </p:nvSpPr>
        <p:spPr>
          <a:xfrm>
            <a:off x="2161892" y="3382027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>
            <a:off x="4275659" y="3429000"/>
            <a:ext cx="199634" cy="0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37" name="Polygon 137"/>
          <p:cNvSpPr/>
          <p:nvPr/>
        </p:nvSpPr>
        <p:spPr>
          <a:xfrm>
            <a:off x="4463550" y="3382027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>
            <a:off x="7422824" y="3429000"/>
            <a:ext cx="199634" cy="0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39" name="Polygon 139"/>
          <p:cNvSpPr/>
          <p:nvPr/>
        </p:nvSpPr>
        <p:spPr>
          <a:xfrm>
            <a:off x="7610714" y="3382027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>
            <a:off x="9700995" y="3429000"/>
            <a:ext cx="199634" cy="0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41" name="Polygon 141"/>
          <p:cNvSpPr/>
          <p:nvPr/>
        </p:nvSpPr>
        <p:spPr>
          <a:xfrm>
            <a:off x="9888885" y="3382027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>
            <a:off x="11016228" y="2982760"/>
            <a:ext cx="0" cy="187890"/>
          </a:xfrm>
          <a:prstGeom prst="line">
            <a:avLst/>
          </a:prstGeom>
          <a:noFill/>
          <a:ln w="18415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43" name="Polygon 143"/>
          <p:cNvSpPr/>
          <p:nvPr/>
        </p:nvSpPr>
        <p:spPr>
          <a:xfrm>
            <a:off x="10969255" y="3158908"/>
            <a:ext cx="93945" cy="9394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E6B9E"/>
          </a:solidFill>
          <a:ln w="6350">
            <a:solidFill>
              <a:srgbClr val="2E6B9E"/>
            </a:solidFill>
          </a:ln>
        </p:spPr>
        <p:txBody>
          <a:bodyPr/>
          <a:lstStyle/>
          <a:p/>
        </p:txBody>
      </p:sp>
      <p:sp>
        <p:nvSpPr>
          <p:cNvPr id="144" name="Line 144"/>
          <p:cNvSpPr/>
          <p:nvPr/>
        </p:nvSpPr>
        <p:spPr>
          <a:xfrm>
            <a:off x="6095848" y="5718914"/>
            <a:ext cx="0" cy="739818"/>
          </a:xfrm>
          <a:prstGeom prst="line">
            <a:avLst/>
          </a:prstGeom>
          <a:noFill/>
          <a:ln w="11430">
            <a:solidFill>
              <a:srgbClr val="D8DDE3"/>
            </a:solidFill>
          </a:ln>
        </p:spPr>
        <p:txBody>
          <a:bodyPr/>
          <a:lstStyle/>
          <a:p/>
        </p:txBody>
      </p:sp>
      <p:sp>
        <p:nvSpPr>
          <p:cNvPr id="145" name="TextBox 145"/>
          <p:cNvSpPr txBox="1"/>
          <p:nvPr/>
        </p:nvSpPr>
        <p:spPr>
          <a:xfrm>
            <a:off x="142070" y="951195"/>
            <a:ext cx="2231199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已完成预实验</a:t>
            </a:r>
            <a:endParaRPr lang="zh-CN" sz="1850"/>
          </a:p>
        </p:txBody>
      </p:sp>
      <p:sp>
        <p:nvSpPr>
          <p:cNvPr id="146" name="TextBox 146"/>
          <p:cNvSpPr txBox="1"/>
          <p:nvPr/>
        </p:nvSpPr>
        <p:spPr>
          <a:xfrm>
            <a:off x="189043" y="1491380"/>
            <a:ext cx="1737986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公开分片</a:t>
            </a:r>
            <a:endParaRPr lang="zh-CN" sz="1850"/>
          </a:p>
        </p:txBody>
      </p:sp>
      <p:sp>
        <p:nvSpPr>
          <p:cNvPr id="147" name="TextBox 147"/>
          <p:cNvSpPr txBox="1"/>
          <p:nvPr/>
        </p:nvSpPr>
        <p:spPr>
          <a:xfrm>
            <a:off x="2302810" y="1491380"/>
            <a:ext cx="1925877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固定抽样</a:t>
            </a:r>
            <a:endParaRPr lang="zh-CN" sz="1850"/>
          </a:p>
        </p:txBody>
      </p:sp>
      <p:sp>
        <p:nvSpPr>
          <p:cNvPr id="148" name="TextBox 148"/>
          <p:cNvSpPr txBox="1"/>
          <p:nvPr/>
        </p:nvSpPr>
        <p:spPr>
          <a:xfrm>
            <a:off x="4604467" y="1491380"/>
            <a:ext cx="2771384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同种子对照</a:t>
            </a:r>
            <a:endParaRPr lang="zh-CN" sz="1850"/>
          </a:p>
        </p:txBody>
      </p:sp>
      <p:sp>
        <p:nvSpPr>
          <p:cNvPr id="149" name="TextBox 149"/>
          <p:cNvSpPr txBox="1"/>
          <p:nvPr/>
        </p:nvSpPr>
        <p:spPr>
          <a:xfrm>
            <a:off x="7751632" y="1491380"/>
            <a:ext cx="1902390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固定末轮</a:t>
            </a:r>
            <a:endParaRPr lang="zh-CN" sz="1850"/>
          </a:p>
        </p:txBody>
      </p:sp>
      <p:sp>
        <p:nvSpPr>
          <p:cNvPr id="150" name="TextBox 150"/>
          <p:cNvSpPr txBox="1"/>
          <p:nvPr/>
        </p:nvSpPr>
        <p:spPr>
          <a:xfrm>
            <a:off x="10029803" y="1491380"/>
            <a:ext cx="1972849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验证评分</a:t>
            </a:r>
            <a:endParaRPr lang="zh-CN" sz="1850"/>
          </a:p>
        </p:txBody>
      </p:sp>
      <p:sp>
        <p:nvSpPr>
          <p:cNvPr id="151" name="TextBox 151"/>
          <p:cNvSpPr txBox="1"/>
          <p:nvPr/>
        </p:nvSpPr>
        <p:spPr>
          <a:xfrm>
            <a:off x="318217" y="2430832"/>
            <a:ext cx="657616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分片1</a:t>
            </a:r>
            <a:endParaRPr lang="zh-CN" sz="1650"/>
          </a:p>
        </p:txBody>
      </p:sp>
      <p:sp>
        <p:nvSpPr>
          <p:cNvPr id="152" name="TextBox 152"/>
          <p:cNvSpPr txBox="1"/>
          <p:nvPr/>
        </p:nvSpPr>
        <p:spPr>
          <a:xfrm>
            <a:off x="1140238" y="2430832"/>
            <a:ext cx="657616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分片2</a:t>
            </a:r>
            <a:endParaRPr lang="zh-CN" sz="1650"/>
          </a:p>
        </p:txBody>
      </p:sp>
      <p:sp>
        <p:nvSpPr>
          <p:cNvPr id="153" name="TextBox 153"/>
          <p:cNvSpPr txBox="1"/>
          <p:nvPr/>
        </p:nvSpPr>
        <p:spPr>
          <a:xfrm>
            <a:off x="318217" y="3393771"/>
            <a:ext cx="657616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分片3</a:t>
            </a:r>
            <a:endParaRPr lang="zh-CN" sz="1650"/>
          </a:p>
        </p:txBody>
      </p:sp>
      <p:sp>
        <p:nvSpPr>
          <p:cNvPr id="154" name="TextBox 154"/>
          <p:cNvSpPr txBox="1"/>
          <p:nvPr/>
        </p:nvSpPr>
        <p:spPr>
          <a:xfrm>
            <a:off x="1140238" y="3393771"/>
            <a:ext cx="657616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分片4</a:t>
            </a:r>
            <a:endParaRPr lang="zh-CN" sz="1650"/>
          </a:p>
        </p:txBody>
      </p:sp>
      <p:sp>
        <p:nvSpPr>
          <p:cNvPr id="155" name="TextBox 155"/>
          <p:cNvSpPr txBox="1"/>
          <p:nvPr/>
        </p:nvSpPr>
        <p:spPr>
          <a:xfrm>
            <a:off x="224272" y="4297993"/>
            <a:ext cx="1667527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SHA256 核验</a:t>
            </a:r>
            <a:endParaRPr lang="zh-CN" sz="1650"/>
          </a:p>
        </p:txBody>
      </p:sp>
      <p:sp>
        <p:nvSpPr>
          <p:cNvPr id="156" name="TextBox 156"/>
          <p:cNvSpPr txBox="1"/>
          <p:nvPr/>
        </p:nvSpPr>
        <p:spPr>
          <a:xfrm>
            <a:off x="224272" y="4755976"/>
            <a:ext cx="1667527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四分片均通过</a:t>
            </a:r>
            <a:endParaRPr lang="zh-CN" sz="1650"/>
          </a:p>
        </p:txBody>
      </p:sp>
      <p:sp>
        <p:nvSpPr>
          <p:cNvPr id="157" name="TextBox 157"/>
          <p:cNvSpPr txBox="1"/>
          <p:nvPr/>
        </p:nvSpPr>
        <p:spPr>
          <a:xfrm>
            <a:off x="2443728" y="2372116"/>
            <a:ext cx="1644041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50 个训练矿区</a:t>
            </a:r>
            <a:endParaRPr lang="zh-CN" sz="1650"/>
          </a:p>
        </p:txBody>
      </p:sp>
      <p:sp>
        <p:nvSpPr>
          <p:cNvPr id="158" name="TextBox 158"/>
          <p:cNvSpPr txBox="1"/>
          <p:nvPr/>
        </p:nvSpPr>
        <p:spPr>
          <a:xfrm>
            <a:off x="2443728" y="2888815"/>
            <a:ext cx="1644041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1,188 对影像</a:t>
            </a:r>
            <a:endParaRPr lang="zh-CN" sz="1650"/>
          </a:p>
        </p:txBody>
      </p:sp>
      <p:sp>
        <p:nvSpPr>
          <p:cNvPr id="159" name="TextBox 159"/>
          <p:cNvSpPr txBox="1"/>
          <p:nvPr/>
        </p:nvSpPr>
        <p:spPr>
          <a:xfrm>
            <a:off x="2443728" y="3886983"/>
            <a:ext cx="1644041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10 个验证矿区</a:t>
            </a:r>
            <a:endParaRPr lang="zh-CN" sz="1650"/>
          </a:p>
        </p:txBody>
      </p:sp>
      <p:sp>
        <p:nvSpPr>
          <p:cNvPr id="160" name="TextBox 160"/>
          <p:cNvSpPr txBox="1"/>
          <p:nvPr/>
        </p:nvSpPr>
        <p:spPr>
          <a:xfrm>
            <a:off x="2443728" y="4403682"/>
            <a:ext cx="1644041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480 对影像</a:t>
            </a:r>
            <a:endParaRPr lang="zh-CN" sz="1650"/>
          </a:p>
        </p:txBody>
      </p:sp>
      <p:sp>
        <p:nvSpPr>
          <p:cNvPr id="161" name="TextBox 161"/>
          <p:cNvSpPr txBox="1"/>
          <p:nvPr/>
        </p:nvSpPr>
        <p:spPr>
          <a:xfrm>
            <a:off x="4710156" y="1949363"/>
            <a:ext cx="2560007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轻量孪生网络</a:t>
            </a:r>
            <a:endParaRPr lang="zh-CN" sz="1650"/>
          </a:p>
        </p:txBody>
      </p:sp>
      <p:sp>
        <p:nvSpPr>
          <p:cNvPr id="162" name="TextBox 162"/>
          <p:cNvSpPr txBox="1"/>
          <p:nvPr/>
        </p:nvSpPr>
        <p:spPr>
          <a:xfrm>
            <a:off x="4721899" y="2442575"/>
            <a:ext cx="915966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种子</a:t>
            </a:r>
            <a:endParaRPr lang="zh-CN" sz="1650"/>
          </a:p>
        </p:txBody>
      </p:sp>
      <p:sp>
        <p:nvSpPr>
          <p:cNvPr id="163" name="TextBox 163"/>
          <p:cNvSpPr txBox="1"/>
          <p:nvPr/>
        </p:nvSpPr>
        <p:spPr>
          <a:xfrm>
            <a:off x="5696580" y="2442575"/>
            <a:ext cx="493212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17</a:t>
            </a:r>
            <a:endParaRPr lang="zh-CN" sz="1650"/>
          </a:p>
        </p:txBody>
      </p:sp>
      <p:sp>
        <p:nvSpPr>
          <p:cNvPr id="164" name="TextBox 164"/>
          <p:cNvSpPr txBox="1"/>
          <p:nvPr/>
        </p:nvSpPr>
        <p:spPr>
          <a:xfrm>
            <a:off x="6236765" y="2442575"/>
            <a:ext cx="493212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29</a:t>
            </a:r>
            <a:endParaRPr lang="zh-CN" sz="1650"/>
          </a:p>
        </p:txBody>
      </p:sp>
      <p:sp>
        <p:nvSpPr>
          <p:cNvPr id="165" name="TextBox 165"/>
          <p:cNvSpPr txBox="1"/>
          <p:nvPr/>
        </p:nvSpPr>
        <p:spPr>
          <a:xfrm>
            <a:off x="6776950" y="2442575"/>
            <a:ext cx="493212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43</a:t>
            </a:r>
            <a:endParaRPr lang="zh-CN" sz="1650"/>
          </a:p>
        </p:txBody>
      </p:sp>
      <p:sp>
        <p:nvSpPr>
          <p:cNvPr id="166" name="TextBox 166"/>
          <p:cNvSpPr txBox="1"/>
          <p:nvPr/>
        </p:nvSpPr>
        <p:spPr>
          <a:xfrm>
            <a:off x="4721899" y="2959274"/>
            <a:ext cx="915966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无一致性</a:t>
            </a:r>
            <a:endParaRPr lang="zh-CN" sz="1650"/>
          </a:p>
        </p:txBody>
      </p:sp>
      <p:sp>
        <p:nvSpPr>
          <p:cNvPr id="167" name="TextBox 167"/>
          <p:cNvSpPr txBox="1"/>
          <p:nvPr/>
        </p:nvSpPr>
        <p:spPr>
          <a:xfrm>
            <a:off x="5696580" y="2959274"/>
            <a:ext cx="493212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1次</a:t>
            </a:r>
            <a:endParaRPr lang="zh-CN" sz="1650"/>
          </a:p>
        </p:txBody>
      </p:sp>
      <p:sp>
        <p:nvSpPr>
          <p:cNvPr id="168" name="TextBox 168"/>
          <p:cNvSpPr txBox="1"/>
          <p:nvPr/>
        </p:nvSpPr>
        <p:spPr>
          <a:xfrm>
            <a:off x="6236765" y="2959274"/>
            <a:ext cx="493212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1次</a:t>
            </a:r>
            <a:endParaRPr lang="zh-CN" sz="1650"/>
          </a:p>
        </p:txBody>
      </p:sp>
      <p:sp>
        <p:nvSpPr>
          <p:cNvPr id="169" name="TextBox 169"/>
          <p:cNvSpPr txBox="1"/>
          <p:nvPr/>
        </p:nvSpPr>
        <p:spPr>
          <a:xfrm>
            <a:off x="6776950" y="2959274"/>
            <a:ext cx="493212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1次</a:t>
            </a:r>
            <a:endParaRPr lang="zh-CN" sz="1650"/>
          </a:p>
        </p:txBody>
      </p:sp>
      <p:sp>
        <p:nvSpPr>
          <p:cNvPr id="170" name="TextBox 170"/>
          <p:cNvSpPr txBox="1"/>
          <p:nvPr/>
        </p:nvSpPr>
        <p:spPr>
          <a:xfrm>
            <a:off x="4721899" y="3475973"/>
            <a:ext cx="915966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全区域</a:t>
            </a:r>
            <a:endParaRPr lang="zh-CN" sz="1650"/>
          </a:p>
        </p:txBody>
      </p:sp>
      <p:sp>
        <p:nvSpPr>
          <p:cNvPr id="171" name="TextBox 171"/>
          <p:cNvSpPr txBox="1"/>
          <p:nvPr/>
        </p:nvSpPr>
        <p:spPr>
          <a:xfrm>
            <a:off x="5696580" y="3475973"/>
            <a:ext cx="493212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1次</a:t>
            </a:r>
            <a:endParaRPr lang="zh-CN" sz="1650"/>
          </a:p>
        </p:txBody>
      </p:sp>
      <p:sp>
        <p:nvSpPr>
          <p:cNvPr id="172" name="TextBox 172"/>
          <p:cNvSpPr txBox="1"/>
          <p:nvPr/>
        </p:nvSpPr>
        <p:spPr>
          <a:xfrm>
            <a:off x="6236765" y="3475973"/>
            <a:ext cx="493212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1次</a:t>
            </a:r>
            <a:endParaRPr lang="zh-CN" sz="1650"/>
          </a:p>
        </p:txBody>
      </p:sp>
      <p:sp>
        <p:nvSpPr>
          <p:cNvPr id="173" name="TextBox 173"/>
          <p:cNvSpPr txBox="1"/>
          <p:nvPr/>
        </p:nvSpPr>
        <p:spPr>
          <a:xfrm>
            <a:off x="6776950" y="3475973"/>
            <a:ext cx="493212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1次</a:t>
            </a:r>
            <a:endParaRPr lang="zh-CN" sz="1650"/>
          </a:p>
        </p:txBody>
      </p:sp>
      <p:sp>
        <p:nvSpPr>
          <p:cNvPr id="174" name="TextBox 174"/>
          <p:cNvSpPr txBox="1"/>
          <p:nvPr/>
        </p:nvSpPr>
        <p:spPr>
          <a:xfrm>
            <a:off x="4721899" y="3992671"/>
            <a:ext cx="915966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背景位置</a:t>
            </a:r>
            <a:endParaRPr lang="zh-CN" sz="1650"/>
          </a:p>
        </p:txBody>
      </p:sp>
      <p:sp>
        <p:nvSpPr>
          <p:cNvPr id="175" name="TextBox 175"/>
          <p:cNvSpPr txBox="1"/>
          <p:nvPr/>
        </p:nvSpPr>
        <p:spPr>
          <a:xfrm>
            <a:off x="5696580" y="3992671"/>
            <a:ext cx="493212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1次</a:t>
            </a:r>
            <a:endParaRPr lang="zh-CN" sz="1650"/>
          </a:p>
        </p:txBody>
      </p:sp>
      <p:sp>
        <p:nvSpPr>
          <p:cNvPr id="176" name="TextBox 176"/>
          <p:cNvSpPr txBox="1"/>
          <p:nvPr/>
        </p:nvSpPr>
        <p:spPr>
          <a:xfrm>
            <a:off x="6236765" y="3992671"/>
            <a:ext cx="493212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1次</a:t>
            </a:r>
            <a:endParaRPr lang="zh-CN" sz="1650"/>
          </a:p>
        </p:txBody>
      </p:sp>
      <p:sp>
        <p:nvSpPr>
          <p:cNvPr id="177" name="TextBox 177"/>
          <p:cNvSpPr txBox="1"/>
          <p:nvPr/>
        </p:nvSpPr>
        <p:spPr>
          <a:xfrm>
            <a:off x="6776950" y="3992671"/>
            <a:ext cx="493212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1次</a:t>
            </a:r>
            <a:endParaRPr lang="zh-CN" sz="1650"/>
          </a:p>
        </p:txBody>
      </p:sp>
      <p:sp>
        <p:nvSpPr>
          <p:cNvPr id="178" name="TextBox 178"/>
          <p:cNvSpPr txBox="1"/>
          <p:nvPr/>
        </p:nvSpPr>
        <p:spPr>
          <a:xfrm>
            <a:off x="4651440" y="4568086"/>
            <a:ext cx="2677438" cy="3405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三组 × 三种子，共9次</a:t>
            </a:r>
            <a:endParaRPr lang="zh-CN" sz="1650"/>
          </a:p>
        </p:txBody>
      </p:sp>
      <p:sp>
        <p:nvSpPr>
          <p:cNvPr id="179" name="TextBox 179"/>
          <p:cNvSpPr txBox="1"/>
          <p:nvPr/>
        </p:nvSpPr>
        <p:spPr>
          <a:xfrm>
            <a:off x="4663183" y="4979096"/>
            <a:ext cx="2653952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同种子设置一致</a:t>
            </a:r>
            <a:endParaRPr lang="zh-CN" sz="1650"/>
          </a:p>
        </p:txBody>
      </p:sp>
      <p:sp>
        <p:nvSpPr>
          <p:cNvPr id="180" name="TextBox 180"/>
          <p:cNvSpPr txBox="1"/>
          <p:nvPr/>
        </p:nvSpPr>
        <p:spPr>
          <a:xfrm>
            <a:off x="7810348" y="2184226"/>
            <a:ext cx="1784959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固定 12 轮</a:t>
            </a:r>
            <a:endParaRPr lang="zh-CN" sz="1650"/>
          </a:p>
        </p:txBody>
      </p:sp>
      <p:sp>
        <p:nvSpPr>
          <p:cNvPr id="181" name="TextBox 181"/>
          <p:cNvSpPr txBox="1"/>
          <p:nvPr/>
        </p:nvSpPr>
        <p:spPr>
          <a:xfrm>
            <a:off x="7810348" y="2618723"/>
            <a:ext cx="1784959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阈值 0.5</a:t>
            </a:r>
            <a:endParaRPr lang="zh-CN" sz="1650"/>
          </a:p>
        </p:txBody>
      </p:sp>
      <p:sp>
        <p:nvSpPr>
          <p:cNvPr id="182" name="TextBox 182"/>
          <p:cNvSpPr txBox="1"/>
          <p:nvPr/>
        </p:nvSpPr>
        <p:spPr>
          <a:xfrm>
            <a:off x="7798604" y="4591572"/>
            <a:ext cx="1808445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9 个末轮模型</a:t>
            </a:r>
            <a:endParaRPr lang="zh-CN" sz="1650"/>
          </a:p>
        </p:txBody>
      </p:sp>
      <p:sp>
        <p:nvSpPr>
          <p:cNvPr id="183" name="TextBox 183"/>
          <p:cNvSpPr txBox="1"/>
          <p:nvPr/>
        </p:nvSpPr>
        <p:spPr>
          <a:xfrm>
            <a:off x="7763375" y="4990839"/>
            <a:ext cx="1878904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保存后统一评分</a:t>
            </a:r>
            <a:endParaRPr lang="zh-CN" sz="1650"/>
          </a:p>
        </p:txBody>
      </p:sp>
      <p:sp>
        <p:nvSpPr>
          <p:cNvPr id="184" name="TextBox 184"/>
          <p:cNvSpPr txBox="1"/>
          <p:nvPr/>
        </p:nvSpPr>
        <p:spPr>
          <a:xfrm>
            <a:off x="10100262" y="2160740"/>
            <a:ext cx="1831932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9 个模型</a:t>
            </a:r>
            <a:endParaRPr lang="zh-CN" sz="1650"/>
          </a:p>
        </p:txBody>
      </p:sp>
      <p:sp>
        <p:nvSpPr>
          <p:cNvPr id="185" name="TextBox 185"/>
          <p:cNvSpPr txBox="1"/>
          <p:nvPr/>
        </p:nvSpPr>
        <p:spPr>
          <a:xfrm>
            <a:off x="10065033" y="2583493"/>
            <a:ext cx="1902390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每模型 10 矿区</a:t>
            </a:r>
            <a:endParaRPr lang="zh-CN" sz="1650"/>
          </a:p>
        </p:txBody>
      </p:sp>
      <p:sp>
        <p:nvSpPr>
          <p:cNvPr id="186" name="TextBox 186"/>
          <p:cNvSpPr txBox="1"/>
          <p:nvPr/>
        </p:nvSpPr>
        <p:spPr>
          <a:xfrm>
            <a:off x="10100262" y="4732490"/>
            <a:ext cx="1831932" cy="32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B3A5C"/>
                </a:solidFill>
                <a:latin typeface="Noto Sans CJK SC"/>
                <a:ea typeface="Noto Sans CJK SC"/>
                <a:cs typeface="Noto Sans CJK SC"/>
              </a:rPr>
              <a:t>90 行记录</a:t>
            </a:r>
            <a:endParaRPr lang="zh-CN" sz="1650"/>
          </a:p>
        </p:txBody>
      </p:sp>
      <p:sp>
        <p:nvSpPr>
          <p:cNvPr id="187" name="TextBox 187"/>
          <p:cNvSpPr txBox="1"/>
          <p:nvPr/>
        </p:nvSpPr>
        <p:spPr>
          <a:xfrm>
            <a:off x="318217" y="5895062"/>
            <a:ext cx="5601483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555B63"/>
                </a:solidFill>
                <a:latin typeface="Noto Sans CJK SC"/>
                <a:ea typeface="Noto Sans CJK SC"/>
                <a:cs typeface="Noto Sans CJK SC"/>
              </a:rPr>
              <a:t>10 个保留矿区：未作校准</a:t>
            </a:r>
            <a:endParaRPr lang="zh-CN" sz="1650"/>
          </a:p>
        </p:txBody>
      </p:sp>
      <p:sp>
        <p:nvSpPr>
          <p:cNvPr id="188" name="TextBox 188"/>
          <p:cNvSpPr txBox="1"/>
          <p:nvPr/>
        </p:nvSpPr>
        <p:spPr>
          <a:xfrm>
            <a:off x="6271995" y="5895062"/>
            <a:ext cx="5601483" cy="3757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555B63"/>
                </a:solidFill>
                <a:latin typeface="Noto Sans CJK SC"/>
                <a:ea typeface="Noto Sans CJK SC"/>
                <a:cs typeface="Noto Sans CJK SC"/>
              </a:rPr>
              <a:t>30 个官方测试矿区：未读取</a:t>
            </a:r>
            <a:endParaRPr lang="zh-CN" sz="1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6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